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FF7C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F4E3DE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931920" cy="3931920"/>
          </a:xfrm>
          <a:prstGeom prst="ellipse">
            <a:avLst/>
          </a:prstGeom>
          <a:solidFill>
            <a:srgbClr val="FBF1DC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011680" cy="2011680"/>
          </a:xfrm>
          <a:prstGeom prst="ellipse">
            <a:avLst/>
          </a:prstGeom>
          <a:solidFill>
            <a:srgbClr val="F6EEE2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Wisdom at Small Scale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B081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Language Models as Cultural Assistants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19050">
            <a:solidFill>
              <a:srgbClr val="E7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Manimegalai R  •  Aravinda Krishnan L  •  Swaathi S. M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PSG Institute of Technology and Applied Research, Coimbatore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Venkatapathy Subramanian — IIT Bombay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764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Motivation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92240" y="183794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models need retrieval to be trustworthy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109960" cy="0"/>
          </a:xfrm>
          <a:prstGeom prst="line">
            <a:avLst/>
          </a:prstGeom>
          <a:noFill/>
          <a:ln w="19050">
            <a:solidFill>
              <a:srgbClr val="E7D8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1576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157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77063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retrieval + light adaptation replace scale?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109960" cy="0"/>
          </a:xfrm>
          <a:prstGeom prst="line">
            <a:avLst/>
          </a:prstGeom>
          <a:noFill/>
          <a:ln w="19050">
            <a:solidFill>
              <a:srgbClr val="E7D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48456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4845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6301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3703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knowledge graph, indexing strategies, model setup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544568"/>
            <a:ext cx="11109960" cy="0"/>
          </a:xfrm>
          <a:prstGeom prst="line">
            <a:avLst/>
          </a:prstGeom>
          <a:noFill/>
          <a:ln w="19050">
            <a:solidFill>
              <a:srgbClr val="E7D8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81144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8114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5628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463600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and end-to-end generation performance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5477256"/>
            <a:ext cx="11109960" cy="0"/>
          </a:xfrm>
          <a:prstGeom prst="line">
            <a:avLst/>
          </a:prstGeom>
          <a:noFill/>
          <a:ln w="19050">
            <a:solidFill>
              <a:srgbClr val="E7D8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513832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5138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00200" y="54955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92240" y="556869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chemeClr val="accent4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tried, what we found, and what's next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small models be faithful cultural assistants?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reason well but </a:t>
            </a:r>
            <a:r>
              <a:rPr lang="en-US" sz="220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too </a:t>
            </a: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to deploy widely. Can small models still be faithful and cite their sources?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4E3DE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74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Testbed: Thirukkural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1,330 Tamil couplets in a stable Paal → Iyal → Adhigaram hierarchy — ideal for </a:t>
            </a:r>
            <a:r>
              <a:rPr lang="en-US" sz="220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 grounding.</a:t>
            </a:r>
            <a:endParaRPr lang="en-US" sz="2200" b="1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FBF1DC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BERTScore-F1 ≥ 0.80 — small models approach large-model quality.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cultural assistants need more than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constraints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677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memory, and energy limit LLMs in low-resource settings.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685800" cy="685800"/>
          </a:xfrm>
          <a:prstGeom prst="ellipse">
            <a:avLst/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337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strict requirements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38221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to the source, and transparent, citable attribution.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685800" cy="685800"/>
          </a:xfrm>
          <a:prstGeom prst="ellipse">
            <a:avLst/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937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892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question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53766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retrieval plus light adaptation replace raw scale?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and three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FBF1DC"/>
          </a:solidFill>
          <a:ln w="12700">
            <a:solidFill>
              <a:srgbClr val="B88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small models, with retrieval and light adaptation, match LLMs on faithful, attributable generation?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401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corpus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41605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retrieval accuracy from generation faithfulness.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20040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3401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pipeline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99432" y="41605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+ dense retrieval tailored to compact corpora.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20040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340156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comparison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94192" y="41605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RAG vs. RAG+LoRA vs. large LLMs.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definition and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01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matching verses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E3DE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901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11880" y="2395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2852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evidence block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3504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01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92240" y="2395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2852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explanation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1540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89720" y="17830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E3DE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19019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72600" y="23957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72600" y="2852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Kural IDs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11109960" cy="2377440"/>
          </a:xfrm>
          <a:prstGeom prst="roundRect">
            <a:avLst>
              <a:gd name="adj" fmla="val 3846"/>
            </a:avLst>
          </a:prstGeom>
          <a:solidFill>
            <a:srgbClr val="FBF1DC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&amp; QA construction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" y="44805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1,330 Kurals, bilingual. 1,114 validated across 133 Adhigarams.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26480" y="4023360"/>
            <a:ext cx="0" cy="0"/>
          </a:xfrm>
          <a:prstGeom prst="line">
            <a:avLst/>
          </a:prstGeom>
          <a:noFill/>
          <a:ln w="19050">
            <a:solidFill>
              <a:srgbClr val="E7D8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977640"/>
            <a:ext cx="0" cy="1965960"/>
          </a:xfrm>
          <a:prstGeom prst="line">
            <a:avLst/>
          </a:prstGeom>
          <a:noFill/>
          <a:ln w="15875">
            <a:solidFill>
              <a:srgbClr val="B887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55080" y="448056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2,193 / 219 / 219. 216 Kurals held out for generalization testing.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pipeline: query to grounded answer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9477"/>
            <a:ext cx="2084832" cy="1688123"/>
          </a:xfrm>
          <a:prstGeom prst="ellipse">
            <a:avLst/>
          </a:prstGeom>
          <a:solidFill>
            <a:srgbClr val="F6EEE2"/>
          </a:solidFill>
          <a:ln w="19050">
            <a:solidFill>
              <a:srgbClr val="B88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1488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33472" y="25603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89504" y="1969477"/>
            <a:ext cx="1965960" cy="1688123"/>
          </a:xfrm>
          <a:prstGeom prst="roundRect">
            <a:avLst>
              <a:gd name="adj" fmla="val 4848"/>
            </a:avLst>
          </a:prstGeom>
          <a:solidFill>
            <a:srgbClr val="F4E3DE"/>
          </a:solidFill>
          <a:ln w="19050">
            <a:solidFill>
              <a:srgbClr val="B081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229514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62656" y="29718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55464" y="25603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11496" y="1969477"/>
            <a:ext cx="1965960" cy="1688123"/>
          </a:xfrm>
          <a:prstGeom prst="roundRect">
            <a:avLst>
              <a:gd name="adj" fmla="val 4848"/>
            </a:avLst>
          </a:prstGeom>
          <a:solidFill>
            <a:srgbClr val="F6EEE2"/>
          </a:solidFill>
          <a:ln w="19050">
            <a:solidFill>
              <a:srgbClr val="B887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229514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84648" y="29718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semantic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77456" y="25603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33488" y="1969477"/>
            <a:ext cx="1965960" cy="1688123"/>
          </a:xfrm>
          <a:prstGeom prst="roundRect">
            <a:avLst>
              <a:gd name="adj" fmla="val 4848"/>
            </a:avLst>
          </a:prstGeom>
          <a:solidFill>
            <a:srgbClr val="F4E3DE"/>
          </a:solidFill>
          <a:ln w="19050">
            <a:solidFill>
              <a:srgbClr val="B081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229514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29718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SIMILAR-TO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9448" y="25603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555480" y="1969477"/>
            <a:ext cx="1965960" cy="1688123"/>
          </a:xfrm>
          <a:prstGeom prst="ellipse">
            <a:avLst/>
          </a:prstGeom>
          <a:solidFill>
            <a:srgbClr val="FBF1DC"/>
          </a:solidFill>
          <a:ln w="19050">
            <a:solidFill>
              <a:srgbClr val="B887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55480" y="229514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28632" y="29718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109960" cy="2011680"/>
          </a:xfrm>
          <a:prstGeom prst="roundRect">
            <a:avLst>
              <a:gd name="adj" fmla="val 454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343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Knowledge Graph step works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48463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Kurals expand into their Adhigaram neighborhood via SIMILAR-TO edges — so the generator sees coherent evidence, not isolated couplets.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7"/>
          <p:cNvSpPr/>
          <p:nvPr/>
        </p:nvSpPr>
        <p:spPr>
          <a:xfrm>
            <a:off x="813816" y="2743200"/>
            <a:ext cx="18196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i="1" dirty="0" smtClean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</a:t>
            </a:r>
            <a:r>
              <a:rPr lang="en-US" sz="1600" i="1" dirty="0" err="1" smtClean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r>
              <a:rPr lang="en-US" sz="1600" i="1" dirty="0" smtClean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 about Education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graph: Adhigaram similarity network</a:t>
            </a:r>
            <a:endParaRPr lang="en-US" sz="2400" dirty="0"/>
          </a:p>
        </p:txBody>
      </p:sp>
      <p:pic>
        <p:nvPicPr>
          <p:cNvPr id="4" name="Image 0" descr="/home/claude/ppt/kg_diagram_ligh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691640"/>
            <a:ext cx="585216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074920" cy="4434840"/>
          </a:xfrm>
          <a:prstGeom prst="roundRect">
            <a:avLst>
              <a:gd name="adj" fmla="val 2062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hub Kurals · </a:t>
            </a:r>
            <a:r>
              <a:rPr lang="en-US" sz="1850" dirty="0" smtClean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</a:t>
            </a: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neighbors · Cream = bridge nodes</a:t>
            </a:r>
            <a:endParaRPr lang="en-US" sz="18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SIMILAR-TO links from embedding similarity</a:t>
            </a:r>
            <a:endParaRPr lang="en-US" sz="18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Paal→Iyal→Adhigaram→Kural is encoded in Neo4j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indexing granularities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Kural-level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272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verse unit.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but brittle.</a:t>
            </a:r>
            <a:endParaRPr lang="en-US" sz="2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450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Adhigaram-level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1272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chapter.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thematic recall.</a:t>
            </a:r>
            <a:endParaRPr lang="en-US" sz="2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BF1DC"/>
          </a:solidFill>
          <a:ln w="22225">
            <a:solidFill>
              <a:srgbClr val="B88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2450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Clustered Adhigaram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1272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Graph-linked chapters.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recall.</a:t>
            </a:r>
            <a:endParaRPr lang="en-US" sz="2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Models, retrieval, and adaptation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evaluated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85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Gemma-3 270M</a:t>
            </a:r>
            <a:endParaRPr lang="en-US" sz="1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85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1B</a:t>
            </a:r>
            <a:endParaRPr lang="en-US" sz="1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GPT-OSS-20B, Gemini-2.5-Flash, Sonar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pipeline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BGE-M3, top-k = 10</a:t>
            </a:r>
            <a:endParaRPr lang="en-US" sz="18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85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cross-encoder reranking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F4E3DE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adaptation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7824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172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78240" y="3172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16, 32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7398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78240" y="3739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43068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78240" y="43068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 – 1e-3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0" y="5074920"/>
            <a:ext cx="4937760" cy="0"/>
          </a:xfrm>
          <a:prstGeom prst="line">
            <a:avLst/>
          </a:prstGeom>
          <a:noFill/>
          <a:ln w="12700">
            <a:solidFill>
              <a:srgbClr val="E7D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257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NVIDIA A6000 (48GB) · AdamW · bf16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quality across indexing strategies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548640" y="1783080"/>
          <a:ext cx="6949440" cy="24688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 Strategy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Kural-level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Adhigaram-level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Adhigaram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4A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931920" cy="4343400"/>
          </a:xfrm>
          <a:prstGeom prst="roundRect">
            <a:avLst>
              <a:gd name="adj" fmla="val 2326"/>
            </a:avLst>
          </a:prstGeom>
          <a:solidFill>
            <a:srgbClr val="FBF1DC"/>
          </a:solidFill>
          <a:ln w="15875">
            <a:solidFill>
              <a:srgbClr val="B887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955280" y="27889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B08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under clustered retrieval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55280" y="3657600"/>
            <a:ext cx="3246120" cy="0"/>
          </a:xfrm>
          <a:prstGeom prst="line">
            <a:avLst/>
          </a:prstGeom>
          <a:noFill/>
          <a:ln w="12700">
            <a:solidFill>
              <a:srgbClr val="E7D8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384048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structure is the single dominant lever in this study.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generation: RAG closes the gap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Gemma-3 1B (fine-tuned)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651760" y="2633472"/>
            <a:ext cx="2377440" cy="310896"/>
          </a:xfrm>
          <a:prstGeom prst="rect">
            <a:avLst/>
          </a:prstGeom>
          <a:solidFill>
            <a:srgbClr val="E7D8C4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2633472"/>
            <a:ext cx="1687982" cy="310896"/>
          </a:xfrm>
          <a:prstGeom prst="rect">
            <a:avLst/>
          </a:prstGeom>
          <a:solidFill>
            <a:srgbClr val="B8873E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2606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278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Adhigaram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51760" y="3255264"/>
            <a:ext cx="2377440" cy="310896"/>
          </a:xfrm>
          <a:prstGeom prst="rect">
            <a:avLst/>
          </a:prstGeom>
          <a:solidFill>
            <a:srgbClr val="E7D8C4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3255264"/>
            <a:ext cx="1997050" cy="310896"/>
          </a:xfrm>
          <a:prstGeom prst="rect">
            <a:avLst/>
          </a:prstGeom>
          <a:solidFill>
            <a:srgbClr val="B8873E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32278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8496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651760" y="3877056"/>
            <a:ext cx="2377440" cy="310896"/>
          </a:xfrm>
          <a:prstGeom prst="rect">
            <a:avLst/>
          </a:prstGeom>
          <a:solidFill>
            <a:srgbClr val="E7D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3877056"/>
            <a:ext cx="2068373" cy="310896"/>
          </a:xfrm>
          <a:prstGeom prst="rect">
            <a:avLst/>
          </a:prstGeom>
          <a:solidFill>
            <a:srgbClr val="B8873E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8496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i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partly compensates for limited capacity.</a:t>
            </a:r>
            <a:endParaRPr lang="en-US" sz="2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4E3DE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retrieval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2514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dominated by model scale alone.</a:t>
            </a:r>
            <a:endParaRPr lang="en-US" sz="22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improves style, not faithfulness.</a:t>
            </a:r>
            <a:endParaRPr lang="en-US" sz="22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not adaptation — enables attribution.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FBF1DC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88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tried, achieved, and found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6EEE2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tried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RAG pipeline over the Thirukkural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indexing strategies, incl. a graph-based clustered approach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Gemma-3 270M / 1B, with &amp; without LoRA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4E3DE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965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99432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retrieval (0.999 recall) via clustered indexing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1B SLM approaching large-model BERTScore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citation-checked, attribution-safe generation pipeline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138160" y="178308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BF1DC"/>
          </a:solidFill>
          <a:ln w="12700">
            <a:solidFill>
              <a:srgbClr val="E7D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9659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94192" y="256032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structure — not model scale — is the dominant factor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can be faithful, deployable cultural assistants</a:t>
            </a:r>
            <a:endParaRPr lang="en-US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Frugal AI is viable for stable, bounded canonical texts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6108192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Tamil-first generation · richer evidence selection · multi-verse evaluation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756</Words>
  <Application>Microsoft Office PowerPoint</Application>
  <PresentationFormat>Custom</PresentationFormat>
  <Paragraphs>210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RMIS</cp:lastModifiedBy>
  <cp:revision>14</cp:revision>
  <dcterms:created xsi:type="dcterms:W3CDTF">2026-08-22T03:15:22Z</dcterms:created>
  <dcterms:modified xsi:type="dcterms:W3CDTF">2026-08-24T08:19:24Z</dcterms:modified>
</cp:coreProperties>
</file>