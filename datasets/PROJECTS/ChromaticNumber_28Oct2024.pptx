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" charset="1" panose="020B0604020202020204"/>
      <p:regular r:id="rId24"/>
    </p:embeddedFont>
    <p:embeddedFont>
      <p:font typeface="Arimo Bold" charset="1" panose="020B07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https://www.linkedin.com/in/dharineesh-j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2150" y="260900"/>
            <a:ext cx="9778200" cy="9778200"/>
            <a:chOff x="0" y="0"/>
            <a:chExt cx="13037600" cy="1303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7565" cy="13037565"/>
            </a:xfrm>
            <a:custGeom>
              <a:avLst/>
              <a:gdLst/>
              <a:ahLst/>
              <a:cxnLst/>
              <a:rect r="r" b="b" t="t" l="l"/>
              <a:pathLst>
                <a:path h="13037565" w="13037565">
                  <a:moveTo>
                    <a:pt x="0" y="6518783"/>
                  </a:moveTo>
                  <a:cubicBezTo>
                    <a:pt x="0" y="2918587"/>
                    <a:pt x="2918587" y="0"/>
                    <a:pt x="6518783" y="0"/>
                  </a:cubicBezTo>
                  <a:cubicBezTo>
                    <a:pt x="10118978" y="0"/>
                    <a:pt x="13037565" y="2918587"/>
                    <a:pt x="13037565" y="6518783"/>
                  </a:cubicBezTo>
                  <a:cubicBezTo>
                    <a:pt x="13037565" y="10118978"/>
                    <a:pt x="10118978" y="13037565"/>
                    <a:pt x="6518783" y="13037565"/>
                  </a:cubicBezTo>
                  <a:cubicBezTo>
                    <a:pt x="2918587" y="13037565"/>
                    <a:pt x="0" y="10118979"/>
                    <a:pt x="0" y="6518783"/>
                  </a:cubicBezTo>
                  <a:close/>
                </a:path>
              </a:pathLst>
            </a:custGeom>
            <a:solidFill>
              <a:srgbClr val="E8E7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5800" y="1048050"/>
            <a:ext cx="15444900" cy="8187900"/>
            <a:chOff x="0" y="0"/>
            <a:chExt cx="20593200" cy="1091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65675" y="3948226"/>
            <a:ext cx="11611950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Graph Representation and Chromatic Number Computation for Engineering Applications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46971" y="8759700"/>
            <a:ext cx="230932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Dharineesh 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3950" y="-1773150"/>
            <a:ext cx="3723000" cy="3723000"/>
            <a:chOff x="0" y="0"/>
            <a:chExt cx="4964000" cy="496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4049" cy="4963922"/>
            </a:xfrm>
            <a:custGeom>
              <a:avLst/>
              <a:gdLst/>
              <a:ahLst/>
              <a:cxnLst/>
              <a:rect r="r" b="b" t="t" l="l"/>
              <a:pathLst>
                <a:path h="4963922" w="4964049">
                  <a:moveTo>
                    <a:pt x="0" y="2481961"/>
                  </a:moveTo>
                  <a:cubicBezTo>
                    <a:pt x="0" y="1111250"/>
                    <a:pt x="1111250" y="0"/>
                    <a:pt x="2481961" y="0"/>
                  </a:cubicBezTo>
                  <a:cubicBezTo>
                    <a:pt x="3852672" y="0"/>
                    <a:pt x="4964049" y="1111250"/>
                    <a:pt x="4964049" y="2481961"/>
                  </a:cubicBezTo>
                  <a:cubicBezTo>
                    <a:pt x="4964049" y="3852672"/>
                    <a:pt x="3852799" y="4963922"/>
                    <a:pt x="2482088" y="4963922"/>
                  </a:cubicBezTo>
                  <a:cubicBezTo>
                    <a:pt x="1111377" y="4963922"/>
                    <a:pt x="0" y="3852799"/>
                    <a:pt x="0" y="2481961"/>
                  </a:cubicBezTo>
                  <a:close/>
                </a:path>
              </a:pathLst>
            </a:custGeom>
            <a:solidFill>
              <a:srgbClr val="E8E7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6873" y="439950"/>
            <a:ext cx="17396100" cy="9407100"/>
            <a:chOff x="0" y="0"/>
            <a:chExt cx="23194800" cy="1254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94772" cy="12542774"/>
            </a:xfrm>
            <a:custGeom>
              <a:avLst/>
              <a:gdLst/>
              <a:ahLst/>
              <a:cxnLst/>
              <a:rect r="r" b="b" t="t" l="l"/>
              <a:pathLst>
                <a:path h="12542774" w="23194772">
                  <a:moveTo>
                    <a:pt x="25400" y="0"/>
                  </a:moveTo>
                  <a:lnTo>
                    <a:pt x="23169372" y="0"/>
                  </a:lnTo>
                  <a:cubicBezTo>
                    <a:pt x="23183342" y="0"/>
                    <a:pt x="23194772" y="11430"/>
                    <a:pt x="23194772" y="25400"/>
                  </a:cubicBezTo>
                  <a:lnTo>
                    <a:pt x="23194772" y="12517374"/>
                  </a:lnTo>
                  <a:cubicBezTo>
                    <a:pt x="23194772" y="12531344"/>
                    <a:pt x="23183342" y="12542774"/>
                    <a:pt x="23169372" y="12542774"/>
                  </a:cubicBezTo>
                  <a:lnTo>
                    <a:pt x="25400" y="12542774"/>
                  </a:lnTo>
                  <a:cubicBezTo>
                    <a:pt x="11430" y="12542774"/>
                    <a:pt x="0" y="12531344"/>
                    <a:pt x="0" y="125173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517374"/>
                  </a:lnTo>
                  <a:lnTo>
                    <a:pt x="25400" y="12517374"/>
                  </a:lnTo>
                  <a:lnTo>
                    <a:pt x="25400" y="12491974"/>
                  </a:lnTo>
                  <a:lnTo>
                    <a:pt x="23169372" y="12491974"/>
                  </a:lnTo>
                  <a:lnTo>
                    <a:pt x="23169372" y="12517374"/>
                  </a:lnTo>
                  <a:lnTo>
                    <a:pt x="23143972" y="12517374"/>
                  </a:lnTo>
                  <a:lnTo>
                    <a:pt x="23143972" y="25400"/>
                  </a:lnTo>
                  <a:lnTo>
                    <a:pt x="23169372" y="25400"/>
                  </a:lnTo>
                  <a:lnTo>
                    <a:pt x="231693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17875" y="943375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Problem </a:t>
            </a: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53525" y="3305890"/>
            <a:ext cx="13043550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Determine the minimum number of colors needed to color a graph without adjacent vertices sharing the same color.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3525" y="5625470"/>
            <a:ext cx="13043550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Develop efficient algorithms to compute the chromatic number for various graph structures.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3525" y="7939650"/>
            <a:ext cx="13043550" cy="4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Analyze the chromatic number's behavior across different types of graphs.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53525" y="2583501"/>
            <a:ext cx="13043550" cy="65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80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What is the Problem?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42614" y="4918282"/>
            <a:ext cx="13043550" cy="65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80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How to solve the Problem?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53525" y="7165875"/>
            <a:ext cx="13043550" cy="65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80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Why to solve the problem for various graph structures?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207926" y="7251600"/>
            <a:ext cx="690000" cy="687950"/>
          </a:xfrm>
          <a:custGeom>
            <a:avLst/>
            <a:gdLst/>
            <a:ahLst/>
            <a:cxnLst/>
            <a:rect r="r" b="b" t="t" l="l"/>
            <a:pathLst>
              <a:path h="687950" w="690000">
                <a:moveTo>
                  <a:pt x="0" y="0"/>
                </a:moveTo>
                <a:lnTo>
                  <a:pt x="690000" y="0"/>
                </a:lnTo>
                <a:lnTo>
                  <a:pt x="690000" y="687950"/>
                </a:lnTo>
                <a:lnTo>
                  <a:pt x="0" y="687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59176" y="4959138"/>
            <a:ext cx="587500" cy="690000"/>
          </a:xfrm>
          <a:custGeom>
            <a:avLst/>
            <a:gdLst/>
            <a:ahLst/>
            <a:cxnLst/>
            <a:rect r="r" b="b" t="t" l="l"/>
            <a:pathLst>
              <a:path h="690000" w="587500">
                <a:moveTo>
                  <a:pt x="0" y="0"/>
                </a:moveTo>
                <a:lnTo>
                  <a:pt x="587500" y="0"/>
                </a:lnTo>
                <a:lnTo>
                  <a:pt x="587500" y="690000"/>
                </a:lnTo>
                <a:lnTo>
                  <a:pt x="0" y="690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209226" y="2669226"/>
            <a:ext cx="687400" cy="687450"/>
          </a:xfrm>
          <a:custGeom>
            <a:avLst/>
            <a:gdLst/>
            <a:ahLst/>
            <a:cxnLst/>
            <a:rect r="r" b="b" t="t" l="l"/>
            <a:pathLst>
              <a:path h="687450" w="687400">
                <a:moveTo>
                  <a:pt x="0" y="0"/>
                </a:moveTo>
                <a:lnTo>
                  <a:pt x="687400" y="0"/>
                </a:lnTo>
                <a:lnTo>
                  <a:pt x="687400" y="687450"/>
                </a:lnTo>
                <a:lnTo>
                  <a:pt x="0" y="687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6745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6858000"/>
                  </a:moveTo>
                  <a:cubicBezTo>
                    <a:pt x="0" y="3070479"/>
                    <a:pt x="3070479" y="0"/>
                    <a:pt x="6858000" y="0"/>
                  </a:cubicBezTo>
                  <a:cubicBezTo>
                    <a:pt x="10645521" y="0"/>
                    <a:pt x="13716000" y="3070479"/>
                    <a:pt x="13716000" y="6858000"/>
                  </a:cubicBezTo>
                  <a:cubicBezTo>
                    <a:pt x="13716000" y="10645521"/>
                    <a:pt x="10645521" y="13716000"/>
                    <a:pt x="6858000" y="13716000"/>
                  </a:cubicBezTo>
                  <a:cubicBezTo>
                    <a:pt x="3070479" y="13716000"/>
                    <a:pt x="0" y="10645521"/>
                    <a:pt x="0" y="6858000"/>
                  </a:cubicBezTo>
                  <a:close/>
                </a:path>
              </a:pathLst>
            </a:custGeom>
            <a:solidFill>
              <a:srgbClr val="E8E7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7400" y="1048050"/>
            <a:ext cx="15473700" cy="8187900"/>
            <a:chOff x="0" y="0"/>
            <a:chExt cx="20631600" cy="1091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31658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631658">
                  <a:moveTo>
                    <a:pt x="25400" y="0"/>
                  </a:moveTo>
                  <a:lnTo>
                    <a:pt x="20606258" y="0"/>
                  </a:lnTo>
                  <a:cubicBezTo>
                    <a:pt x="20620228" y="0"/>
                    <a:pt x="20631658" y="11430"/>
                    <a:pt x="20631658" y="25400"/>
                  </a:cubicBezTo>
                  <a:lnTo>
                    <a:pt x="20631658" y="10891774"/>
                  </a:lnTo>
                  <a:cubicBezTo>
                    <a:pt x="20631658" y="10905744"/>
                    <a:pt x="20620228" y="10917174"/>
                    <a:pt x="20606258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606258" y="10866374"/>
                  </a:lnTo>
                  <a:lnTo>
                    <a:pt x="20606258" y="10891774"/>
                  </a:lnTo>
                  <a:lnTo>
                    <a:pt x="20580858" y="10891774"/>
                  </a:lnTo>
                  <a:lnTo>
                    <a:pt x="20580858" y="25400"/>
                  </a:lnTo>
                  <a:lnTo>
                    <a:pt x="20606258" y="25400"/>
                  </a:lnTo>
                  <a:lnTo>
                    <a:pt x="2060625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780658" y="1177094"/>
            <a:ext cx="1901350" cy="1376109"/>
          </a:xfrm>
          <a:custGeom>
            <a:avLst/>
            <a:gdLst/>
            <a:ahLst/>
            <a:cxnLst/>
            <a:rect r="r" b="b" t="t" l="l"/>
            <a:pathLst>
              <a:path h="1376109" w="1901350">
                <a:moveTo>
                  <a:pt x="0" y="0"/>
                </a:moveTo>
                <a:lnTo>
                  <a:pt x="1901350" y="0"/>
                </a:lnTo>
                <a:lnTo>
                  <a:pt x="1901350" y="1376109"/>
                </a:lnTo>
                <a:lnTo>
                  <a:pt x="0" y="137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978" t="-45335" r="-371869" b="-1803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28231" y="2366625"/>
            <a:ext cx="10939219" cy="595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The chromatic number, χ(G), as the minimum colors needed to color a graph with no adjacent vertices sharing a color.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Develops algorithms to calculate chromatic numbers for different graph structures.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Uses visualization techniques for intuitive understanding of graph coloring.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Explores applications of chromatic number in fields like networking, education, and circuit design.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Presents experimental results, including chromatic numbers and algorithm execution times, across various graph types.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648050" y="2553203"/>
            <a:ext cx="1707257" cy="1681113"/>
          </a:xfrm>
          <a:custGeom>
            <a:avLst/>
            <a:gdLst/>
            <a:ahLst/>
            <a:cxnLst/>
            <a:rect r="r" b="b" t="t" l="l"/>
            <a:pathLst>
              <a:path h="1681113" w="1707257">
                <a:moveTo>
                  <a:pt x="0" y="0"/>
                </a:moveTo>
                <a:lnTo>
                  <a:pt x="1707257" y="0"/>
                </a:lnTo>
                <a:lnTo>
                  <a:pt x="1707257" y="1681113"/>
                </a:lnTo>
                <a:lnTo>
                  <a:pt x="0" y="1681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9162" t="-18967" r="-296399" b="-14761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48050" y="4662193"/>
            <a:ext cx="1610210" cy="1999981"/>
          </a:xfrm>
          <a:custGeom>
            <a:avLst/>
            <a:gdLst/>
            <a:ahLst/>
            <a:cxnLst/>
            <a:rect r="r" b="b" t="t" l="l"/>
            <a:pathLst>
              <a:path h="1999981" w="1610210">
                <a:moveTo>
                  <a:pt x="0" y="0"/>
                </a:moveTo>
                <a:lnTo>
                  <a:pt x="1610210" y="0"/>
                </a:lnTo>
                <a:lnTo>
                  <a:pt x="1610210" y="1999981"/>
                </a:lnTo>
                <a:lnTo>
                  <a:pt x="0" y="1999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0283" t="0" r="-188761" b="-12408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70773" y="7090799"/>
            <a:ext cx="2311235" cy="1625658"/>
          </a:xfrm>
          <a:custGeom>
            <a:avLst/>
            <a:gdLst/>
            <a:ahLst/>
            <a:cxnLst/>
            <a:rect r="r" b="b" t="t" l="l"/>
            <a:pathLst>
              <a:path h="1625658" w="2311235">
                <a:moveTo>
                  <a:pt x="0" y="0"/>
                </a:moveTo>
                <a:lnTo>
                  <a:pt x="2311235" y="0"/>
                </a:lnTo>
                <a:lnTo>
                  <a:pt x="2311235" y="1625658"/>
                </a:lnTo>
                <a:lnTo>
                  <a:pt x="0" y="1625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6118" t="-27302" r="-22794" b="-16754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31425" y="1138994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3950" y="-1773150"/>
            <a:ext cx="3723000" cy="3723000"/>
            <a:chOff x="0" y="0"/>
            <a:chExt cx="4964000" cy="496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4049" cy="4963922"/>
            </a:xfrm>
            <a:custGeom>
              <a:avLst/>
              <a:gdLst/>
              <a:ahLst/>
              <a:cxnLst/>
              <a:rect r="r" b="b" t="t" l="l"/>
              <a:pathLst>
                <a:path h="4963922" w="4964049">
                  <a:moveTo>
                    <a:pt x="0" y="2481961"/>
                  </a:moveTo>
                  <a:cubicBezTo>
                    <a:pt x="0" y="1111250"/>
                    <a:pt x="1111250" y="0"/>
                    <a:pt x="2481961" y="0"/>
                  </a:cubicBezTo>
                  <a:cubicBezTo>
                    <a:pt x="3852672" y="0"/>
                    <a:pt x="4964049" y="1111250"/>
                    <a:pt x="4964049" y="2481961"/>
                  </a:cubicBezTo>
                  <a:cubicBezTo>
                    <a:pt x="4964049" y="3852672"/>
                    <a:pt x="3852799" y="4963922"/>
                    <a:pt x="2482088" y="4963922"/>
                  </a:cubicBezTo>
                  <a:cubicBezTo>
                    <a:pt x="1111377" y="4963922"/>
                    <a:pt x="0" y="3852799"/>
                    <a:pt x="0" y="2481961"/>
                  </a:cubicBezTo>
                  <a:close/>
                </a:path>
              </a:pathLst>
            </a:custGeom>
            <a:solidFill>
              <a:srgbClr val="E8E7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45350" y="446550"/>
            <a:ext cx="17396100" cy="9407100"/>
            <a:chOff x="0" y="0"/>
            <a:chExt cx="23194800" cy="1254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94772" cy="12542774"/>
            </a:xfrm>
            <a:custGeom>
              <a:avLst/>
              <a:gdLst/>
              <a:ahLst/>
              <a:cxnLst/>
              <a:rect r="r" b="b" t="t" l="l"/>
              <a:pathLst>
                <a:path h="12542774" w="23194772">
                  <a:moveTo>
                    <a:pt x="25400" y="0"/>
                  </a:moveTo>
                  <a:lnTo>
                    <a:pt x="23169372" y="0"/>
                  </a:lnTo>
                  <a:cubicBezTo>
                    <a:pt x="23183342" y="0"/>
                    <a:pt x="23194772" y="11430"/>
                    <a:pt x="23194772" y="25400"/>
                  </a:cubicBezTo>
                  <a:lnTo>
                    <a:pt x="23194772" y="12517374"/>
                  </a:lnTo>
                  <a:cubicBezTo>
                    <a:pt x="23194772" y="12531344"/>
                    <a:pt x="23183342" y="12542774"/>
                    <a:pt x="23169372" y="12542774"/>
                  </a:cubicBezTo>
                  <a:lnTo>
                    <a:pt x="25400" y="12542774"/>
                  </a:lnTo>
                  <a:cubicBezTo>
                    <a:pt x="11430" y="12542774"/>
                    <a:pt x="0" y="12531344"/>
                    <a:pt x="0" y="125173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517374"/>
                  </a:lnTo>
                  <a:lnTo>
                    <a:pt x="25400" y="12517374"/>
                  </a:lnTo>
                  <a:lnTo>
                    <a:pt x="25400" y="12491974"/>
                  </a:lnTo>
                  <a:lnTo>
                    <a:pt x="23169372" y="12491974"/>
                  </a:lnTo>
                  <a:lnTo>
                    <a:pt x="23169372" y="12517374"/>
                  </a:lnTo>
                  <a:lnTo>
                    <a:pt x="23143972" y="12517374"/>
                  </a:lnTo>
                  <a:lnTo>
                    <a:pt x="23143972" y="25400"/>
                  </a:lnTo>
                  <a:lnTo>
                    <a:pt x="23169372" y="25400"/>
                  </a:lnTo>
                  <a:lnTo>
                    <a:pt x="231693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AutoShape 6" id="6"/>
          <p:cNvSpPr/>
          <p:nvPr/>
        </p:nvSpPr>
        <p:spPr>
          <a:xfrm rot="199225">
            <a:off x="17802798" y="456075"/>
            <a:ext cx="657804" cy="0"/>
          </a:xfrm>
          <a:prstGeom prst="line">
            <a:avLst/>
          </a:prstGeom>
          <a:ln cap="rnd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959222" y="1112848"/>
            <a:ext cx="13999014" cy="8505117"/>
            <a:chOff x="0" y="0"/>
            <a:chExt cx="18665352" cy="113401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034452" y="932122"/>
              <a:ext cx="2596448" cy="1962431"/>
            </a:xfrm>
            <a:custGeom>
              <a:avLst/>
              <a:gdLst/>
              <a:ahLst/>
              <a:cxnLst/>
              <a:rect r="r" b="b" t="t" l="l"/>
              <a:pathLst>
                <a:path h="1962431" w="2596448">
                  <a:moveTo>
                    <a:pt x="0" y="0"/>
                  </a:moveTo>
                  <a:lnTo>
                    <a:pt x="2596448" y="0"/>
                  </a:lnTo>
                  <a:lnTo>
                    <a:pt x="2596448" y="1962431"/>
                  </a:lnTo>
                  <a:lnTo>
                    <a:pt x="0" y="1962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4145762" y="0"/>
              <a:ext cx="3417378" cy="2563033"/>
            </a:xfrm>
            <a:custGeom>
              <a:avLst/>
              <a:gdLst/>
              <a:ahLst/>
              <a:cxnLst/>
              <a:rect r="r" b="b" t="t" l="l"/>
              <a:pathLst>
                <a:path h="2563033" w="3417378">
                  <a:moveTo>
                    <a:pt x="0" y="0"/>
                  </a:moveTo>
                  <a:lnTo>
                    <a:pt x="3417378" y="0"/>
                  </a:lnTo>
                  <a:lnTo>
                    <a:pt x="3417378" y="2563033"/>
                  </a:lnTo>
                  <a:lnTo>
                    <a:pt x="0" y="2563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10800000">
              <a:off x="687516" y="285177"/>
              <a:ext cx="3326768" cy="2495076"/>
            </a:xfrm>
            <a:custGeom>
              <a:avLst/>
              <a:gdLst/>
              <a:ahLst/>
              <a:cxnLst/>
              <a:rect r="r" b="b" t="t" l="l"/>
              <a:pathLst>
                <a:path h="2495076" w="3326768">
                  <a:moveTo>
                    <a:pt x="0" y="0"/>
                  </a:moveTo>
                  <a:lnTo>
                    <a:pt x="3326768" y="0"/>
                  </a:lnTo>
                  <a:lnTo>
                    <a:pt x="3326768" y="2495076"/>
                  </a:lnTo>
                  <a:lnTo>
                    <a:pt x="0" y="2495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1366" y="4636842"/>
              <a:ext cx="3719068" cy="2789301"/>
            </a:xfrm>
            <a:custGeom>
              <a:avLst/>
              <a:gdLst/>
              <a:ahLst/>
              <a:cxnLst/>
              <a:rect r="r" b="b" t="t" l="l"/>
              <a:pathLst>
                <a:path h="2789301" w="3719068">
                  <a:moveTo>
                    <a:pt x="0" y="0"/>
                  </a:moveTo>
                  <a:lnTo>
                    <a:pt x="3719068" y="0"/>
                  </a:lnTo>
                  <a:lnTo>
                    <a:pt x="3719068" y="2789301"/>
                  </a:lnTo>
                  <a:lnTo>
                    <a:pt x="0" y="2789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463242" y="4686861"/>
              <a:ext cx="3738868" cy="2804151"/>
            </a:xfrm>
            <a:custGeom>
              <a:avLst/>
              <a:gdLst/>
              <a:ahLst/>
              <a:cxnLst/>
              <a:rect r="r" b="b" t="t" l="l"/>
              <a:pathLst>
                <a:path h="2804151" w="3738868">
                  <a:moveTo>
                    <a:pt x="0" y="0"/>
                  </a:moveTo>
                  <a:lnTo>
                    <a:pt x="3738868" y="0"/>
                  </a:lnTo>
                  <a:lnTo>
                    <a:pt x="3738868" y="2804151"/>
                  </a:lnTo>
                  <a:lnTo>
                    <a:pt x="0" y="2804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626198">
              <a:off x="14359275" y="4259316"/>
              <a:ext cx="3532126" cy="2649094"/>
            </a:xfrm>
            <a:custGeom>
              <a:avLst/>
              <a:gdLst/>
              <a:ahLst/>
              <a:cxnLst/>
              <a:rect r="r" b="b" t="t" l="l"/>
              <a:pathLst>
                <a:path h="2649094" w="3532126">
                  <a:moveTo>
                    <a:pt x="0" y="0"/>
                  </a:moveTo>
                  <a:lnTo>
                    <a:pt x="3532126" y="0"/>
                  </a:lnTo>
                  <a:lnTo>
                    <a:pt x="3532126" y="2649094"/>
                  </a:lnTo>
                  <a:lnTo>
                    <a:pt x="0" y="2649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463964" y="7974190"/>
              <a:ext cx="3738146" cy="2803610"/>
            </a:xfrm>
            <a:custGeom>
              <a:avLst/>
              <a:gdLst/>
              <a:ahLst/>
              <a:cxnLst/>
              <a:rect r="r" b="b" t="t" l="l"/>
              <a:pathLst>
                <a:path h="2803610" w="3738146">
                  <a:moveTo>
                    <a:pt x="0" y="0"/>
                  </a:moveTo>
                  <a:lnTo>
                    <a:pt x="3738146" y="0"/>
                  </a:lnTo>
                  <a:lnTo>
                    <a:pt x="3738146" y="2803610"/>
                  </a:lnTo>
                  <a:lnTo>
                    <a:pt x="0" y="2803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3386678"/>
              <a:ext cx="5621800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Cycle Graph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521776" y="3386678"/>
              <a:ext cx="5621800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Complete Graph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359468"/>
              <a:ext cx="5621800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Star Graph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521776" y="7359468"/>
              <a:ext cx="5621800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Fan Graph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043552" y="3386678"/>
              <a:ext cx="5621800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Path Graph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3043552" y="7359468"/>
              <a:ext cx="5621800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Binary Tree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521776" y="10711125"/>
              <a:ext cx="5621800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Sibling Tree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19286" y="446550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Graph Types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1100" y="6037250"/>
            <a:ext cx="8486400" cy="8486400"/>
            <a:chOff x="0" y="0"/>
            <a:chExt cx="11315200" cy="1131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15192" cy="11315192"/>
            </a:xfrm>
            <a:custGeom>
              <a:avLst/>
              <a:gdLst/>
              <a:ahLst/>
              <a:cxnLst/>
              <a:rect r="r" b="b" t="t" l="l"/>
              <a:pathLst>
                <a:path h="11315192" w="11315192">
                  <a:moveTo>
                    <a:pt x="0" y="5657596"/>
                  </a:moveTo>
                  <a:cubicBezTo>
                    <a:pt x="0" y="2533015"/>
                    <a:pt x="2533015" y="0"/>
                    <a:pt x="5657596" y="0"/>
                  </a:cubicBezTo>
                  <a:cubicBezTo>
                    <a:pt x="8782177" y="0"/>
                    <a:pt x="11315192" y="2533015"/>
                    <a:pt x="11315192" y="5657596"/>
                  </a:cubicBezTo>
                  <a:cubicBezTo>
                    <a:pt x="11315192" y="8782177"/>
                    <a:pt x="8782177" y="11315192"/>
                    <a:pt x="5657596" y="11315192"/>
                  </a:cubicBezTo>
                  <a:cubicBezTo>
                    <a:pt x="2533015" y="11315192"/>
                    <a:pt x="0" y="8782177"/>
                    <a:pt x="0" y="5657596"/>
                  </a:cubicBezTo>
                  <a:close/>
                </a:path>
              </a:pathLst>
            </a:custGeom>
            <a:solidFill>
              <a:srgbClr val="E8E7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5800" y="1048050"/>
            <a:ext cx="15444900" cy="8187900"/>
            <a:chOff x="0" y="0"/>
            <a:chExt cx="20593200" cy="1091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8116" y="1224738"/>
            <a:ext cx="507676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Applications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445015" y="2570536"/>
            <a:ext cx="10967768" cy="5996740"/>
            <a:chOff x="0" y="0"/>
            <a:chExt cx="14623690" cy="79956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670180" y="0"/>
              <a:ext cx="3375265" cy="2151732"/>
            </a:xfrm>
            <a:custGeom>
              <a:avLst/>
              <a:gdLst/>
              <a:ahLst/>
              <a:cxnLst/>
              <a:rect r="r" b="b" t="t" l="l"/>
              <a:pathLst>
                <a:path h="2151732" w="3375265">
                  <a:moveTo>
                    <a:pt x="0" y="0"/>
                  </a:moveTo>
                  <a:lnTo>
                    <a:pt x="3375266" y="0"/>
                  </a:lnTo>
                  <a:lnTo>
                    <a:pt x="3375266" y="2151732"/>
                  </a:lnTo>
                  <a:lnTo>
                    <a:pt x="0" y="215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753236" y="0"/>
              <a:ext cx="2685316" cy="2257857"/>
            </a:xfrm>
            <a:custGeom>
              <a:avLst/>
              <a:gdLst/>
              <a:ahLst/>
              <a:cxnLst/>
              <a:rect r="r" b="b" t="t" l="l"/>
              <a:pathLst>
                <a:path h="2257857" w="2685316">
                  <a:moveTo>
                    <a:pt x="0" y="0"/>
                  </a:moveTo>
                  <a:lnTo>
                    <a:pt x="2685315" y="0"/>
                  </a:lnTo>
                  <a:lnTo>
                    <a:pt x="2685315" y="2257857"/>
                  </a:lnTo>
                  <a:lnTo>
                    <a:pt x="0" y="2257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867931" y="3553277"/>
              <a:ext cx="3177515" cy="3177515"/>
            </a:xfrm>
            <a:custGeom>
              <a:avLst/>
              <a:gdLst/>
              <a:ahLst/>
              <a:cxnLst/>
              <a:rect r="r" b="b" t="t" l="l"/>
              <a:pathLst>
                <a:path h="3177515" w="3177515">
                  <a:moveTo>
                    <a:pt x="0" y="0"/>
                  </a:moveTo>
                  <a:lnTo>
                    <a:pt x="3177515" y="0"/>
                  </a:lnTo>
                  <a:lnTo>
                    <a:pt x="3177515" y="3177515"/>
                  </a:lnTo>
                  <a:lnTo>
                    <a:pt x="0" y="3177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12976" y="3276444"/>
              <a:ext cx="3165834" cy="3165834"/>
            </a:xfrm>
            <a:custGeom>
              <a:avLst/>
              <a:gdLst/>
              <a:ahLst/>
              <a:cxnLst/>
              <a:rect r="r" b="b" t="t" l="l"/>
              <a:pathLst>
                <a:path h="3165834" w="3165834">
                  <a:moveTo>
                    <a:pt x="0" y="0"/>
                  </a:moveTo>
                  <a:lnTo>
                    <a:pt x="3165835" y="0"/>
                  </a:lnTo>
                  <a:lnTo>
                    <a:pt x="3165835" y="3165834"/>
                  </a:lnTo>
                  <a:lnTo>
                    <a:pt x="0" y="3165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0592997" y="2647413"/>
              <a:ext cx="3452449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Map Coloring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05724" y="2433316"/>
              <a:ext cx="4775826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Exam Scheduling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718923"/>
              <a:ext cx="6191787" cy="1276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Routing and wave length assignment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0670180" y="6940950"/>
              <a:ext cx="3953510" cy="629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Register Allocation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183" y="543564"/>
            <a:ext cx="17355440" cy="9200746"/>
            <a:chOff x="0" y="0"/>
            <a:chExt cx="20593200" cy="1091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065592" y="1280344"/>
            <a:ext cx="4371409" cy="3976941"/>
          </a:xfrm>
          <a:custGeom>
            <a:avLst/>
            <a:gdLst/>
            <a:ahLst/>
            <a:cxnLst/>
            <a:rect r="r" b="b" t="t" l="l"/>
            <a:pathLst>
              <a:path h="3976941" w="4371409">
                <a:moveTo>
                  <a:pt x="0" y="0"/>
                </a:moveTo>
                <a:lnTo>
                  <a:pt x="4371408" y="0"/>
                </a:lnTo>
                <a:lnTo>
                  <a:pt x="4371408" y="3976941"/>
                </a:lnTo>
                <a:lnTo>
                  <a:pt x="0" y="397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01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85876" y="5257285"/>
            <a:ext cx="4354208" cy="3790071"/>
          </a:xfrm>
          <a:custGeom>
            <a:avLst/>
            <a:gdLst/>
            <a:ahLst/>
            <a:cxnLst/>
            <a:rect r="r" b="b" t="t" l="l"/>
            <a:pathLst>
              <a:path h="3790071" w="4354208">
                <a:moveTo>
                  <a:pt x="0" y="0"/>
                </a:moveTo>
                <a:lnTo>
                  <a:pt x="4354208" y="0"/>
                </a:lnTo>
                <a:lnTo>
                  <a:pt x="4354208" y="3790071"/>
                </a:lnTo>
                <a:lnTo>
                  <a:pt x="0" y="3790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30" t="0" r="-2371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2634" y="2596498"/>
            <a:ext cx="8822687" cy="52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Objective: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Schedule exams to prevent overlapping for students with multiple courses.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Goal: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Minimize the number of time slots required for exams to optimize resources and reduce the exam period.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Graph Representation: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the problem as a graph, where courses are nodes and conflicts are edges.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Solution Method: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graph coloring algorithms to assign time slots (colors) to courses, ensuring no conflicting exams occur at the same time.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6494" y="990600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1. Exam Scheduling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183" y="543564"/>
            <a:ext cx="17355440" cy="9200746"/>
            <a:chOff x="0" y="0"/>
            <a:chExt cx="20593200" cy="1091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22429" y="2340658"/>
            <a:ext cx="8112162" cy="5171503"/>
          </a:xfrm>
          <a:custGeom>
            <a:avLst/>
            <a:gdLst/>
            <a:ahLst/>
            <a:cxnLst/>
            <a:rect r="r" b="b" t="t" l="l"/>
            <a:pathLst>
              <a:path h="5171503" w="8112162">
                <a:moveTo>
                  <a:pt x="0" y="0"/>
                </a:moveTo>
                <a:lnTo>
                  <a:pt x="8112162" y="0"/>
                </a:lnTo>
                <a:lnTo>
                  <a:pt x="8112162" y="5171504"/>
                </a:lnTo>
                <a:lnTo>
                  <a:pt x="0" y="5171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3562" y="2515037"/>
            <a:ext cx="8528867" cy="52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Objective: Co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lor a map so that no two adjacent regions share the same color.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Goal: Ide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ntify the minimum number of colors needed, called the chromatic number.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Graph Representation: Repres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ent the map as a graph with regions as nodes and edges for adjacent regions.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Solution Methods: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algorithms like backtracking to solve the coloring problem, supported by the four color theorem.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0765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2. Map Coloring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183" y="543564"/>
            <a:ext cx="17355440" cy="9200746"/>
            <a:chOff x="0" y="0"/>
            <a:chExt cx="20593200" cy="1091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99487" y="2498642"/>
            <a:ext cx="7259813" cy="5290589"/>
          </a:xfrm>
          <a:custGeom>
            <a:avLst/>
            <a:gdLst/>
            <a:ahLst/>
            <a:cxnLst/>
            <a:rect r="r" b="b" t="t" l="l"/>
            <a:pathLst>
              <a:path h="5290589" w="7259813">
                <a:moveTo>
                  <a:pt x="0" y="0"/>
                </a:moveTo>
                <a:lnTo>
                  <a:pt x="7259813" y="0"/>
                </a:lnTo>
                <a:lnTo>
                  <a:pt x="7259813" y="5290589"/>
                </a:lnTo>
                <a:lnTo>
                  <a:pt x="0" y="5290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257001"/>
            <a:ext cx="8788198" cy="562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Objective: P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revent signal interference by managing routing and wavelength assignment in an optical network.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Goal: Mi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nimize errors by ensuring that no two signals on the same link use the same wavelength.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Graph Representation: Repres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ent the optical network as a graph with nodes for access points and switches and edges for light paths.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Solution Method: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the graph's chromatic number to determine the minimum distinct wavelengths needed for edge assignments.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3562" y="870765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3. Routing and Wave Length Assigment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183" y="543564"/>
            <a:ext cx="17355440" cy="9200746"/>
            <a:chOff x="0" y="0"/>
            <a:chExt cx="20593200" cy="1091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960610" y="2896725"/>
            <a:ext cx="6194958" cy="4948223"/>
          </a:xfrm>
          <a:custGeom>
            <a:avLst/>
            <a:gdLst/>
            <a:ahLst/>
            <a:cxnLst/>
            <a:rect r="r" b="b" t="t" l="l"/>
            <a:pathLst>
              <a:path h="4948223" w="6194958">
                <a:moveTo>
                  <a:pt x="0" y="0"/>
                </a:moveTo>
                <a:lnTo>
                  <a:pt x="6194958" y="0"/>
                </a:lnTo>
                <a:lnTo>
                  <a:pt x="6194958" y="4948223"/>
                </a:lnTo>
                <a:lnTo>
                  <a:pt x="0" y="4948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537" y="2570565"/>
            <a:ext cx="10489467" cy="605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Objective: Assign intermediate computation values to registers during the compiler design phase to optimize storage.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Goal: Ensure that no two interfering variables are assigned to the same register, minimizing the total number of registers needed.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Graph Representation: Represent register allocation as a graph, where nodes are registers and edges indicate interference between variables.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Solution Method: Use a priority-based coloring algorithm to determine the chromatic number, minimizing the number of colors (registers) used in allocation.</a:t>
            </a:r>
          </a:p>
          <a:p>
            <a:pPr algn="l">
              <a:lnSpc>
                <a:spcPts val="344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51230" y="818381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4. Register Allocation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5350" y="446550"/>
            <a:ext cx="17396100" cy="9407100"/>
            <a:chOff x="0" y="0"/>
            <a:chExt cx="23194800" cy="1254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94772" cy="12542774"/>
            </a:xfrm>
            <a:custGeom>
              <a:avLst/>
              <a:gdLst/>
              <a:ahLst/>
              <a:cxnLst/>
              <a:rect r="r" b="b" t="t" l="l"/>
              <a:pathLst>
                <a:path h="12542774" w="23194772">
                  <a:moveTo>
                    <a:pt x="25400" y="0"/>
                  </a:moveTo>
                  <a:lnTo>
                    <a:pt x="23169372" y="0"/>
                  </a:lnTo>
                  <a:cubicBezTo>
                    <a:pt x="23183342" y="0"/>
                    <a:pt x="23194772" y="11430"/>
                    <a:pt x="23194772" y="25400"/>
                  </a:cubicBezTo>
                  <a:lnTo>
                    <a:pt x="23194772" y="12517374"/>
                  </a:lnTo>
                  <a:cubicBezTo>
                    <a:pt x="23194772" y="12531344"/>
                    <a:pt x="23183342" y="12542774"/>
                    <a:pt x="23169372" y="12542774"/>
                  </a:cubicBezTo>
                  <a:lnTo>
                    <a:pt x="25400" y="12542774"/>
                  </a:lnTo>
                  <a:cubicBezTo>
                    <a:pt x="11430" y="12542774"/>
                    <a:pt x="0" y="12531344"/>
                    <a:pt x="0" y="125173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517374"/>
                  </a:lnTo>
                  <a:lnTo>
                    <a:pt x="25400" y="12517374"/>
                  </a:lnTo>
                  <a:lnTo>
                    <a:pt x="25400" y="12491974"/>
                  </a:lnTo>
                  <a:lnTo>
                    <a:pt x="23169372" y="12491974"/>
                  </a:lnTo>
                  <a:lnTo>
                    <a:pt x="23169372" y="12517374"/>
                  </a:lnTo>
                  <a:lnTo>
                    <a:pt x="23143972" y="12517374"/>
                  </a:lnTo>
                  <a:lnTo>
                    <a:pt x="23143972" y="25400"/>
                  </a:lnTo>
                  <a:lnTo>
                    <a:pt x="23169372" y="25400"/>
                  </a:lnTo>
                  <a:lnTo>
                    <a:pt x="231693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68915" y="709215"/>
            <a:ext cx="631064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Literature Review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5350" y="1773704"/>
            <a:ext cx="16813950" cy="740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Discrete Optimization Techniques: E. Malaguti et al. proposed heuristic and Tabu Search methods for discrete optimization and stable graph determination.</a:t>
            </a: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Local Search for Maximum Clique: Grosso et al. created a local search algorithm with a swap move for optimizing clique formation in graphs.</a:t>
            </a: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Chromatic Number via Graph Decomposition: Jansen and Nederlof introduced matrix rank-based algorithms to determine chromatic numbers efficiently.</a:t>
            </a: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Exam Scheduling Optimization: Akbulut and Yılmaz optimized exam scheduling by using graph structures to maximize hall usage and reduce cheating.</a:t>
            </a: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Four-Color Theorem for Planar Graphs: Sanders et al. proved that all loopless planar graphs require only four colors, confirming the four-color theorem.</a:t>
            </a: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Benchmarking with Random Graphs: A DIMACS-based system was proposed for benchmarking, using randomly distributed vertices within a unit square.</a:t>
            </a: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Parameterized Complexity in Graph Coloring: Jansen and Nederlof designed parameterized algorithms for graph coloring, focusing on input complexity.</a:t>
            </a: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Topological Bounds for Chromatic Number: Matoušek et al. examined lower bounds on chromatic numbers in planar and non-planar graphs, tackling 3-colorability challenges.</a:t>
            </a:r>
          </a:p>
          <a:p>
            <a:pPr algn="l">
              <a:lnSpc>
                <a:spcPts val="344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183" y="543564"/>
            <a:ext cx="17355440" cy="9200746"/>
            <a:chOff x="0" y="0"/>
            <a:chExt cx="20593200" cy="1091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6494" y="990600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Implementation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2634" y="2596498"/>
            <a:ext cx="13259110" cy="650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Graph Coloring Process: The algorithm constructs the graph, assigns colors to nodes, and tracks available colors for adjacent vertices.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Chromatic Number Determination: It determines the chromatic number based on the maximum color used after all vertices are colored.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Time Measurement: The execution time is calculated by subtracting the start time from the end time, reflecting performance efficiency.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Visualization Methodology: A visualization technique represents graph coloring, helping users understand the relationship between graph structure and chromatic number.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Practical Applications: The algorithm is efficient for network design and resource allocation, returning zero if valid coloring is not achievable</a:t>
            </a:r>
          </a:p>
          <a:p>
            <a:pPr algn="l">
              <a:lnSpc>
                <a:spcPts val="344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3424" y="923282"/>
            <a:ext cx="10234027" cy="908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Algorithm ChromaticNumber() {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start_time := Current time;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graph_coloring := Empty dictionary;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for each vertex in vertices do {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available_colors := Set of integers from 1 to the number of vertices;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for each edge in vertex.edge_list do {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neighbor_color := graph_coloring.get(edge.destination_vertex_id);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if neighbor_color is not None then {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  Remove neighbor_color from available_colors;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}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}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if available_colors is empty then { 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print "Graph is not properly colored.";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} else {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chosen_color := Minimum value in available_colors;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graph_coloring[vertex.state_id] := chosen_color;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}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}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end_time := Current time;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execution_time := end_time - start_time;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if graph_coloring is not empty {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chromatic_number := Maximum value in graph_coloring.values();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return chromatic_number, execution_time;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} else {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return 0, execution_time;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}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}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84183" y="169240"/>
            <a:ext cx="17355440" cy="9866210"/>
            <a:chOff x="0" y="0"/>
            <a:chExt cx="20593200" cy="11706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93177" cy="11706782"/>
            </a:xfrm>
            <a:custGeom>
              <a:avLst/>
              <a:gdLst/>
              <a:ahLst/>
              <a:cxnLst/>
              <a:rect r="r" b="b" t="t" l="l"/>
              <a:pathLst>
                <a:path h="11706782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2257"/>
                    <a:pt x="20593177" y="27237"/>
                  </a:cubicBezTo>
                  <a:lnTo>
                    <a:pt x="20593177" y="11679544"/>
                  </a:lnTo>
                  <a:cubicBezTo>
                    <a:pt x="20593177" y="11694525"/>
                    <a:pt x="20581747" y="11706782"/>
                    <a:pt x="20567777" y="11706782"/>
                  </a:cubicBezTo>
                  <a:lnTo>
                    <a:pt x="25400" y="11706782"/>
                  </a:lnTo>
                  <a:cubicBezTo>
                    <a:pt x="11430" y="11706782"/>
                    <a:pt x="0" y="11694525"/>
                    <a:pt x="0" y="11679544"/>
                  </a:cubicBezTo>
                  <a:lnTo>
                    <a:pt x="0" y="27237"/>
                  </a:lnTo>
                  <a:cubicBezTo>
                    <a:pt x="0" y="12257"/>
                    <a:pt x="11430" y="0"/>
                    <a:pt x="25400" y="0"/>
                  </a:cubicBezTo>
                  <a:moveTo>
                    <a:pt x="25400" y="54474"/>
                  </a:moveTo>
                  <a:lnTo>
                    <a:pt x="25400" y="27237"/>
                  </a:lnTo>
                  <a:lnTo>
                    <a:pt x="50800" y="27237"/>
                  </a:lnTo>
                  <a:lnTo>
                    <a:pt x="50800" y="11679544"/>
                  </a:lnTo>
                  <a:lnTo>
                    <a:pt x="25400" y="11679544"/>
                  </a:lnTo>
                  <a:lnTo>
                    <a:pt x="25400" y="11652307"/>
                  </a:lnTo>
                  <a:lnTo>
                    <a:pt x="20567777" y="11652307"/>
                  </a:lnTo>
                  <a:lnTo>
                    <a:pt x="20567777" y="11679544"/>
                  </a:lnTo>
                  <a:lnTo>
                    <a:pt x="20542377" y="11679544"/>
                  </a:lnTo>
                  <a:lnTo>
                    <a:pt x="20542377" y="27237"/>
                  </a:lnTo>
                  <a:lnTo>
                    <a:pt x="20567777" y="27237"/>
                  </a:lnTo>
                  <a:lnTo>
                    <a:pt x="20567777" y="54474"/>
                  </a:lnTo>
                  <a:lnTo>
                    <a:pt x="25400" y="54474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71194" y="142875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Algorithm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519542" y="1687762"/>
          <a:ext cx="13748014" cy="7746673"/>
        </p:xfrm>
        <a:graphic>
          <a:graphicData uri="http://schemas.openxmlformats.org/drawingml/2006/table">
            <a:tbl>
              <a:tblPr/>
              <a:tblGrid>
                <a:gridCol w="3626808"/>
                <a:gridCol w="1743340"/>
                <a:gridCol w="1577323"/>
                <a:gridCol w="1660621"/>
                <a:gridCol w="1660621"/>
                <a:gridCol w="3479302"/>
              </a:tblGrid>
              <a:tr h="692384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Types of graphs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Execution time for n nodes(sec)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Execution time for n nodes(sec)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Execution time for n nodes(sec)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Execution time for n nodes(sec)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Chromatic number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3040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Types of graphs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128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Chromatic number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69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Complete graph Kn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0.14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5.67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40.72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  128, 256, 512, 1024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Cycle graph Cn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0.021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0.088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Star graph K1,n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0.018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0.079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Fan graph Fn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0.116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Path graph Pn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0.086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Binary Tree Tn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0.015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Sibling tree STn1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0001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484183" y="543564"/>
            <a:ext cx="17355440" cy="9200746"/>
            <a:chOff x="0" y="0"/>
            <a:chExt cx="20593200" cy="10917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79151" y="691026"/>
            <a:ext cx="15238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5599" u="sng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Results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183" y="543564"/>
            <a:ext cx="17355440" cy="9200746"/>
            <a:chOff x="0" y="0"/>
            <a:chExt cx="20593200" cy="1091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3177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0593177">
                  <a:moveTo>
                    <a:pt x="25400" y="0"/>
                  </a:moveTo>
                  <a:lnTo>
                    <a:pt x="20567777" y="0"/>
                  </a:lnTo>
                  <a:cubicBezTo>
                    <a:pt x="20581747" y="0"/>
                    <a:pt x="20593177" y="11430"/>
                    <a:pt x="20593177" y="25400"/>
                  </a:cubicBezTo>
                  <a:lnTo>
                    <a:pt x="20593177" y="10891774"/>
                  </a:lnTo>
                  <a:cubicBezTo>
                    <a:pt x="20593177" y="10905744"/>
                    <a:pt x="20581747" y="10917174"/>
                    <a:pt x="20567777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567777" y="10866374"/>
                  </a:lnTo>
                  <a:lnTo>
                    <a:pt x="20567777" y="10891774"/>
                  </a:lnTo>
                  <a:lnTo>
                    <a:pt x="20542377" y="10891774"/>
                  </a:lnTo>
                  <a:lnTo>
                    <a:pt x="20542377" y="25400"/>
                  </a:lnTo>
                  <a:lnTo>
                    <a:pt x="20567777" y="25400"/>
                  </a:lnTo>
                  <a:lnTo>
                    <a:pt x="205677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738882" y="720919"/>
            <a:ext cx="10088509" cy="3554797"/>
          </a:xfrm>
          <a:custGeom>
            <a:avLst/>
            <a:gdLst/>
            <a:ahLst/>
            <a:cxnLst/>
            <a:rect r="r" b="b" t="t" l="l"/>
            <a:pathLst>
              <a:path h="3554797" w="10088509">
                <a:moveTo>
                  <a:pt x="0" y="0"/>
                </a:moveTo>
                <a:lnTo>
                  <a:pt x="10088509" y="0"/>
                </a:lnTo>
                <a:lnTo>
                  <a:pt x="10088509" y="3554797"/>
                </a:lnTo>
                <a:lnTo>
                  <a:pt x="0" y="3554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275" r="0" b="-1742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84666" y="4329476"/>
            <a:ext cx="13869118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work presented efficient algorithms for computing and visualizing chromatic numbers across diverse graph types, with performance validated on graphs with over 5000 nodes.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algorithm has practical applications in map coloring, register allocation, and exam scheduling, with future potential to support additional graph types and extended use cases.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implemented algorithms and visualizations offer insights into graph structures and chromatic numbers, enhancing understanding of graph-based optimization.</a:t>
            </a:r>
          </a:p>
          <a:p>
            <a:pPr algn="l">
              <a:lnSpc>
                <a:spcPts val="3449"/>
              </a:lnSpc>
            </a:pP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Comprehensive literature reviews and use cases highlight the algorithm’s relevance, demonstrating its adaptability for real-world problems in scheduling and resource allocation.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54200" y="-18100"/>
            <a:ext cx="10323000" cy="10323000"/>
            <a:chOff x="0" y="0"/>
            <a:chExt cx="13764000" cy="1376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64006" cy="13764006"/>
            </a:xfrm>
            <a:custGeom>
              <a:avLst/>
              <a:gdLst/>
              <a:ahLst/>
              <a:cxnLst/>
              <a:rect r="r" b="b" t="t" l="l"/>
              <a:pathLst>
                <a:path h="13764006" w="13764006">
                  <a:moveTo>
                    <a:pt x="0" y="6882003"/>
                  </a:moveTo>
                  <a:cubicBezTo>
                    <a:pt x="0" y="3081147"/>
                    <a:pt x="3081147" y="0"/>
                    <a:pt x="6882003" y="0"/>
                  </a:cubicBezTo>
                  <a:cubicBezTo>
                    <a:pt x="10682860" y="0"/>
                    <a:pt x="13764006" y="3081147"/>
                    <a:pt x="13764006" y="6882003"/>
                  </a:cubicBezTo>
                  <a:cubicBezTo>
                    <a:pt x="13764006" y="10682860"/>
                    <a:pt x="10682860" y="13764006"/>
                    <a:pt x="6882003" y="13764006"/>
                  </a:cubicBezTo>
                  <a:cubicBezTo>
                    <a:pt x="3081147" y="13764006"/>
                    <a:pt x="0" y="10682859"/>
                    <a:pt x="0" y="6882003"/>
                  </a:cubicBezTo>
                  <a:close/>
                </a:path>
              </a:pathLst>
            </a:custGeom>
            <a:solidFill>
              <a:srgbClr val="E8E7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9997" y="1048050"/>
            <a:ext cx="15759887" cy="8187900"/>
            <a:chOff x="0" y="0"/>
            <a:chExt cx="21013183" cy="1091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20024" cy="10917174"/>
            </a:xfrm>
            <a:custGeom>
              <a:avLst/>
              <a:gdLst/>
              <a:ahLst/>
              <a:cxnLst/>
              <a:rect r="r" b="b" t="t" l="l"/>
              <a:pathLst>
                <a:path h="10917174" w="21020024">
                  <a:moveTo>
                    <a:pt x="25400" y="0"/>
                  </a:moveTo>
                  <a:lnTo>
                    <a:pt x="20994624" y="0"/>
                  </a:lnTo>
                  <a:cubicBezTo>
                    <a:pt x="21008594" y="0"/>
                    <a:pt x="21020024" y="11430"/>
                    <a:pt x="21020024" y="25400"/>
                  </a:cubicBezTo>
                  <a:lnTo>
                    <a:pt x="21020024" y="10891774"/>
                  </a:lnTo>
                  <a:cubicBezTo>
                    <a:pt x="21020024" y="10905744"/>
                    <a:pt x="21008594" y="10917174"/>
                    <a:pt x="20994624" y="10917174"/>
                  </a:cubicBezTo>
                  <a:lnTo>
                    <a:pt x="25400" y="10917174"/>
                  </a:lnTo>
                  <a:cubicBezTo>
                    <a:pt x="11430" y="10917174"/>
                    <a:pt x="0" y="10905744"/>
                    <a:pt x="0" y="1089177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91774"/>
                  </a:lnTo>
                  <a:lnTo>
                    <a:pt x="25400" y="10891774"/>
                  </a:lnTo>
                  <a:lnTo>
                    <a:pt x="25400" y="10866374"/>
                  </a:lnTo>
                  <a:lnTo>
                    <a:pt x="20994624" y="10866374"/>
                  </a:lnTo>
                  <a:lnTo>
                    <a:pt x="20994624" y="10891774"/>
                  </a:lnTo>
                  <a:lnTo>
                    <a:pt x="20969224" y="10891774"/>
                  </a:lnTo>
                  <a:lnTo>
                    <a:pt x="20969224" y="25400"/>
                  </a:lnTo>
                  <a:lnTo>
                    <a:pt x="20994624" y="25400"/>
                  </a:lnTo>
                  <a:lnTo>
                    <a:pt x="20994624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30402" y="3090233"/>
            <a:ext cx="8713350" cy="198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9"/>
              </a:lnSpc>
            </a:pPr>
            <a:r>
              <a:rPr lang="en-US" sz="1160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Thanks!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0326" y="4817557"/>
            <a:ext cx="8713350" cy="145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b="true" sz="2799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Do you have any questions?</a:t>
            </a:r>
          </a:p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dharineeshj2@gmail.com</a:t>
            </a:r>
          </a:p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+91 77 08 18 07 04</a:t>
            </a:r>
          </a:p>
        </p:txBody>
      </p:sp>
      <p:sp>
        <p:nvSpPr>
          <p:cNvPr name="Freeform 8" id="8">
            <a:hlinkClick r:id="rId5" tooltip="https://www.linkedin.com/in/dharineesh-j/"/>
          </p:cNvPr>
          <p:cNvSpPr/>
          <p:nvPr/>
        </p:nvSpPr>
        <p:spPr>
          <a:xfrm flipH="false" flipV="false" rot="0">
            <a:off x="6806877" y="2679409"/>
            <a:ext cx="626620" cy="626454"/>
          </a:xfrm>
          <a:custGeom>
            <a:avLst/>
            <a:gdLst/>
            <a:ahLst/>
            <a:cxnLst/>
            <a:rect r="r" b="b" t="t" l="l"/>
            <a:pathLst>
              <a:path h="626454" w="626620">
                <a:moveTo>
                  <a:pt x="0" y="0"/>
                </a:moveTo>
                <a:lnTo>
                  <a:pt x="626620" y="0"/>
                </a:lnTo>
                <a:lnTo>
                  <a:pt x="626620" y="626454"/>
                </a:lnTo>
                <a:lnTo>
                  <a:pt x="0" y="6264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DAGUppfAvDw</dc:identifier>
  <dcterms:modified xsi:type="dcterms:W3CDTF">2011-08-01T06:04:30Z</dcterms:modified>
  <cp:revision>1</cp:revision>
  <dc:title>Copy of Elegant Black &amp; White Thesis Defense by Slidesgo.pptx</dc:title>
</cp:coreProperties>
</file>