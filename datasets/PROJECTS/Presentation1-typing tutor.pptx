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77" r:id="rId2"/>
    <p:sldId id="257" r:id="rId3"/>
    <p:sldId id="266" r:id="rId4"/>
    <p:sldId id="258" r:id="rId5"/>
    <p:sldId id="280" r:id="rId6"/>
    <p:sldId id="281" r:id="rId7"/>
    <p:sldId id="279" r:id="rId8"/>
    <p:sldId id="270" r:id="rId9"/>
    <p:sldId id="271" r:id="rId10"/>
    <p:sldId id="272" r:id="rId11"/>
    <p:sldId id="274" r:id="rId12"/>
    <p:sldId id="263" r:id="rId13"/>
    <p:sldId id="264" r:id="rId14"/>
    <p:sldId id="275" r:id="rId15"/>
    <p:sldId id="278" r:id="rId16"/>
    <p:sldId id="265" r:id="rId17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yBU+VA1UdqhI0l7n48kgRzamn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5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A6635E-7958-4E36-8F54-3D9AB6948D96}">
  <a:tblStyle styleId="{0EA6635E-7958-4E36-8F54-3D9AB6948D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024EF9-D260-449C-BBE2-D1627024C16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skaa MS" userId="83a0360fbf821a72" providerId="LiveId" clId="{0418D887-714B-4FEC-B04F-60A3E8E7C5AD}"/>
    <pc:docChg chg="modSld">
      <pc:chgData name="Kaniskaa MS" userId="83a0360fbf821a72" providerId="LiveId" clId="{0418D887-714B-4FEC-B04F-60A3E8E7C5AD}" dt="2023-05-05T04:26:17.101" v="34" actId="20577"/>
      <pc:docMkLst>
        <pc:docMk/>
      </pc:docMkLst>
      <pc:sldChg chg="modSp mod">
        <pc:chgData name="Kaniskaa MS" userId="83a0360fbf821a72" providerId="LiveId" clId="{0418D887-714B-4FEC-B04F-60A3E8E7C5AD}" dt="2023-05-05T04:14:19.648" v="25" actId="20577"/>
        <pc:sldMkLst>
          <pc:docMk/>
          <pc:sldMk cId="0" sldId="257"/>
        </pc:sldMkLst>
        <pc:spChg chg="mod">
          <ac:chgData name="Kaniskaa MS" userId="83a0360fbf821a72" providerId="LiveId" clId="{0418D887-714B-4FEC-B04F-60A3E8E7C5AD}" dt="2023-05-05T04:14:19.648" v="25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Kaniskaa MS" userId="83a0360fbf821a72" providerId="LiveId" clId="{0418D887-714B-4FEC-B04F-60A3E8E7C5AD}" dt="2023-05-05T04:12:26.529" v="4" actId="20577"/>
        <pc:sldMkLst>
          <pc:docMk/>
          <pc:sldMk cId="0" sldId="259"/>
        </pc:sldMkLst>
        <pc:spChg chg="mod">
          <ac:chgData name="Kaniskaa MS" userId="83a0360fbf821a72" providerId="LiveId" clId="{0418D887-714B-4FEC-B04F-60A3E8E7C5AD}" dt="2023-05-05T04:12:26.529" v="4" actId="20577"/>
          <ac:spMkLst>
            <pc:docMk/>
            <pc:sldMk cId="0" sldId="259"/>
            <ac:spMk id="120" creationId="{00000000-0000-0000-0000-000000000000}"/>
          </ac:spMkLst>
        </pc:spChg>
      </pc:sldChg>
      <pc:sldChg chg="modSp mod">
        <pc:chgData name="Kaniskaa MS" userId="83a0360fbf821a72" providerId="LiveId" clId="{0418D887-714B-4FEC-B04F-60A3E8E7C5AD}" dt="2023-05-05T04:12:44.271" v="6" actId="20577"/>
        <pc:sldMkLst>
          <pc:docMk/>
          <pc:sldMk cId="0" sldId="260"/>
        </pc:sldMkLst>
        <pc:spChg chg="mod">
          <ac:chgData name="Kaniskaa MS" userId="83a0360fbf821a72" providerId="LiveId" clId="{0418D887-714B-4FEC-B04F-60A3E8E7C5AD}" dt="2023-05-05T04:12:44.271" v="6" actId="20577"/>
          <ac:spMkLst>
            <pc:docMk/>
            <pc:sldMk cId="0" sldId="260"/>
            <ac:spMk id="137" creationId="{00000000-0000-0000-0000-000000000000}"/>
          </ac:spMkLst>
        </pc:spChg>
        <pc:spChg chg="mod">
          <ac:chgData name="Kaniskaa MS" userId="83a0360fbf821a72" providerId="LiveId" clId="{0418D887-714B-4FEC-B04F-60A3E8E7C5AD}" dt="2023-05-05T04:12:42.102" v="5" actId="20577"/>
          <ac:spMkLst>
            <pc:docMk/>
            <pc:sldMk cId="0" sldId="260"/>
            <ac:spMk id="138" creationId="{00000000-0000-0000-0000-000000000000}"/>
          </ac:spMkLst>
        </pc:spChg>
      </pc:sldChg>
      <pc:sldChg chg="modSp mod">
        <pc:chgData name="Kaniskaa MS" userId="83a0360fbf821a72" providerId="LiveId" clId="{0418D887-714B-4FEC-B04F-60A3E8E7C5AD}" dt="2023-05-05T04:17:09.635" v="33" actId="20577"/>
        <pc:sldMkLst>
          <pc:docMk/>
          <pc:sldMk cId="0" sldId="262"/>
        </pc:sldMkLst>
        <pc:graphicFrameChg chg="modGraphic">
          <ac:chgData name="Kaniskaa MS" userId="83a0360fbf821a72" providerId="LiveId" clId="{0418D887-714B-4FEC-B04F-60A3E8E7C5AD}" dt="2023-05-05T04:17:09.635" v="33" actId="20577"/>
          <ac:graphicFrameMkLst>
            <pc:docMk/>
            <pc:sldMk cId="0" sldId="262"/>
            <ac:graphicFrameMk id="165" creationId="{00000000-0000-0000-0000-000000000000}"/>
          </ac:graphicFrameMkLst>
        </pc:graphicFrameChg>
      </pc:sldChg>
      <pc:sldChg chg="modSp mod">
        <pc:chgData name="Kaniskaa MS" userId="83a0360fbf821a72" providerId="LiveId" clId="{0418D887-714B-4FEC-B04F-60A3E8E7C5AD}" dt="2023-05-05T04:26:17.101" v="34" actId="20577"/>
        <pc:sldMkLst>
          <pc:docMk/>
          <pc:sldMk cId="0" sldId="263"/>
        </pc:sldMkLst>
        <pc:spChg chg="mod">
          <ac:chgData name="Kaniskaa MS" userId="83a0360fbf821a72" providerId="LiveId" clId="{0418D887-714B-4FEC-B04F-60A3E8E7C5AD}" dt="2023-05-05T04:26:17.101" v="34" actId="20577"/>
          <ac:spMkLst>
            <pc:docMk/>
            <pc:sldMk cId="0" sldId="263"/>
            <ac:spMk id="1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2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99905660-E5DC-4398-90C5-E84AA4DE177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3DADAB-0BBB-4BE2-B17F-5363321B1351}" type="slidenum">
              <a:rPr lang="en-US" altLang="en-US" smtClean="0">
                <a:latin typeface="Calibri" panose="020F0502020204030204" pitchFamily="34" charset="0"/>
                <a:cs typeface="Droid Sans Fallback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>
              <a:latin typeface="Calibri" panose="020F0502020204030204" pitchFamily="34" charset="0"/>
              <a:cs typeface="Droid Sans Fallback" charset="0"/>
            </a:endParaRPr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827E6534-37DF-5E61-108A-5F44362F60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20990F6C-9B5C-1F1A-177C-FDDF46E63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755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8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623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4805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305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667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25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215b0c8308_0_3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sp>
        <p:nvSpPr>
          <p:cNvPr id="143" name="Google Shape;143;g2215b0c830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" name="Google Shape;144;g2215b0c830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947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058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5D55281-16FA-8D8A-A58A-D57FFDE7073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BEEC96-8F7F-4774-9E6D-AFB293788583}" type="slidenum">
              <a:rPr lang="en-US" altLang="en-US" smtClean="0">
                <a:latin typeface="Calibri" panose="020F0502020204030204" pitchFamily="34" charset="0"/>
                <a:cs typeface="Droid Sans Fallback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>
              <a:latin typeface="Calibri" panose="020F0502020204030204" pitchFamily="34" charset="0"/>
              <a:cs typeface="Droid Sans Fallback" charset="0"/>
            </a:endParaRPr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FE3BEF7B-E9F5-FBF3-2C48-6D500FB840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A9B1DD13-663B-8ED5-F408-EF1D92C0D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0"/>
            <a:ext cx="5849937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body" idx="1"/>
          </p:nvPr>
        </p:nvSpPr>
        <p:spPr>
          <a:xfrm rot="5400000">
            <a:off x="542131" y="189706"/>
            <a:ext cx="5849937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8012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4375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8012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8012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70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4646613" y="1600200"/>
            <a:ext cx="40386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8012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8012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>
            <a:extLst>
              <a:ext uri="{FF2B5EF4-FFF2-40B4-BE49-F238E27FC236}">
                <a16:creationId xmlns:a16="http://schemas.microsoft.com/office/drawing/2014/main" id="{E02E9447-45A7-AF63-9E0C-E0F39ABBD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53000"/>
            <a:ext cx="91440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ts val="500"/>
              </a:spcBef>
              <a:buClrTx/>
              <a:buFontTx/>
              <a:buNone/>
            </a:pPr>
            <a:endParaRPr lang="en-US" altLang="en-US" sz="2000" b="1" dirty="0">
              <a:solidFill>
                <a:srgbClr val="681417"/>
              </a:solidFill>
              <a:latin typeface="Book Antiqua" panose="02040602050305030304" pitchFamily="18" charset="0"/>
            </a:endParaRPr>
          </a:p>
          <a:p>
            <a:pPr algn="r" eaLnBrk="1" hangingPunct="1">
              <a:spcBef>
                <a:spcPts val="500"/>
              </a:spcBef>
              <a:buClrTx/>
              <a:buFontTx/>
              <a:buNone/>
            </a:pPr>
            <a:endParaRPr lang="en-US" altLang="en-US" sz="2000" b="1" dirty="0">
              <a:solidFill>
                <a:srgbClr val="681417"/>
              </a:solidFill>
              <a:latin typeface="Book Antiqua" panose="02040602050305030304" pitchFamily="18" charset="0"/>
            </a:endParaRPr>
          </a:p>
          <a:p>
            <a:pPr algn="r" eaLnBrk="1" hangingPunct="1">
              <a:spcBef>
                <a:spcPts val="500"/>
              </a:spcBef>
              <a:buClrTx/>
              <a:buFontTx/>
              <a:buNone/>
            </a:pPr>
            <a:r>
              <a:rPr lang="en-US" altLang="en-US" sz="2000" b="1" dirty="0">
                <a:solidFill>
                  <a:srgbClr val="681417"/>
                </a:solidFill>
                <a:latin typeface="Book Antiqua" panose="02040602050305030304" pitchFamily="18" charset="0"/>
              </a:rPr>
              <a:t>Presented by</a:t>
            </a:r>
          </a:p>
          <a:p>
            <a:pPr algn="r" eaLnBrk="1" hangingPunct="1">
              <a:spcBef>
                <a:spcPts val="500"/>
              </a:spcBef>
              <a:buClrTx/>
              <a:buFontTx/>
              <a:buNone/>
            </a:pPr>
            <a:r>
              <a:rPr lang="en-US" altLang="en-US" sz="2000" b="1" dirty="0">
                <a:solidFill>
                  <a:srgbClr val="681417"/>
                </a:solidFill>
                <a:latin typeface="Book Antiqua" panose="02040602050305030304" pitchFamily="18" charset="0"/>
              </a:rPr>
              <a:t>Gayathri C</a:t>
            </a:r>
          </a:p>
        </p:txBody>
      </p:sp>
      <p:sp>
        <p:nvSpPr>
          <p:cNvPr id="3075" name="Text Box 2">
            <a:extLst>
              <a:ext uri="{FF2B5EF4-FFF2-40B4-BE49-F238E27FC236}">
                <a16:creationId xmlns:a16="http://schemas.microsoft.com/office/drawing/2014/main" id="{F550EE54-693B-7053-A891-0E7632F20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3200"/>
            <a:ext cx="9144000" cy="34131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600" b="1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600">
              <a:solidFill>
                <a:schemeClr val="bg1"/>
              </a:solidFill>
            </a:endParaRPr>
          </a:p>
        </p:txBody>
      </p:sp>
      <p:sp>
        <p:nvSpPr>
          <p:cNvPr id="3076" name="Text Box 3">
            <a:extLst>
              <a:ext uri="{FF2B5EF4-FFF2-40B4-BE49-F238E27FC236}">
                <a16:creationId xmlns:a16="http://schemas.microsoft.com/office/drawing/2014/main" id="{0DFB86EF-AB9E-8EB8-5AFD-D6CC334FB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67150"/>
            <a:ext cx="9144000" cy="39846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1" dirty="0">
                <a:solidFill>
                  <a:srgbClr val="681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Gayathri C, </a:t>
            </a:r>
            <a:r>
              <a:rPr lang="en-US" altLang="en-US" sz="2000" b="1" dirty="0" err="1">
                <a:solidFill>
                  <a:srgbClr val="681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Manimegalai</a:t>
            </a:r>
            <a:r>
              <a:rPr lang="en-US" altLang="en-US" sz="2000" b="1" dirty="0">
                <a:solidFill>
                  <a:srgbClr val="681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R,  Noor Mahammad SK</a:t>
            </a:r>
          </a:p>
        </p:txBody>
      </p:sp>
      <p:sp>
        <p:nvSpPr>
          <p:cNvPr id="3077" name="AutoShape 4">
            <a:extLst>
              <a:ext uri="{FF2B5EF4-FFF2-40B4-BE49-F238E27FC236}">
                <a16:creationId xmlns:a16="http://schemas.microsoft.com/office/drawing/2014/main" id="{E754A050-EA2B-4630-EC56-AF2DA4726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05000"/>
            <a:ext cx="8001000" cy="1752600"/>
          </a:xfrm>
          <a:prstGeom prst="roundRect">
            <a:avLst>
              <a:gd name="adj" fmla="val 16667"/>
            </a:avLst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3078" name="Text Box 5">
            <a:extLst>
              <a:ext uri="{FF2B5EF4-FFF2-40B4-BE49-F238E27FC236}">
                <a16:creationId xmlns:a16="http://schemas.microsoft.com/office/drawing/2014/main" id="{91C10884-32FE-09C4-CC1F-92B2DC75C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035174"/>
            <a:ext cx="7772400" cy="149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35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500" b="1" dirty="0">
                <a:solidFill>
                  <a:srgbClr val="FFFFFF"/>
                </a:solidFill>
                <a:latin typeface="Arial" panose="020B0604020202020204" pitchFamily="34" charset="0"/>
              </a:rPr>
              <a:t>Parallelization of Karger’s Algorithm using OpenMP, MPI and CUDA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38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79" name="Text Box 8">
            <a:extLst>
              <a:ext uri="{FF2B5EF4-FFF2-40B4-BE49-F238E27FC236}">
                <a16:creationId xmlns:a16="http://schemas.microsoft.com/office/drawing/2014/main" id="{2F0D1CCE-4A01-0255-FD44-812F0FE04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67200"/>
            <a:ext cx="9144000" cy="398463"/>
          </a:xfrm>
          <a:prstGeom prst="rect">
            <a:avLst/>
          </a:prstGeom>
          <a:solidFill>
            <a:srgbClr val="FDCF5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1" dirty="0">
                <a:solidFill>
                  <a:srgbClr val="6814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 - 106</a:t>
            </a:r>
          </a:p>
        </p:txBody>
      </p:sp>
      <p:pic>
        <p:nvPicPr>
          <p:cNvPr id="3080" name="Picture 1">
            <a:extLst>
              <a:ext uri="{FF2B5EF4-FFF2-40B4-BE49-F238E27FC236}">
                <a16:creationId xmlns:a16="http://schemas.microsoft.com/office/drawing/2014/main" id="{F38D9900-0713-10F1-3B70-0A4D9A56A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8913"/>
            <a:ext cx="8985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11" descr="Springer - Publish Open Access for free or with a discount - LibGuides at  Radboud University">
            <a:extLst>
              <a:ext uri="{FF2B5EF4-FFF2-40B4-BE49-F238E27FC236}">
                <a16:creationId xmlns:a16="http://schemas.microsoft.com/office/drawing/2014/main" id="{5E9CE2C9-CD6B-3C90-CEB3-0522E7963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155575"/>
            <a:ext cx="10795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64C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rgbClr val="040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97" name="Google Shape;97;p2"/>
          <p:cNvSpPr txBox="1"/>
          <p:nvPr/>
        </p:nvSpPr>
        <p:spPr>
          <a:xfrm>
            <a:off x="231400" y="1655775"/>
            <a:ext cx="8810700" cy="348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Graphs 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are used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visualize and study relationships and organizational systems e.g. a social network graph where vertex =&gt; person and edges=&gt;friendship</a:t>
            </a:r>
          </a:p>
          <a:p>
            <a:pPr marL="1016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raph algorithms are effective tools for extracting knowledge from graphs</a:t>
            </a: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55600">
              <a:buSzPts val="2000"/>
              <a:buFont typeface="Times New Roman"/>
              <a:buChar char="●"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raph algorithms can become computationally costly when it is used to represent real world application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Parallelization decreases execution time, and increases speedup</a:t>
            </a:r>
          </a:p>
          <a:p>
            <a:pPr marL="1016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Parallelization is done using OpenMP, MPI and CUDA</a:t>
            </a:r>
            <a:endParaRPr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1F7367F-8187-D9BE-F15A-F3F04918B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64C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rgbClr val="040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231400" y="1655775"/>
            <a:ext cx="8810700" cy="194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Karger's method determines the minimum cut in an unweighted, undirected graph</a:t>
            </a:r>
          </a:p>
          <a:p>
            <a:pPr marL="1016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 minimum </a:t>
            </a:r>
            <a:r>
              <a:rPr lang="en-GB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no.of</a:t>
            </a: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edges required to remove to disconnect the graph into two components is called minimum cut.</a:t>
            </a:r>
            <a:endParaRPr lang="en-US" sz="2000" dirty="0"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3F2007F-39CD-AFBE-DAAD-F046AF74D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24F2F-22EF-22FC-9624-F5CD369869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154"/>
          <a:stretch/>
        </p:blipFill>
        <p:spPr>
          <a:xfrm>
            <a:off x="2593894" y="3200035"/>
            <a:ext cx="3880724" cy="280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4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800600" y="0"/>
            <a:ext cx="4343400" cy="1123445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0" y="0"/>
            <a:ext cx="4795837" cy="1123445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795837" y="-101059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64C"/>
              </a:buClr>
              <a:buSzPts val="1600"/>
              <a:buFont typeface="Times New Roman"/>
              <a:buNone/>
            </a:pPr>
            <a:r>
              <a:rPr lang="en-US" sz="1600" b="1" i="0" u="none" dirty="0">
                <a:solidFill>
                  <a:srgbClr val="040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0" y="544512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</p:txBody>
      </p:sp>
      <p:sp>
        <p:nvSpPr>
          <p:cNvPr id="108" name="Google Shape;108;p3"/>
          <p:cNvSpPr txBox="1"/>
          <p:nvPr/>
        </p:nvSpPr>
        <p:spPr>
          <a:xfrm>
            <a:off x="611850" y="1981200"/>
            <a:ext cx="8278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9" name="Google Shape;109;p3"/>
          <p:cNvGraphicFramePr/>
          <p:nvPr>
            <p:extLst>
              <p:ext uri="{D42A27DB-BD31-4B8C-83A1-F6EECF244321}">
                <p14:modId xmlns:p14="http://schemas.microsoft.com/office/powerpoint/2010/main" val="3696030458"/>
              </p:ext>
            </p:extLst>
          </p:nvPr>
        </p:nvGraphicFramePr>
        <p:xfrm>
          <a:off x="112542" y="1224503"/>
          <a:ext cx="8904849" cy="5479102"/>
        </p:xfrm>
        <a:graphic>
          <a:graphicData uri="http://schemas.openxmlformats.org/drawingml/2006/table">
            <a:tbl>
              <a:tblPr>
                <a:noFill/>
                <a:tableStyleId>{0EA6635E-7958-4E36-8F54-3D9AB6948D96}</a:tableStyleId>
              </a:tblPr>
              <a:tblGrid>
                <a:gridCol w="87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9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02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Pise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Chetan D. and Shailendra W. Shende. “Parallelization of BFS Graph Algorithm using CUDA.” In International Journal of Computing and Technology, Volume 1, Issue 3, pp:38-43, 2014.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Breadth-First Search (BFS) </a:t>
                      </a:r>
                      <a:r>
                        <a:rPr lang="en-IN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is a fundamental primitive for graph traversal.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Demonstrates the application of CUDA in BFS.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Speed-up factor(CPU/GPU) is 14.11x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02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Wang, Wei,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Yongzhong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Huang, and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Shaozhong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Guo. "Design and Implementation of GPU-based Prim's Algorithm.", In International Journal of Modern Education and Computer Science 3.4, pp:55-62, 2011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Prim's algorithm is a minimum spanning tree algorithm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GB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Prim’s algorithm is implemented in CUDA.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GB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Obtains a limited speedup of 2.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068406602"/>
                  </a:ext>
                </a:extLst>
              </a:tr>
            </a:tbl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80FA6CDD-75C5-20F9-DF5C-AC3E4B1F6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800600" y="0"/>
            <a:ext cx="4343400" cy="1123445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0" y="0"/>
            <a:ext cx="4795837" cy="1123445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795837" y="-101059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64C"/>
              </a:buClr>
              <a:buSzPts val="1600"/>
              <a:buFont typeface="Times New Roman"/>
              <a:buNone/>
            </a:pPr>
            <a:r>
              <a:rPr lang="en-US" sz="1600" b="1" i="0" u="none" dirty="0">
                <a:solidFill>
                  <a:srgbClr val="040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0" y="544512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</p:txBody>
      </p:sp>
      <p:sp>
        <p:nvSpPr>
          <p:cNvPr id="108" name="Google Shape;108;p3"/>
          <p:cNvSpPr txBox="1"/>
          <p:nvPr/>
        </p:nvSpPr>
        <p:spPr>
          <a:xfrm>
            <a:off x="611850" y="1981200"/>
            <a:ext cx="8278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9" name="Google Shape;109;p3"/>
          <p:cNvGraphicFramePr/>
          <p:nvPr>
            <p:extLst>
              <p:ext uri="{D42A27DB-BD31-4B8C-83A1-F6EECF244321}">
                <p14:modId xmlns:p14="http://schemas.microsoft.com/office/powerpoint/2010/main" val="826758430"/>
              </p:ext>
            </p:extLst>
          </p:nvPr>
        </p:nvGraphicFramePr>
        <p:xfrm>
          <a:off x="112542" y="1224503"/>
          <a:ext cx="8954085" cy="5549981"/>
        </p:xfrm>
        <a:graphic>
          <a:graphicData uri="http://schemas.openxmlformats.org/drawingml/2006/table">
            <a:tbl>
              <a:tblPr>
                <a:noFill/>
                <a:tableStyleId>{0EA6635E-7958-4E36-8F54-3D9AB6948D96}</a:tableStyleId>
              </a:tblPr>
              <a:tblGrid>
                <a:gridCol w="88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Fagginger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Auer, B.O., </a:t>
                      </a:r>
                      <a:r>
                        <a:rPr lang="en-US" sz="1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Bisseling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R.H. "A GPU Algorithm for Greedy Graph Matching". In Edited Book: Keller, R., Kramer, D., Weiss, JP. (eds) Facing the Multicore - Challenge II. Lecture Notes in Computer Science, vol 7174. Springer, pp:108-119, 2012.</a:t>
                      </a:r>
                      <a:endParaRPr lang="en-IN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 fine-grained shared-memory parallel algorithm for maximal greedy matching is introduced, together with an implementation on the GPU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speedups </a:t>
                      </a:r>
                      <a:r>
                        <a:rPr lang="en-GB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upto</a:t>
                      </a:r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 factor of 6.8 pertaining to random matching and 5.6  pertaining to weighted matching</a:t>
                      </a:r>
                      <a:endParaRPr lang="en-IN" sz="19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824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Wassenberg, Jan, Wolfgang </a:t>
                      </a:r>
                      <a:r>
                        <a:rPr lang="en-US" sz="1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Middelmann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and Peter Sanders. "An Efficient Parallel Algorithm for Graph-based Image Segmentation." In IEEE International Conference on Computer Analysis of Images and Patterns, Springer, pp:1003–1010, 2009.</a:t>
                      </a:r>
                      <a:endParaRPr lang="en-IN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Minimum Spanning Tree-based algorithm for image segmentation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 fast parallel implementation for shared-memory machines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The parallel speedup varies between 2 and 3.2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GB" sz="19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9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068406602"/>
                  </a:ext>
                </a:extLst>
              </a:tr>
            </a:tbl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80FA6CDD-75C5-20F9-DF5C-AC3E4B1F6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54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800600" y="0"/>
            <a:ext cx="4343400" cy="1123445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0" y="0"/>
            <a:ext cx="4795837" cy="1123445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795837" y="-101059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64C"/>
              </a:buClr>
              <a:buSzPts val="1600"/>
              <a:buFont typeface="Times New Roman"/>
              <a:buNone/>
            </a:pPr>
            <a:r>
              <a:rPr lang="en-US" sz="1600" b="1" i="0" u="none" dirty="0">
                <a:solidFill>
                  <a:srgbClr val="0406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0" y="544512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</p:txBody>
      </p:sp>
      <p:sp>
        <p:nvSpPr>
          <p:cNvPr id="108" name="Google Shape;108;p3"/>
          <p:cNvSpPr txBox="1"/>
          <p:nvPr/>
        </p:nvSpPr>
        <p:spPr>
          <a:xfrm>
            <a:off x="611850" y="1981200"/>
            <a:ext cx="8278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9" name="Google Shape;109;p3"/>
          <p:cNvGraphicFramePr/>
          <p:nvPr>
            <p:extLst>
              <p:ext uri="{D42A27DB-BD31-4B8C-83A1-F6EECF244321}">
                <p14:modId xmlns:p14="http://schemas.microsoft.com/office/powerpoint/2010/main" val="3177454447"/>
              </p:ext>
            </p:extLst>
          </p:nvPr>
        </p:nvGraphicFramePr>
        <p:xfrm>
          <a:off x="253950" y="1559542"/>
          <a:ext cx="8636100" cy="3261300"/>
        </p:xfrm>
        <a:graphic>
          <a:graphicData uri="http://schemas.openxmlformats.org/drawingml/2006/table">
            <a:tbl>
              <a:tblPr>
                <a:noFill/>
                <a:tableStyleId>{0EA6635E-7958-4E36-8F54-3D9AB6948D96}</a:tableStyleId>
              </a:tblPr>
              <a:tblGrid>
                <a:gridCol w="849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2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8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4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Ameen, A. T., Fouad, A. M., Matta, E. M., </a:t>
                      </a:r>
                      <a:r>
                        <a:rPr lang="en-US" sz="19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Elkhishen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R. A., </a:t>
                      </a:r>
                      <a:r>
                        <a:rPr lang="en-US" sz="19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Alalem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S. A., </a:t>
                      </a:r>
                      <a:r>
                        <a:rPr lang="en-US" sz="19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Safan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A. M., &amp; Halim, I. T. A.  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"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Comparison of Parallel and Serial Execution of Shortest Path Algorithms</a:t>
                      </a:r>
                      <a:r>
                        <a:rPr lang="en-US" sz="1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" 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 IEEE</a:t>
                      </a:r>
                      <a:r>
                        <a:rPr lang="en-US" sz="19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International Conference on Computational Intelligence and Knowledge Economy pp: 232-237, 2023.</a:t>
                      </a:r>
                      <a:endParaRPr lang="en-IN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Dijkstra, Bellman-Ford, and Floyd </a:t>
                      </a:r>
                      <a:r>
                        <a:rPr lang="en-GB" sz="2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Warshall</a:t>
                      </a: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- are both implemented as serial and parallel programs 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To achieve parallelization, the OpenMP framework is employed.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Parallel implementation outperforms serial implementation in all three algorithms.</a:t>
                      </a:r>
                      <a:endParaRPr lang="en-IN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80FA6CDD-75C5-20F9-DF5C-AC3E4B1F6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8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211016" y="1692274"/>
            <a:ext cx="5106571" cy="4403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1)Profiling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Profiling is a technique that is used to identify the hotspots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Profiling is employed to have an in-depth understanding of the algorithm and to find opportunities for parallelizing the algorithm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endParaRPr lang="en-US" sz="2000" dirty="0"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 various tools are available for profiling, in this work </a:t>
            </a:r>
            <a:r>
              <a:rPr lang="en-US" sz="2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gprof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the GNU Compiler Collection (GCC) is used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8529D66-FD42-7C5C-97D8-5EEDCAE1F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E009D-E738-6003-F916-349D9C4E30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85" y="1725814"/>
            <a:ext cx="2995829" cy="4520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086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480800" y="1684125"/>
            <a:ext cx="8428500" cy="286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2)OpenMP(Open Multi-Processing)  implementation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ach iteration of the loop is run concurrently through multiple threads in parallel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All threads share same memory space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en-US" sz="2000" dirty="0"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Synchronization of various threads is taken care of by OpenMP</a:t>
            </a: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464C6-31A6-D2BE-0050-4D23EBFCC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263" y="4204794"/>
            <a:ext cx="5159473" cy="2282308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6CABE4CB-F621-EE76-EC74-D3441A092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31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480800" y="1684125"/>
            <a:ext cx="8428500" cy="22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3)MPI(Message Passing Interface) implementation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 identified hotspot code regions are distributed among various processes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 process has its memory to enable parallelism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en-US" sz="2000" dirty="0"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is explicitly shared by passing messages between processes</a:t>
            </a:r>
            <a:endParaRPr lang="en-GB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46" name="Picture 2" descr="Message Passing Interface :: High Performance Computing">
            <a:extLst>
              <a:ext uri="{FF2B5EF4-FFF2-40B4-BE49-F238E27FC236}">
                <a16:creationId xmlns:a16="http://schemas.microsoft.com/office/drawing/2014/main" id="{CD06FE2B-36FF-9B9D-F2AC-956BDF06C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67"/>
          <a:stretch/>
        </p:blipFill>
        <p:spPr bwMode="auto">
          <a:xfrm>
            <a:off x="1352550" y="4357949"/>
            <a:ext cx="6438900" cy="205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8680BFA6-88C4-49A7-2A6E-E2D316924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350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0" y="1684125"/>
            <a:ext cx="6077243" cy="532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4)CUDA(Compute Unified Device Architecture) implementation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CUDA allows developers to harness the computational power of GPUs for parallel processing tasks</a:t>
            </a: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CUDA terminology, the CPU is referred to as the host, and the GPU is referred to as the device </a:t>
            </a: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GB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host manages the overall computation, while the device (GPU) performs parallel processing tasks</a:t>
            </a: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Here, 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kernel is defined in which each thread is responsible for checking a single edge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en-US" sz="2000" dirty="0"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70" name="Picture 2" descr="CUDA Refresher: The CUDA Programming Model | NVIDIA Technical Blog">
            <a:extLst>
              <a:ext uri="{FF2B5EF4-FFF2-40B4-BE49-F238E27FC236}">
                <a16:creationId xmlns:a16="http://schemas.microsoft.com/office/drawing/2014/main" id="{969E6A26-BFCD-CEFF-8129-7716D48289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2" r="44565"/>
          <a:stretch/>
        </p:blipFill>
        <p:spPr bwMode="auto">
          <a:xfrm>
            <a:off x="6077243" y="2121721"/>
            <a:ext cx="2959155" cy="388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EE1265F7-31BB-7FAC-F0DA-2AF753652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351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15b0c8308_0_3"/>
          <p:cNvSpPr txBox="1"/>
          <p:nvPr/>
        </p:nvSpPr>
        <p:spPr>
          <a:xfrm>
            <a:off x="4800600" y="0"/>
            <a:ext cx="4343400" cy="1167618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2215b0c8308_0_3"/>
          <p:cNvSpPr txBox="1"/>
          <p:nvPr/>
        </p:nvSpPr>
        <p:spPr>
          <a:xfrm>
            <a:off x="0" y="0"/>
            <a:ext cx="4795800" cy="1167618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215b0c8308_0_3"/>
          <p:cNvSpPr txBox="1"/>
          <p:nvPr/>
        </p:nvSpPr>
        <p:spPr>
          <a:xfrm>
            <a:off x="4800600" y="-79191"/>
            <a:ext cx="33576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dirty="0"/>
          </a:p>
        </p:txBody>
      </p:sp>
      <p:sp>
        <p:nvSpPr>
          <p:cNvPr id="150" name="Google Shape;150;g2215b0c8308_0_3"/>
          <p:cNvSpPr txBox="1"/>
          <p:nvPr/>
        </p:nvSpPr>
        <p:spPr>
          <a:xfrm>
            <a:off x="-4800" y="460937"/>
            <a:ext cx="4795800" cy="63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500" b="1" i="0" u="none" dirty="0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 </a:t>
            </a:r>
            <a:endParaRPr sz="3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0B88EC-40E2-2199-DC87-7ECC69575C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2" y="1387392"/>
            <a:ext cx="3539844" cy="24283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3CD6EF-8F03-03F2-351C-4AFAE0AA7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31" y="1326000"/>
            <a:ext cx="3329829" cy="242838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9294F0-7BC1-B134-DFF3-7FDC302965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00" y="3998948"/>
            <a:ext cx="3140784" cy="23858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EE6E9664-252D-AA6D-E702-E184C3E4C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637EE-1B66-89F4-C791-305ABED8016C}"/>
              </a:ext>
            </a:extLst>
          </p:cNvPr>
          <p:cNvSpPr txBox="1"/>
          <p:nvPr/>
        </p:nvSpPr>
        <p:spPr>
          <a:xfrm>
            <a:off x="1620898" y="1474666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i="1" dirty="0">
                <a:solidFill>
                  <a:srgbClr val="5F5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endParaRPr lang="en-IN" sz="2000" b="1" i="1" dirty="0">
              <a:solidFill>
                <a:srgbClr val="5F5F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02AD7-A5DC-8849-A7E9-63C3941FCBC1}"/>
              </a:ext>
            </a:extLst>
          </p:cNvPr>
          <p:cNvSpPr txBox="1"/>
          <p:nvPr/>
        </p:nvSpPr>
        <p:spPr>
          <a:xfrm>
            <a:off x="4572000" y="4136220"/>
            <a:ext cx="899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5F5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5AFBF-091B-398A-6293-116182D62830}"/>
              </a:ext>
            </a:extLst>
          </p:cNvPr>
          <p:cNvSpPr txBox="1"/>
          <p:nvPr/>
        </p:nvSpPr>
        <p:spPr>
          <a:xfrm>
            <a:off x="6637913" y="1387392"/>
            <a:ext cx="6687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i="1" dirty="0">
                <a:solidFill>
                  <a:srgbClr val="5F5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MPI</a:t>
            </a:r>
            <a:endParaRPr lang="en-IN" sz="2000" b="1" i="1" dirty="0">
              <a:solidFill>
                <a:srgbClr val="5F5F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80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/>
        </p:nvSpPr>
        <p:spPr>
          <a:xfrm>
            <a:off x="0" y="6557962"/>
            <a:ext cx="9144000" cy="309562"/>
          </a:xfrm>
          <a:prstGeom prst="rect">
            <a:avLst/>
          </a:prstGeom>
          <a:solidFill>
            <a:srgbClr val="04064C"/>
          </a:solidFill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IEEE - International Conference on Vision Towards Emerging Trends in Communication and Networking (ViTECoN’23)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dirty="0"/>
          </a:p>
        </p:txBody>
      </p:sp>
      <p:sp>
        <p:nvSpPr>
          <p:cNvPr id="176" name="Google Shape;176;p7"/>
          <p:cNvSpPr txBox="1"/>
          <p:nvPr/>
        </p:nvSpPr>
        <p:spPr>
          <a:xfrm>
            <a:off x="516925" y="1776300"/>
            <a:ext cx="4343400" cy="378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 parallel implementation of Karger’s algorithm runs faster than the traditional sequential implementation</a:t>
            </a:r>
            <a:endParaRPr lang="en-GB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lang="en-GB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CUDA and OpenMP show better results than sequential implementation.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MPI proves to be the best among the three parallel implementations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endParaRPr lang="en-GB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1F192-8F0B-5FC2-8A74-D35E1F6F0A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325" y="2416902"/>
            <a:ext cx="4124325" cy="2634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34E78AD3-DE3C-FD20-B17F-6C21BA786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154745" y="1735575"/>
            <a:ext cx="8899130" cy="548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Pise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Chetan D. and Shailendra W. Shende. “Parallelization of BFS Graph Algorithm using CUDA.” In International Journal of Computing and Technology, Volume 1, Issue 3, pp:38-43, 2014.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Wang, Wei,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Yongzhong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Huang, and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Shaozhong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Guo. "Design and Implementation of GPU-based Prim's Algorithm.", In International Journal of Modern Education and Computer Science 3.4, pp:55-62, 2011.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Fagginger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Auer, B.O.,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Bisseling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R.H. "A GPU Algorithm for Greedy Graph Matching". In Edited Book: Keller, R., Kramer, D., Weiss, JP. (eds) Facing the Multicore - Challenge II. Lecture Notes in Computer Science, vol 7174. Springer, pp:108-119, 2012.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329A800-F475-6F26-5311-6C5CEBC0D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0" y="892175"/>
            <a:ext cx="47958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E23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9D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166800" y="1667345"/>
            <a:ext cx="8810400" cy="3164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Wassenberg, Jan, Wolfgang </a:t>
            </a:r>
            <a:r>
              <a:rPr lang="en-US" sz="19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Middelmann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Peter Sanders. "An Efficient Parallel Algorithm for Graph-based Image Segmentation." In IEEE International Conference on Computer Analysis of Images and Patterns, Springer, pp:1003–1010, 2009.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Ameen, A. T., Fouad, A. M., Matta, E. M.,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Elkhishen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R. A.,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Alalem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 A.,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Safan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M., &amp; Halim, I. T. A.  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Parallel and Serial Execution of Shortest Path Algorithms</a:t>
            </a:r>
            <a:r>
              <a:rPr lang="en-US" sz="19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 IEEE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Conference on Computational Intelligence and Knowledge Economy pp: 232-237, 2023.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4795837" y="122237"/>
            <a:ext cx="3357562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02682BE-F9B8-FFBB-8EF4-DAB704EDF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63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B9D775EF-D31E-B9B6-9C19-1D47BF04E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0"/>
            <a:ext cx="4343400" cy="1570038"/>
          </a:xfrm>
          <a:prstGeom prst="rect">
            <a:avLst/>
          </a:prstGeom>
          <a:solidFill>
            <a:srgbClr val="FDCF51"/>
          </a:solidFill>
          <a:ln w="25560" cap="sq">
            <a:solidFill>
              <a:srgbClr val="FDCF5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951A654C-0D15-04FA-1D76-186AD8E17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795838" cy="1570038"/>
          </a:xfrm>
          <a:prstGeom prst="rect">
            <a:avLst/>
          </a:prstGeom>
          <a:solidFill>
            <a:srgbClr val="FCBB06"/>
          </a:solidFill>
          <a:ln w="25560" cap="sq">
            <a:solidFill>
              <a:srgbClr val="FCBB0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1EA3836C-CFAC-E5AA-2939-E24E7B40D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00388"/>
            <a:ext cx="9144000" cy="86201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27DEC659-AB9A-FC73-062E-4905685CC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3036888"/>
            <a:ext cx="4464050" cy="92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51E7D093-C11D-C550-A2B7-3803ADC97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3200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4800600" y="0"/>
            <a:ext cx="4343400" cy="1570037"/>
          </a:xfrm>
          <a:prstGeom prst="rect">
            <a:avLst/>
          </a:prstGeom>
          <a:solidFill>
            <a:srgbClr val="FDCF51"/>
          </a:solidFill>
          <a:ln w="25550" cap="sq" cmpd="sng">
            <a:solidFill>
              <a:srgbClr val="FDCF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0" y="0"/>
            <a:ext cx="4795837" cy="1570037"/>
          </a:xfrm>
          <a:prstGeom prst="rect">
            <a:avLst/>
          </a:prstGeom>
          <a:solidFill>
            <a:srgbClr val="FCBB06"/>
          </a:solidFill>
          <a:ln w="25550" cap="sq" cmpd="sng">
            <a:solidFill>
              <a:srgbClr val="FCBB0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0" y="3100387"/>
            <a:ext cx="9144000" cy="8620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1365900" y="2676563"/>
            <a:ext cx="6412200" cy="16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Times New Roman"/>
              <a:buNone/>
            </a:pPr>
            <a:r>
              <a:rPr lang="en-US" sz="10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2895600" y="123825"/>
            <a:ext cx="43434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Times New Roman"/>
              <a:buNone/>
            </a:pPr>
            <a:endParaRPr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E5A01B9-015B-DAB1-4CCD-4FE634B65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0025"/>
            <a:ext cx="9144000" cy="309563"/>
          </a:xfrm>
          <a:prstGeom prst="rect">
            <a:avLst/>
          </a:prstGeom>
          <a:solidFill>
            <a:srgbClr val="0406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roid Sans Fallback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1400" b="1" dirty="0">
                <a:solidFill>
                  <a:schemeClr val="bg1"/>
                </a:solidFill>
              </a:rPr>
              <a:t>International Conference on Communication Systems (ICOCS-2023)</a:t>
            </a:r>
            <a:endParaRPr lang="en-I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1359</Words>
  <Application>Microsoft Office PowerPoint</Application>
  <PresentationFormat>On-screen Show (4:3)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Book Antiqua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Sambit</dc:creator>
  <cp:lastModifiedBy>Chandrasekaran Subramanian</cp:lastModifiedBy>
  <cp:revision>19</cp:revision>
  <dcterms:created xsi:type="dcterms:W3CDTF">2013-05-08T19:42:37Z</dcterms:created>
  <dcterms:modified xsi:type="dcterms:W3CDTF">2023-12-21T07:02:27Z</dcterms:modified>
</cp:coreProperties>
</file>