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6858000" cx="9144000"/>
  <p:notesSz cx="6858000" cy="9144000"/>
  <p:embeddedFontLst>
    <p:embeddedFont>
      <p:font typeface="Roboto"/>
      <p:regular r:id="rId33"/>
      <p:bold r:id="rId34"/>
      <p:italic r:id="rId35"/>
      <p:boldItalic r:id="rId36"/>
    </p:embeddedFont>
    <p:embeddedFont>
      <p:font typeface="Helvetica Neue"/>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R6w3ccD4WaXGzH6ZufdCrh2ud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98EFC7-C399-4236-AE6F-AC9708782AE3}">
  <a:tblStyle styleId="{6198EFC7-C399-4236-AE6F-AC9708782AE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Italic.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italic.fntdata"/><Relationship Id="rId12" Type="http://schemas.openxmlformats.org/officeDocument/2006/relationships/slide" Target="slides/slide5.xml"/><Relationship Id="rId34" Type="http://schemas.openxmlformats.org/officeDocument/2006/relationships/font" Target="fonts/Roboto-bold.fntdata"/><Relationship Id="rId15" Type="http://schemas.openxmlformats.org/officeDocument/2006/relationships/slide" Target="slides/slide8.xml"/><Relationship Id="rId37" Type="http://schemas.openxmlformats.org/officeDocument/2006/relationships/font" Target="fonts/HelveticaNeue-regular.fnt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39" Type="http://schemas.openxmlformats.org/officeDocument/2006/relationships/font" Target="fonts/HelveticaNeue-italic.fntdata"/><Relationship Id="rId16" Type="http://schemas.openxmlformats.org/officeDocument/2006/relationships/slide" Target="slides/slide9.xml"/><Relationship Id="rId38" Type="http://schemas.openxmlformats.org/officeDocument/2006/relationships/font" Target="fonts/HelveticaNeue-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 name="Google Shape;3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 name="Google Shape;5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 name="Google Shape;76;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5c1d201b2_0_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35c1d201b2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g335c1d201b2_0_3: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5bed0db97_0_1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35bed0db97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335bed0db97_0_122: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5c1d201b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35c1d201b2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35c1d201b2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335c1d201b2_1_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35c1d201b2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35c1d201b2_1_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35c1d201b2_1_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35c1d201b2_1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335c1d201b2_1_53: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40a28991f0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40a28991f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40a28991f0_0_0: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52"/>
          <p:cNvSpPr txBox="1"/>
          <p:nvPr>
            <p:ph type="title"/>
          </p:nvPr>
        </p:nvSpPr>
        <p:spPr>
          <a:xfrm>
            <a:off x="0" y="0"/>
            <a:ext cx="9144000" cy="60967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3200">
                <a:solidFill>
                  <a:srgbClr val="006600"/>
                </a:solidFill>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52"/>
          <p:cNvSpPr txBox="1"/>
          <p:nvPr>
            <p:ph idx="1" type="body"/>
          </p:nvPr>
        </p:nvSpPr>
        <p:spPr>
          <a:xfrm>
            <a:off x="0" y="609674"/>
            <a:ext cx="9144000" cy="571492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FF"/>
              </a:buClr>
              <a:buSzPts val="2400"/>
              <a:buChar char="•"/>
              <a:defRPr sz="2400">
                <a:solidFill>
                  <a:srgbClr val="0000FF"/>
                </a:solidFill>
                <a:latin typeface="Times New Roman"/>
                <a:ea typeface="Times New Roman"/>
                <a:cs typeface="Times New Roman"/>
                <a:sym typeface="Times New Roman"/>
              </a:defRPr>
            </a:lvl1pPr>
            <a:lvl2pPr indent="-355600" lvl="1" marL="914400" algn="l">
              <a:lnSpc>
                <a:spcPct val="100000"/>
              </a:lnSpc>
              <a:spcBef>
                <a:spcPts val="400"/>
              </a:spcBef>
              <a:spcAft>
                <a:spcPts val="0"/>
              </a:spcAft>
              <a:buClr>
                <a:srgbClr val="9900CC"/>
              </a:buClr>
              <a:buSzPts val="2000"/>
              <a:buChar char="–"/>
              <a:defRPr sz="2000">
                <a:solidFill>
                  <a:srgbClr val="9900CC"/>
                </a:solidFill>
                <a:latin typeface="Times New Roman"/>
                <a:ea typeface="Times New Roman"/>
                <a:cs typeface="Times New Roman"/>
                <a:sym typeface="Times New Roman"/>
              </a:defRPr>
            </a:lvl2pPr>
            <a:lvl3pPr indent="-342900" lvl="2" marL="1371600" algn="l">
              <a:lnSpc>
                <a:spcPct val="100000"/>
              </a:lnSpc>
              <a:spcBef>
                <a:spcPts val="360"/>
              </a:spcBef>
              <a:spcAft>
                <a:spcPts val="0"/>
              </a:spcAft>
              <a:buClr>
                <a:schemeClr val="dk1"/>
              </a:buClr>
              <a:buSzPts val="1800"/>
              <a:buChar char="•"/>
              <a:defRPr sz="1800">
                <a:latin typeface="Times New Roman"/>
                <a:ea typeface="Times New Roman"/>
                <a:cs typeface="Times New Roman"/>
                <a:sym typeface="Times New Roman"/>
              </a:defRPr>
            </a:lvl3pPr>
            <a:lvl4pPr indent="-342900" lvl="3" marL="1828800" algn="l">
              <a:lnSpc>
                <a:spcPct val="100000"/>
              </a:lnSpc>
              <a:spcBef>
                <a:spcPts val="360"/>
              </a:spcBef>
              <a:spcAft>
                <a:spcPts val="0"/>
              </a:spcAft>
              <a:buClr>
                <a:schemeClr val="dk1"/>
              </a:buClr>
              <a:buSzPts val="1800"/>
              <a:buChar char="–"/>
              <a:defRPr sz="1800">
                <a:latin typeface="Times New Roman"/>
                <a:ea typeface="Times New Roman"/>
                <a:cs typeface="Times New Roman"/>
                <a:sym typeface="Times New Roman"/>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52"/>
          <p:cNvSpPr txBox="1"/>
          <p:nvPr>
            <p:ph idx="10" type="dt"/>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1400">
                <a:solidFill>
                  <a:srgbClr val="0033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2"/>
          <p:cNvSpPr txBox="1"/>
          <p:nvPr>
            <p:ph idx="11" type="ftr"/>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1400">
                <a:solidFill>
                  <a:srgbClr val="0033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2"/>
          <p:cNvSpPr txBox="1"/>
          <p:nvPr>
            <p:ph idx="12" type="sldNum"/>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accent1"/>
                </a:solidFill>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5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953734"/>
              </a:buClr>
              <a:buSzPts val="3200"/>
              <a:buChar char="•"/>
              <a:defRPr>
                <a:solidFill>
                  <a:srgbClr val="953734"/>
                </a:solidFill>
                <a:latin typeface="Times New Roman"/>
                <a:ea typeface="Times New Roman"/>
                <a:cs typeface="Times New Roman"/>
                <a:sym typeface="Times New Roman"/>
              </a:defRPr>
            </a:lvl1pPr>
            <a:lvl2pPr indent="-406400" lvl="1" marL="914400" algn="l">
              <a:lnSpc>
                <a:spcPct val="100000"/>
              </a:lnSpc>
              <a:spcBef>
                <a:spcPts val="560"/>
              </a:spcBef>
              <a:spcAft>
                <a:spcPts val="0"/>
              </a:spcAft>
              <a:buClr>
                <a:srgbClr val="C00000"/>
              </a:buClr>
              <a:buSzPts val="2800"/>
              <a:buChar char="–"/>
              <a:defRPr>
                <a:solidFill>
                  <a:srgbClr val="C00000"/>
                </a:solidFill>
                <a:latin typeface="Times New Roman"/>
                <a:ea typeface="Times New Roman"/>
                <a:cs typeface="Times New Roman"/>
                <a:sym typeface="Times New Roman"/>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54"/>
          <p:cNvSpPr txBox="1"/>
          <p:nvPr>
            <p:ph idx="10" type="dt"/>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4"/>
          <p:cNvSpPr txBox="1"/>
          <p:nvPr>
            <p:ph idx="11" type="ftr"/>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4"/>
          <p:cNvSpPr txBox="1"/>
          <p:nvPr>
            <p:ph idx="12" type="sldNum"/>
          </p:nvPr>
        </p:nvSpPr>
        <p:spPr>
          <a:xfrm>
            <a:off x="8034337" y="6356350"/>
            <a:ext cx="6524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5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rgbClr val="604A7B"/>
              </a:buClr>
              <a:buSzPts val="3200"/>
              <a:buFont typeface="Arial"/>
              <a:buChar char="•"/>
              <a:defRPr b="0" i="0" sz="3200" u="none" cap="none" strike="noStrike">
                <a:solidFill>
                  <a:srgbClr val="604A7B"/>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rgbClr val="984807"/>
              </a:buClr>
              <a:buSzPts val="2800"/>
              <a:buFont typeface="Arial"/>
              <a:buChar char="–"/>
              <a:defRPr b="0" i="0" sz="2800" u="none" cap="none" strike="noStrike">
                <a:solidFill>
                  <a:srgbClr val="984807"/>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400" u="none" cap="none" strike="noStrike">
                <a:solidFill>
                  <a:srgbClr val="0033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51"/>
          <p:cNvSpPr txBox="1"/>
          <p:nvPr>
            <p:ph idx="11" type="ftr"/>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400" u="none" cap="none" strike="noStrike">
                <a:solidFill>
                  <a:srgbClr val="0033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51"/>
          <p:cNvSpPr txBox="1"/>
          <p:nvPr>
            <p:ph idx="12" type="sldNum"/>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003300"/>
              </a:buClr>
              <a:buSzPts val="1400"/>
              <a:buFont typeface="Times New Roman"/>
              <a:buNone/>
              <a:defRPr b="1" i="0" sz="1400" u="none" cap="none" strike="noStrike">
                <a:solidFill>
                  <a:srgbClr val="003300"/>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id="22" name="Google Shape;22;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accent1"/>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23" name="Google Shape;23;p5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rgbClr val="604A7B"/>
              </a:buClr>
              <a:buSzPts val="3200"/>
              <a:buFont typeface="Arial"/>
              <a:buChar char="•"/>
              <a:defRPr b="0" i="0" sz="3200" u="none" cap="none" strike="noStrike">
                <a:solidFill>
                  <a:srgbClr val="604A7B"/>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rgbClr val="984807"/>
              </a:buClr>
              <a:buSzPts val="2800"/>
              <a:buFont typeface="Arial"/>
              <a:buChar char="–"/>
              <a:defRPr b="0" i="0" sz="2800" u="none" cap="none" strike="noStrike">
                <a:solidFill>
                  <a:srgbClr val="984807"/>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53"/>
          <p:cNvSpPr txBox="1"/>
          <p:nvPr>
            <p:ph idx="10" type="dt"/>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 name="Google Shape;25;p53"/>
          <p:cNvSpPr txBox="1"/>
          <p:nvPr>
            <p:ph idx="11" type="ftr"/>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 name="Google Shape;26;p53"/>
          <p:cNvSpPr txBox="1"/>
          <p:nvPr>
            <p:ph idx="12" type="sldNum"/>
          </p:nvPr>
        </p:nvSpPr>
        <p:spPr>
          <a:xfrm>
            <a:off x="8034337" y="6356350"/>
            <a:ext cx="652462"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a:t>
            </a:r>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0.jpg"/><Relationship Id="rId5"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
          <p:cNvSpPr txBox="1"/>
          <p:nvPr>
            <p:ph type="title"/>
          </p:nvPr>
        </p:nvSpPr>
        <p:spPr>
          <a:xfrm>
            <a:off x="457200" y="274637"/>
            <a:ext cx="8229600" cy="20875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Times New Roman"/>
              <a:buNone/>
            </a:pPr>
            <a:br>
              <a:rPr b="1" i="0" lang="en-US" sz="3200" u="none">
                <a:solidFill>
                  <a:srgbClr val="C00000"/>
                </a:solidFill>
                <a:latin typeface="Times New Roman"/>
                <a:ea typeface="Times New Roman"/>
                <a:cs typeface="Times New Roman"/>
                <a:sym typeface="Times New Roman"/>
              </a:rPr>
            </a:br>
            <a:br>
              <a:rPr b="1" i="0" lang="en-US" sz="3200" u="none">
                <a:solidFill>
                  <a:srgbClr val="C00000"/>
                </a:solidFill>
                <a:latin typeface="Times New Roman"/>
                <a:ea typeface="Times New Roman"/>
                <a:cs typeface="Times New Roman"/>
                <a:sym typeface="Times New Roman"/>
              </a:rPr>
            </a:br>
            <a:r>
              <a:rPr b="1" i="0" lang="en-US" sz="3200" u="none">
                <a:solidFill>
                  <a:srgbClr val="C00000"/>
                </a:solidFill>
                <a:latin typeface="Times New Roman"/>
                <a:ea typeface="Times New Roman"/>
                <a:cs typeface="Times New Roman"/>
                <a:sym typeface="Times New Roman"/>
              </a:rPr>
              <a:t>PSG Institute of Technology and Applied Research, Coimbatore</a:t>
            </a:r>
            <a:br>
              <a:rPr b="1" i="0" lang="en-US" sz="3200" u="none">
                <a:solidFill>
                  <a:srgbClr val="FF0000"/>
                </a:solidFill>
                <a:latin typeface="Times New Roman"/>
                <a:ea typeface="Times New Roman"/>
                <a:cs typeface="Times New Roman"/>
                <a:sym typeface="Times New Roman"/>
              </a:rPr>
            </a:br>
            <a:br>
              <a:rPr b="1" i="0" lang="en-US" sz="3200" u="none">
                <a:solidFill>
                  <a:srgbClr val="FF0000"/>
                </a:solidFill>
                <a:latin typeface="Times New Roman"/>
                <a:ea typeface="Times New Roman"/>
                <a:cs typeface="Times New Roman"/>
                <a:sym typeface="Times New Roman"/>
              </a:rPr>
            </a:br>
            <a:r>
              <a:rPr lang="en-US" sz="2066">
                <a:solidFill>
                  <a:srgbClr val="6AA84F"/>
                </a:solidFill>
                <a:latin typeface="Arial"/>
                <a:ea typeface="Arial"/>
                <a:cs typeface="Arial"/>
                <a:sym typeface="Arial"/>
              </a:rPr>
              <a:t>TripSync: A Unified Platform for Trip Planning and Management </a:t>
            </a:r>
            <a:endParaRPr>
              <a:solidFill>
                <a:srgbClr val="6AA84F"/>
              </a:solidFill>
            </a:endParaRPr>
          </a:p>
        </p:txBody>
      </p:sp>
      <p:sp>
        <p:nvSpPr>
          <p:cNvPr id="38" name="Google Shape;38;p1"/>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600"/>
              </a:buClr>
              <a:buSzPts val="1400"/>
              <a:buFont typeface="Times New Roman"/>
              <a:buNone/>
            </a:pPr>
            <a:r>
              <a:rPr b="1" i="0" lang="en-US" sz="1400" u="none" cap="none" strike="noStrike">
                <a:solidFill>
                  <a:srgbClr val="0066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9" name="Google Shape;39;p1"/>
          <p:cNvSpPr txBox="1"/>
          <p:nvPr/>
        </p:nvSpPr>
        <p:spPr>
          <a:xfrm>
            <a:off x="2772775" y="2944550"/>
            <a:ext cx="4662000" cy="31731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rgbClr val="0000FF"/>
              </a:buClr>
              <a:buSzPts val="2400"/>
              <a:buFont typeface="Times New Roman"/>
              <a:buNone/>
            </a:pPr>
            <a:r>
              <a:rPr b="1" i="0" lang="en-US" sz="2400" u="none" cap="none" strike="noStrike">
                <a:solidFill>
                  <a:srgbClr val="0000FF"/>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342900" lvl="0" marL="342900" marR="0" rtl="0" algn="ctr">
              <a:lnSpc>
                <a:spcPct val="100000"/>
              </a:lnSpc>
              <a:spcBef>
                <a:spcPts val="480"/>
              </a:spcBef>
              <a:spcAft>
                <a:spcPts val="0"/>
              </a:spcAft>
              <a:buClr>
                <a:srgbClr val="0000FF"/>
              </a:buClr>
              <a:buSzPts val="2400"/>
              <a:buFont typeface="Times New Roman"/>
              <a:buNone/>
            </a:pPr>
            <a:r>
              <a:rPr b="1" i="0" lang="en-US" sz="2400" u="none" cap="none" strike="noStrike">
                <a:solidFill>
                  <a:srgbClr val="0000FF"/>
                </a:solidFill>
                <a:latin typeface="Times New Roman"/>
                <a:ea typeface="Times New Roman"/>
                <a:cs typeface="Times New Roman"/>
                <a:sym typeface="Times New Roman"/>
              </a:rPr>
              <a:t>Team Members</a:t>
            </a:r>
            <a:endParaRPr b="0" i="0" sz="1400" u="none" cap="none" strike="noStrike">
              <a:solidFill>
                <a:srgbClr val="000000"/>
              </a:solidFill>
              <a:latin typeface="Arial"/>
              <a:ea typeface="Arial"/>
              <a:cs typeface="Arial"/>
              <a:sym typeface="Arial"/>
            </a:endParaRPr>
          </a:p>
          <a:p>
            <a:pPr indent="-342900" lvl="0" marL="342900" marR="0" rtl="0" algn="ctr">
              <a:lnSpc>
                <a:spcPct val="100000"/>
              </a:lnSpc>
              <a:spcBef>
                <a:spcPts val="480"/>
              </a:spcBef>
              <a:spcAft>
                <a:spcPts val="0"/>
              </a:spcAft>
              <a:buClr>
                <a:schemeClr val="dk1"/>
              </a:buClr>
              <a:buSzPts val="2400"/>
              <a:buFont typeface="Arial"/>
              <a:buNone/>
            </a:pPr>
            <a:r>
              <a:t/>
            </a:r>
            <a:endParaRPr b="1" i="0" sz="2400" u="none" cap="none" strike="noStrike">
              <a:solidFill>
                <a:srgbClr val="0000FF"/>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9900CC"/>
              </a:buClr>
              <a:buSzPts val="2000"/>
              <a:buFont typeface="Times New Roman"/>
              <a:buNone/>
            </a:pPr>
            <a:r>
              <a:rPr b="0" i="0" lang="en-US" sz="2000" u="none" cap="none" strike="noStrike">
                <a:solidFill>
                  <a:srgbClr val="9900CC"/>
                </a:solidFill>
                <a:latin typeface="Times New Roman"/>
                <a:ea typeface="Times New Roman"/>
                <a:cs typeface="Times New Roman"/>
                <a:sym typeface="Times New Roman"/>
              </a:rPr>
              <a:t>Arthi R ( 715522104006)</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rgbClr val="9900CC"/>
              </a:buClr>
              <a:buSzPts val="2000"/>
              <a:buFont typeface="Times New Roman"/>
              <a:buNone/>
            </a:pPr>
            <a:r>
              <a:rPr b="0" i="0" lang="en-US" sz="2000" u="none" cap="none" strike="noStrike">
                <a:solidFill>
                  <a:srgbClr val="9900CC"/>
                </a:solidFill>
                <a:latin typeface="Times New Roman"/>
                <a:ea typeface="Times New Roman"/>
                <a:cs typeface="Times New Roman"/>
                <a:sym typeface="Times New Roman"/>
              </a:rPr>
              <a:t>Mahesh K (715522104032)</a:t>
            </a:r>
            <a:endParaRPr b="0" i="0" sz="2000" u="none" cap="none" strike="noStrike">
              <a:solidFill>
                <a:srgbClr val="9900CC"/>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rgbClr val="9900CC"/>
              </a:buClr>
              <a:buSzPts val="2000"/>
              <a:buFont typeface="Times New Roman"/>
              <a:buNone/>
            </a:pPr>
            <a:r>
              <a:rPr b="0" i="0" lang="en-US" sz="2000" u="none" cap="none" strike="noStrike">
                <a:solidFill>
                  <a:srgbClr val="9900CC"/>
                </a:solidFill>
                <a:latin typeface="Times New Roman"/>
                <a:ea typeface="Times New Roman"/>
                <a:cs typeface="Times New Roman"/>
                <a:sym typeface="Times New Roman"/>
              </a:rPr>
              <a:t>Sanjeeve Sankar S (715522104047)</a:t>
            </a:r>
            <a:endParaRPr b="0" i="0" sz="2000" u="none" cap="none" strike="noStrike">
              <a:solidFill>
                <a:srgbClr val="9900CC"/>
              </a:solidFill>
              <a:latin typeface="Times New Roman"/>
              <a:ea typeface="Times New Roman"/>
              <a:cs typeface="Times New Roman"/>
              <a:sym typeface="Times New Roman"/>
            </a:endParaRPr>
          </a:p>
          <a:p>
            <a:pPr indent="-342900" lvl="0" marL="342900" rtl="0" algn="l">
              <a:spcBef>
                <a:spcPts val="400"/>
              </a:spcBef>
              <a:spcAft>
                <a:spcPts val="0"/>
              </a:spcAft>
              <a:buClr>
                <a:srgbClr val="9900CC"/>
              </a:buClr>
              <a:buSzPts val="2000"/>
              <a:buFont typeface="Arial"/>
              <a:buNone/>
            </a:pPr>
            <a:r>
              <a:rPr lang="en-US" sz="2000">
                <a:solidFill>
                  <a:srgbClr val="9900CC"/>
                </a:solidFill>
                <a:latin typeface="Times New Roman"/>
                <a:ea typeface="Times New Roman"/>
                <a:cs typeface="Times New Roman"/>
                <a:sym typeface="Times New Roman"/>
              </a:rPr>
              <a:t>Dr </a:t>
            </a:r>
            <a:r>
              <a:rPr lang="en-US" sz="2000">
                <a:solidFill>
                  <a:srgbClr val="9900CC"/>
                </a:solidFill>
                <a:latin typeface="Times New Roman"/>
                <a:ea typeface="Times New Roman"/>
                <a:cs typeface="Times New Roman"/>
                <a:sym typeface="Times New Roman"/>
              </a:rPr>
              <a:t>R. Manimegalai </a:t>
            </a:r>
            <a:endParaRPr sz="2000">
              <a:solidFill>
                <a:srgbClr val="9900CC"/>
              </a:solidFill>
              <a:latin typeface="Times New Roman"/>
              <a:ea typeface="Times New Roman"/>
              <a:cs typeface="Times New Roman"/>
              <a:sym typeface="Times New Roman"/>
            </a:endParaRPr>
          </a:p>
          <a:p>
            <a:pPr indent="-342900" lvl="0" marL="342900" marR="0" rtl="0" algn="ctr">
              <a:lnSpc>
                <a:spcPct val="100000"/>
              </a:lnSpc>
              <a:spcBef>
                <a:spcPts val="400"/>
              </a:spcBef>
              <a:spcAft>
                <a:spcPts val="0"/>
              </a:spcAft>
              <a:buClr>
                <a:srgbClr val="9900CC"/>
              </a:buClr>
              <a:buSzPts val="2000"/>
              <a:buFont typeface="Times New Roman"/>
              <a:buNone/>
            </a:pPr>
            <a:r>
              <a:t/>
            </a:r>
            <a:endParaRPr b="0" i="0" sz="2000" u="none" cap="none" strike="noStrike">
              <a:solidFill>
                <a:srgbClr val="9900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9900C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Introduction to </a:t>
            </a:r>
            <a:r>
              <a:rPr lang="en-US"/>
              <a:t>Trip Planning and Management</a:t>
            </a:r>
            <a:endParaRPr/>
          </a:p>
        </p:txBody>
      </p:sp>
      <p:sp>
        <p:nvSpPr>
          <p:cNvPr id="45" name="Google Shape;45;p2"/>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rgbClr val="0000FF"/>
              </a:buClr>
              <a:buSzPts val="2400"/>
              <a:buFont typeface="Arial"/>
              <a:buChar char="•"/>
            </a:pPr>
            <a:r>
              <a:rPr lang="en-US"/>
              <a:t>Group travel requires detailed planning and  dynamic coordination</a:t>
            </a:r>
            <a:endParaRPr/>
          </a:p>
          <a:p>
            <a:pPr indent="-381000" lvl="1" marL="914400" marR="0" rtl="0" algn="l">
              <a:lnSpc>
                <a:spcPct val="100000"/>
              </a:lnSpc>
              <a:spcBef>
                <a:spcPts val="480"/>
              </a:spcBef>
              <a:spcAft>
                <a:spcPts val="0"/>
              </a:spcAft>
              <a:buClr>
                <a:srgbClr val="0000FF"/>
              </a:buClr>
              <a:buSzPts val="2400"/>
              <a:buFont typeface="Arial"/>
              <a:buChar char="–"/>
            </a:pPr>
            <a:r>
              <a:rPr lang="en-US"/>
              <a:t>Traditional travel planning methods are fragmented and inefficient.</a:t>
            </a:r>
            <a:endParaRPr/>
          </a:p>
          <a:p>
            <a:pPr indent="0" lvl="0" marL="342900" marR="0" rtl="0" algn="l">
              <a:lnSpc>
                <a:spcPct val="100000"/>
              </a:lnSpc>
              <a:spcBef>
                <a:spcPts val="480"/>
              </a:spcBef>
              <a:spcAft>
                <a:spcPts val="0"/>
              </a:spcAft>
              <a:buSzPts val="2400"/>
              <a:buNone/>
            </a:pPr>
            <a:r>
              <a:t/>
            </a:r>
            <a:endParaRPr/>
          </a:p>
          <a:p>
            <a:pPr indent="0" lvl="0" marL="342900" marR="0" rtl="0" algn="l">
              <a:lnSpc>
                <a:spcPct val="100000"/>
              </a:lnSpc>
              <a:spcBef>
                <a:spcPts val="480"/>
              </a:spcBef>
              <a:spcAft>
                <a:spcPts val="0"/>
              </a:spcAft>
              <a:buSzPts val="2400"/>
              <a:buNone/>
            </a:pPr>
            <a:r>
              <a:t/>
            </a:r>
            <a:endParaRPr/>
          </a:p>
          <a:p>
            <a:pPr indent="-342900" lvl="0" marL="342900" marR="0" rtl="0" algn="l">
              <a:lnSpc>
                <a:spcPct val="100000"/>
              </a:lnSpc>
              <a:spcBef>
                <a:spcPts val="480"/>
              </a:spcBef>
              <a:spcAft>
                <a:spcPts val="0"/>
              </a:spcAft>
              <a:buClr>
                <a:srgbClr val="0000FF"/>
              </a:buClr>
              <a:buSzPts val="2400"/>
              <a:buFont typeface="Arial"/>
              <a:buChar char="•"/>
            </a:pPr>
            <a:r>
              <a:rPr lang="en-US"/>
              <a:t>TripSync is </a:t>
            </a:r>
            <a:r>
              <a:rPr lang="en-US"/>
              <a:t>proposed</a:t>
            </a:r>
            <a:r>
              <a:rPr lang="en-US"/>
              <a:t> as a comprehensive travel management solution</a:t>
            </a:r>
            <a:endParaRPr/>
          </a:p>
          <a:p>
            <a:pPr indent="-381000" lvl="1" marL="914400" marR="0" rtl="0" algn="l">
              <a:lnSpc>
                <a:spcPct val="100000"/>
              </a:lnSpc>
              <a:spcBef>
                <a:spcPts val="480"/>
              </a:spcBef>
              <a:spcAft>
                <a:spcPts val="0"/>
              </a:spcAft>
              <a:buClr>
                <a:srgbClr val="0000FF"/>
              </a:buClr>
              <a:buSzPts val="2400"/>
              <a:buFont typeface="Arial"/>
              <a:buChar char="–"/>
            </a:pPr>
            <a:r>
              <a:rPr lang="en-US"/>
              <a:t>integrates itinerary planning, expense tracking, chat, and GPS tracking</a:t>
            </a:r>
            <a:endParaRPr/>
          </a:p>
          <a:p>
            <a:pPr indent="-355600" lvl="1" marL="914400" marR="0" rtl="0" algn="l">
              <a:lnSpc>
                <a:spcPct val="100000"/>
              </a:lnSpc>
              <a:spcBef>
                <a:spcPts val="480"/>
              </a:spcBef>
              <a:spcAft>
                <a:spcPts val="0"/>
              </a:spcAft>
              <a:buSzPts val="2000"/>
              <a:buChar char="–"/>
            </a:pPr>
            <a:r>
              <a:rPr lang="en-US"/>
              <a:t>enhances safety with real-time location tracking and automated alerts when participants move out of a designated range</a:t>
            </a:r>
            <a:endParaRPr/>
          </a:p>
          <a:p>
            <a:pPr indent="-355600" lvl="1" marL="914400" marR="0" rtl="0" algn="l">
              <a:lnSpc>
                <a:spcPct val="100000"/>
              </a:lnSpc>
              <a:spcBef>
                <a:spcPts val="480"/>
              </a:spcBef>
              <a:spcAft>
                <a:spcPts val="0"/>
              </a:spcAft>
              <a:buSzPts val="2000"/>
              <a:buChar char="–"/>
            </a:pPr>
            <a:r>
              <a:rPr lang="en-US"/>
              <a:t> focuses on individual functionalities</a:t>
            </a:r>
            <a:endParaRPr b="0" i="0" sz="24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SzPts val="2400"/>
              <a:buNone/>
            </a:pPr>
            <a:r>
              <a:t/>
            </a:r>
            <a:endParaRPr/>
          </a:p>
          <a:p>
            <a:pPr indent="-190500" lvl="0" marL="342900" marR="0" rtl="0" algn="l">
              <a:lnSpc>
                <a:spcPct val="150000"/>
              </a:lnSpc>
              <a:spcBef>
                <a:spcPts val="480"/>
              </a:spcBef>
              <a:spcAft>
                <a:spcPts val="0"/>
              </a:spcAft>
              <a:buClr>
                <a:srgbClr val="604A7B"/>
              </a:buClr>
              <a:buSzPts val="24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190500" lvl="0" marL="342900" marR="0" rtl="0" algn="l">
              <a:lnSpc>
                <a:spcPct val="150000"/>
              </a:lnSpc>
              <a:spcBef>
                <a:spcPts val="480"/>
              </a:spcBef>
              <a:spcAft>
                <a:spcPts val="0"/>
              </a:spcAft>
              <a:buClr>
                <a:srgbClr val="604A7B"/>
              </a:buClr>
              <a:buSzPts val="24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190500" lvl="0" marL="342900" marR="0" rtl="0" algn="l">
              <a:lnSpc>
                <a:spcPct val="150000"/>
              </a:lnSpc>
              <a:spcBef>
                <a:spcPts val="480"/>
              </a:spcBef>
              <a:spcAft>
                <a:spcPts val="0"/>
              </a:spcAft>
              <a:buClr>
                <a:srgbClr val="604A7B"/>
              </a:buClr>
              <a:buSzPts val="24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p:txBody>
      </p:sp>
      <p:sp>
        <p:nvSpPr>
          <p:cNvPr id="46" name="Google Shape;46;p2"/>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47" name="Google Shape;47;p2"/>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5"/>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Literature Survey</a:t>
            </a:r>
            <a:endParaRPr/>
          </a:p>
        </p:txBody>
      </p:sp>
      <p:graphicFrame>
        <p:nvGraphicFramePr>
          <p:cNvPr id="53" name="Google Shape;53;p5"/>
          <p:cNvGraphicFramePr/>
          <p:nvPr/>
        </p:nvGraphicFramePr>
        <p:xfrm>
          <a:off x="139700" y="609600"/>
          <a:ext cx="3000000" cy="3000000"/>
        </p:xfrm>
        <a:graphic>
          <a:graphicData uri="http://schemas.openxmlformats.org/drawingml/2006/table">
            <a:tbl>
              <a:tblPr>
                <a:noFill/>
                <a:tableStyleId>{6198EFC7-C399-4236-AE6F-AC9708782AE3}</a:tableStyleId>
              </a:tblPr>
              <a:tblGrid>
                <a:gridCol w="8896350"/>
              </a:tblGrid>
              <a:tr h="760400">
                <a:tc>
                  <a:txBody>
                    <a:bodyPr/>
                    <a:lstStyle/>
                    <a:p>
                      <a:pPr indent="0" lvl="0" marL="0" marR="0" rtl="0" algn="l">
                        <a:lnSpc>
                          <a:spcPct val="100000"/>
                        </a:lnSpc>
                        <a:spcBef>
                          <a:spcPts val="0"/>
                        </a:spcBef>
                        <a:spcAft>
                          <a:spcPts val="0"/>
                        </a:spcAft>
                        <a:buClr>
                          <a:schemeClr val="dk1"/>
                        </a:buClr>
                        <a:buSzPts val="1100"/>
                        <a:buFont typeface="Arial"/>
                        <a:buNone/>
                      </a:pPr>
                      <a:r>
                        <a:rPr lang="en-US" sz="1800" u="none" cap="none" strike="noStrike">
                          <a:solidFill>
                            <a:srgbClr val="9900CC"/>
                          </a:solidFill>
                          <a:latin typeface="Times New Roman"/>
                          <a:ea typeface="Times New Roman"/>
                          <a:cs typeface="Times New Roman"/>
                          <a:sym typeface="Times New Roman"/>
                        </a:rPr>
                        <a:t>Williams R., Gupta M. “AI-Based Travel Recommendation System Using User Preferences” Journal of Smart Tourism, 2022.</a:t>
                      </a:r>
                      <a:endParaRPr b="1" i="0" sz="1800" u="none" cap="none" strike="noStrike">
                        <a:solidFill>
                          <a:srgbClr val="9900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9900CC"/>
                        </a:solidFill>
                        <a:latin typeface="Times New Roman"/>
                        <a:ea typeface="Times New Roman"/>
                        <a:cs typeface="Times New Roman"/>
                        <a:sym typeface="Times New Roman"/>
                      </a:endParaRPr>
                    </a:p>
                  </a:txBody>
                  <a:tcPr marT="45775" marB="457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4" name="Google Shape;54;p5"/>
          <p:cNvSpPr txBox="1"/>
          <p:nvPr/>
        </p:nvSpPr>
        <p:spPr>
          <a:xfrm>
            <a:off x="8229600" y="6356350"/>
            <a:ext cx="838200" cy="76041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graphicFrame>
        <p:nvGraphicFramePr>
          <p:cNvPr id="55" name="Google Shape;55;p5"/>
          <p:cNvGraphicFramePr/>
          <p:nvPr/>
        </p:nvGraphicFramePr>
        <p:xfrm>
          <a:off x="139700" y="1581762"/>
          <a:ext cx="3000000" cy="3000000"/>
        </p:xfrm>
        <a:graphic>
          <a:graphicData uri="http://schemas.openxmlformats.org/drawingml/2006/table">
            <a:tbl>
              <a:tblPr>
                <a:noFill/>
                <a:tableStyleId>{6198EFC7-C399-4236-AE6F-AC9708782AE3}</a:tableStyleId>
              </a:tblPr>
              <a:tblGrid>
                <a:gridCol w="2039925"/>
                <a:gridCol w="6856400"/>
              </a:tblGrid>
              <a:tr h="6969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Problem Solved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The lack of personalized travel recommendations based on user preferences and budget constraints.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91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Proposed Solution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A deep learning-based recommendation engine using user preferences and AI-driven suggestions.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91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Results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Increased travel satisfaction by 50% and improved travel experience through real-time itinerary updates.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559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Merits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Enhanced personalization and improved cost-effectiveness of trips for travelers.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427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Demerits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High dependency on data availability and accuracy of user-provided preferences.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775">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Future Work</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Implement an AI chatbot for real-time assistance and instant itinerary adjustments.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Literature Survey</a:t>
            </a:r>
            <a:endParaRPr/>
          </a:p>
        </p:txBody>
      </p:sp>
      <p:graphicFrame>
        <p:nvGraphicFramePr>
          <p:cNvPr id="62" name="Google Shape;62;p4"/>
          <p:cNvGraphicFramePr/>
          <p:nvPr/>
        </p:nvGraphicFramePr>
        <p:xfrm>
          <a:off x="76200" y="609600"/>
          <a:ext cx="3000000" cy="3000000"/>
        </p:xfrm>
        <a:graphic>
          <a:graphicData uri="http://schemas.openxmlformats.org/drawingml/2006/table">
            <a:tbl>
              <a:tblPr>
                <a:noFill/>
                <a:tableStyleId>{6198EFC7-C399-4236-AE6F-AC9708782AE3}</a:tableStyleId>
              </a:tblPr>
              <a:tblGrid>
                <a:gridCol w="8943975"/>
              </a:tblGrid>
              <a:tr h="944550">
                <a:tc>
                  <a:txBody>
                    <a:bodyPr/>
                    <a:lstStyle/>
                    <a:p>
                      <a:pPr indent="0" lvl="0" marL="0" marR="0" rtl="0" algn="l">
                        <a:lnSpc>
                          <a:spcPct val="100000"/>
                        </a:lnSpc>
                        <a:spcBef>
                          <a:spcPts val="0"/>
                        </a:spcBef>
                        <a:spcAft>
                          <a:spcPts val="0"/>
                        </a:spcAft>
                        <a:buClr>
                          <a:schemeClr val="dk1"/>
                        </a:buClr>
                        <a:buSzPts val="1100"/>
                        <a:buFont typeface="Arial"/>
                        <a:buNone/>
                      </a:pPr>
                      <a:r>
                        <a:rPr lang="en-US" sz="1800" u="none" cap="none" strike="noStrike">
                          <a:solidFill>
                            <a:srgbClr val="9900CC"/>
                          </a:solidFill>
                          <a:latin typeface="Times New Roman"/>
                          <a:ea typeface="Times New Roman"/>
                          <a:cs typeface="Times New Roman"/>
                          <a:sym typeface="Times New Roman"/>
                        </a:rPr>
                        <a:t>John Doe, Jane Smith "AI-Based Route Optimization for Group Travel," International Journal of Smart Travel Technologies, 2022.</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9900CC"/>
                        </a:solidFill>
                        <a:latin typeface="Times New Roman"/>
                        <a:ea typeface="Times New Roman"/>
                        <a:cs typeface="Times New Roman"/>
                        <a:sym typeface="Times New Roman"/>
                      </a:endParaRPr>
                    </a:p>
                  </a:txBody>
                  <a:tcPr marT="45650" marB="456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3" name="Google Shape;63;p4"/>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graphicFrame>
        <p:nvGraphicFramePr>
          <p:cNvPr id="64" name="Google Shape;64;p4"/>
          <p:cNvGraphicFramePr/>
          <p:nvPr/>
        </p:nvGraphicFramePr>
        <p:xfrm>
          <a:off x="123838" y="1589512"/>
          <a:ext cx="3000000" cy="3000000"/>
        </p:xfrm>
        <a:graphic>
          <a:graphicData uri="http://schemas.openxmlformats.org/drawingml/2006/table">
            <a:tbl>
              <a:tblPr>
                <a:noFill/>
                <a:tableStyleId>{6198EFC7-C399-4236-AE6F-AC9708782AE3}</a:tableStyleId>
              </a:tblPr>
              <a:tblGrid>
                <a:gridCol w="2039925"/>
                <a:gridCol w="6856400"/>
              </a:tblGrid>
              <a:tr h="666625">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Problem Solved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Inefficient trip planning and real-time route optimization, leading to delays in group travel.</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74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Proposed Solution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Machine learning algorithms and real-time traffic data to optimize travel routes.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890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Results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 </a:t>
                      </a:r>
                      <a:r>
                        <a:rPr lang="en-US" sz="1800" u="none" cap="none" strike="noStrike">
                          <a:solidFill>
                            <a:schemeClr val="dk1"/>
                          </a:solidFill>
                          <a:latin typeface="Times New Roman"/>
                          <a:ea typeface="Times New Roman"/>
                          <a:cs typeface="Times New Roman"/>
                          <a:sym typeface="Times New Roman"/>
                        </a:rPr>
                        <a:t>Improved travel time by 35% and minimized detours through real-time updates.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8625">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Merits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Optimized travel efficiency by reducing delays and traffic congestion, improving time management.</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2980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Demerits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The system requires continuous  GPS Tracking,leading to the </a:t>
                      </a:r>
                      <a:endParaRPr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potential privacy concerns.</a:t>
                      </a:r>
                      <a:endParaRPr sz="1800" u="none" cap="none" strike="noStrike">
                        <a:solidFill>
                          <a:schemeClr val="dk1"/>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71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Future Work</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Times New Roman"/>
                        <a:ea typeface="Times New Roman"/>
                        <a:cs typeface="Times New Roman"/>
                        <a:sym typeface="Times New Roman"/>
                      </a:endParaRPr>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Integrate weather forecasting and public transport tracking for better predictions.</a:t>
                      </a:r>
                      <a:endParaRPr sz="1400" u="none" cap="none" strike="noStrike"/>
                    </a:p>
                  </a:txBody>
                  <a:tcPr marT="45700" marB="45700"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6"/>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Literature Survey</a:t>
            </a:r>
            <a:endParaRPr/>
          </a:p>
        </p:txBody>
      </p:sp>
      <p:graphicFrame>
        <p:nvGraphicFramePr>
          <p:cNvPr id="70" name="Google Shape;70;p6"/>
          <p:cNvGraphicFramePr/>
          <p:nvPr/>
        </p:nvGraphicFramePr>
        <p:xfrm>
          <a:off x="225425" y="762000"/>
          <a:ext cx="3000000" cy="3000000"/>
        </p:xfrm>
        <a:graphic>
          <a:graphicData uri="http://schemas.openxmlformats.org/drawingml/2006/table">
            <a:tbl>
              <a:tblPr>
                <a:noFill/>
                <a:tableStyleId>{6198EFC7-C399-4236-AE6F-AC9708782AE3}</a:tableStyleId>
              </a:tblPr>
              <a:tblGrid>
                <a:gridCol w="8537575"/>
              </a:tblGrid>
              <a:tr h="1006475">
                <a:tc>
                  <a:txBody>
                    <a:bodyPr/>
                    <a:lstStyle/>
                    <a:p>
                      <a:pPr indent="0" lvl="0" marL="0" marR="0" rtl="0" algn="l">
                        <a:lnSpc>
                          <a:spcPct val="100000"/>
                        </a:lnSpc>
                        <a:spcBef>
                          <a:spcPts val="0"/>
                        </a:spcBef>
                        <a:spcAft>
                          <a:spcPts val="0"/>
                        </a:spcAft>
                        <a:buClr>
                          <a:schemeClr val="dk1"/>
                        </a:buClr>
                        <a:buSzPts val="1100"/>
                        <a:buFont typeface="Arial"/>
                        <a:buNone/>
                      </a:pPr>
                      <a:r>
                        <a:rPr lang="en-US" sz="1800" u="none" cap="none" strike="noStrike">
                          <a:solidFill>
                            <a:srgbClr val="9900CC"/>
                          </a:solidFill>
                          <a:latin typeface="Times New Roman"/>
                          <a:ea typeface="Times New Roman"/>
                          <a:cs typeface="Times New Roman"/>
                          <a:sym typeface="Times New Roman"/>
                        </a:rPr>
                        <a:t>Chen L., Patel V. “Blockchain-Based Security Framework for Online Travel Booking Platforms,” International Journal of Cybersecurity, 2023.</a:t>
                      </a:r>
                      <a:endParaRPr sz="14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71" name="Google Shape;71;p6"/>
          <p:cNvSpPr txBox="1"/>
          <p:nvPr/>
        </p:nvSpPr>
        <p:spPr>
          <a:xfrm>
            <a:off x="1160462" y="6356350"/>
            <a:ext cx="6873875" cy="730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72" name="Google Shape;72;p6"/>
          <p:cNvSpPr txBox="1"/>
          <p:nvPr/>
        </p:nvSpPr>
        <p:spPr>
          <a:xfrm>
            <a:off x="8305800" y="6538912"/>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graphicFrame>
        <p:nvGraphicFramePr>
          <p:cNvPr id="73" name="Google Shape;73;p6"/>
          <p:cNvGraphicFramePr/>
          <p:nvPr/>
        </p:nvGraphicFramePr>
        <p:xfrm>
          <a:off x="225425" y="1768475"/>
          <a:ext cx="3000000" cy="3000000"/>
        </p:xfrm>
        <a:graphic>
          <a:graphicData uri="http://schemas.openxmlformats.org/drawingml/2006/table">
            <a:tbl>
              <a:tblPr>
                <a:noFill/>
                <a:tableStyleId>{6198EFC7-C399-4236-AE6F-AC9708782AE3}</a:tableStyleId>
              </a:tblPr>
              <a:tblGrid>
                <a:gridCol w="2058975"/>
                <a:gridCol w="6478575"/>
              </a:tblGrid>
              <a:tr h="9318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Problem Solved</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Security threats such as data breaches, payment fraud, and identity theft in online travel platforms.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025">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Proposed Solution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Utilizing blockchain technology for decentralized and transparent travel booking transactions.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025">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Results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Increased trust and security in digital travel transactions while reducing fraudulent activities.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360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Merits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Enhanced data integrity, transparency, and reduction of middlemen costs in travel bookings.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1850">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Demerits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High computational cost and slow transaction speeds due to blockchain technology limitations.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025">
                <a:tc>
                  <a:txBody>
                    <a:bodyPr/>
                    <a:lstStyle/>
                    <a:p>
                      <a:pPr indent="0" lvl="0" marL="0" marR="0" rtl="0" algn="l">
                        <a:lnSpc>
                          <a:spcPct val="100000"/>
                        </a:lnSpc>
                        <a:spcBef>
                          <a:spcPts val="0"/>
                        </a:spcBef>
                        <a:spcAft>
                          <a:spcPts val="0"/>
                        </a:spcAft>
                        <a:buClr>
                          <a:srgbClr val="0000FF"/>
                        </a:buClr>
                        <a:buSzPts val="1800"/>
                        <a:buFont typeface="Times New Roman"/>
                        <a:buNone/>
                      </a:pPr>
                      <a:r>
                        <a:rPr b="0" i="0" lang="en-US" sz="1800" u="none" cap="none" strike="noStrike">
                          <a:solidFill>
                            <a:srgbClr val="0000FF"/>
                          </a:solidFill>
                          <a:latin typeface="Times New Roman"/>
                          <a:ea typeface="Times New Roman"/>
                          <a:cs typeface="Times New Roman"/>
                          <a:sym typeface="Times New Roman"/>
                        </a:rPr>
                        <a:t>Future Work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Explore smart contracts for automatic refunds and integration with AI-based fraud detection models.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7"/>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Gaps Identified</a:t>
            </a:r>
            <a:endParaRPr/>
          </a:p>
        </p:txBody>
      </p:sp>
      <p:sp>
        <p:nvSpPr>
          <p:cNvPr id="79" name="Google Shape;79;p7"/>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FF"/>
              </a:buClr>
              <a:buSzPts val="2400"/>
              <a:buFont typeface="Arial"/>
              <a:buChar char="•"/>
            </a:pPr>
            <a:r>
              <a:rPr lang="en-US"/>
              <a:t>Fragmentation</a:t>
            </a:r>
            <a:endParaRPr/>
          </a:p>
          <a:p>
            <a:pPr indent="-381000" lvl="1" marL="914400" marR="0" rtl="0" algn="l">
              <a:lnSpc>
                <a:spcPct val="100000"/>
              </a:lnSpc>
              <a:spcBef>
                <a:spcPts val="0"/>
              </a:spcBef>
              <a:spcAft>
                <a:spcPts val="0"/>
              </a:spcAft>
              <a:buClr>
                <a:srgbClr val="0000FF"/>
              </a:buClr>
              <a:buSzPts val="2400"/>
              <a:buFont typeface="Arial"/>
              <a:buChar char="–"/>
            </a:pPr>
            <a:r>
              <a:rPr lang="en-US"/>
              <a:t>Existing travel apps specialize in isolated features such as itinerary planning or expense management but lack an integrated solution</a:t>
            </a:r>
            <a:endParaRPr/>
          </a:p>
          <a:p>
            <a:pPr indent="-342900" lvl="0" marL="342900" marR="0" rtl="0" algn="l">
              <a:lnSpc>
                <a:spcPct val="100000"/>
              </a:lnSpc>
              <a:spcBef>
                <a:spcPts val="480"/>
              </a:spcBef>
              <a:spcAft>
                <a:spcPts val="0"/>
              </a:spcAft>
              <a:buClr>
                <a:srgbClr val="0000FF"/>
              </a:buClr>
              <a:buSzPts val="2400"/>
              <a:buFont typeface="Arial"/>
              <a:buChar char="•"/>
            </a:pPr>
            <a:r>
              <a:rPr lang="en-US"/>
              <a:t>Inefficient Coordination</a:t>
            </a:r>
            <a:endParaRPr/>
          </a:p>
          <a:p>
            <a:pPr indent="-381000" lvl="1" marL="914400" marR="0" rtl="0" algn="l">
              <a:lnSpc>
                <a:spcPct val="100000"/>
              </a:lnSpc>
              <a:spcBef>
                <a:spcPts val="480"/>
              </a:spcBef>
              <a:spcAft>
                <a:spcPts val="0"/>
              </a:spcAft>
              <a:buClr>
                <a:srgbClr val="0000FF"/>
              </a:buClr>
              <a:buSzPts val="2400"/>
              <a:buFont typeface="Arial"/>
              <a:buChar char="–"/>
            </a:pPr>
            <a:r>
              <a:rPr lang="en-US"/>
              <a:t>Manual coordination using messaging apps often leads to confusion</a:t>
            </a:r>
            <a:endParaRPr/>
          </a:p>
          <a:p>
            <a:pPr indent="-342900" lvl="0" marL="342900" marR="0" rtl="0" algn="l">
              <a:lnSpc>
                <a:spcPct val="100000"/>
              </a:lnSpc>
              <a:spcBef>
                <a:spcPts val="480"/>
              </a:spcBef>
              <a:spcAft>
                <a:spcPts val="0"/>
              </a:spcAft>
              <a:buClr>
                <a:srgbClr val="0000FF"/>
              </a:buClr>
              <a:buSzPts val="2400"/>
              <a:buFont typeface="Arial"/>
              <a:buChar char="•"/>
            </a:pPr>
            <a:r>
              <a:rPr lang="en-US"/>
              <a:t>Limited Safety Features</a:t>
            </a:r>
            <a:endParaRPr/>
          </a:p>
          <a:p>
            <a:pPr indent="-381000" lvl="1" marL="914400" marR="0" rtl="0" algn="l">
              <a:lnSpc>
                <a:spcPct val="100000"/>
              </a:lnSpc>
              <a:spcBef>
                <a:spcPts val="480"/>
              </a:spcBef>
              <a:spcAft>
                <a:spcPts val="0"/>
              </a:spcAft>
              <a:buClr>
                <a:srgbClr val="0000FF"/>
              </a:buClr>
              <a:buSzPts val="2400"/>
              <a:buFont typeface="Arial"/>
              <a:buChar char="–"/>
            </a:pPr>
            <a:r>
              <a:rPr lang="en-US"/>
              <a:t>Most travel apps do not offer real-time tracking or geofencing alerts to prevent individuals from getting lost</a:t>
            </a:r>
            <a:endParaRPr/>
          </a:p>
          <a:p>
            <a:pPr indent="-381000" lvl="0" marL="457200" rtl="0" algn="l">
              <a:lnSpc>
                <a:spcPct val="100000"/>
              </a:lnSpc>
              <a:spcBef>
                <a:spcPts val="480"/>
              </a:spcBef>
              <a:spcAft>
                <a:spcPts val="0"/>
              </a:spcAft>
              <a:buClr>
                <a:schemeClr val="hlink"/>
              </a:buClr>
              <a:buSzPts val="2400"/>
              <a:buChar char="•"/>
            </a:pPr>
            <a:r>
              <a:rPr lang="en-US">
                <a:solidFill>
                  <a:schemeClr val="hlink"/>
                </a:solidFill>
              </a:rPr>
              <a:t>Lack of Real-Time Expense Sharing</a:t>
            </a:r>
            <a:endParaRPr>
              <a:solidFill>
                <a:schemeClr val="hlink"/>
              </a:solidFill>
            </a:endParaRPr>
          </a:p>
          <a:p>
            <a:pPr indent="-381000" lvl="1" marL="914400" rtl="0" algn="l">
              <a:lnSpc>
                <a:spcPct val="100000"/>
              </a:lnSpc>
              <a:spcBef>
                <a:spcPts val="480"/>
              </a:spcBef>
              <a:spcAft>
                <a:spcPts val="0"/>
              </a:spcAft>
              <a:buClr>
                <a:schemeClr val="hlink"/>
              </a:buClr>
              <a:buSzPts val="2400"/>
              <a:buChar char="–"/>
            </a:pPr>
            <a:r>
              <a:rPr lang="en-US"/>
              <a:t>Many expense-tracking applications require manual inputs and do not sync dynamically with group members.</a:t>
            </a:r>
            <a:endParaRPr/>
          </a:p>
          <a:p>
            <a:pPr indent="-381000" lvl="0" marL="457200" rtl="0" algn="l">
              <a:lnSpc>
                <a:spcPct val="100000"/>
              </a:lnSpc>
              <a:spcBef>
                <a:spcPts val="0"/>
              </a:spcBef>
              <a:spcAft>
                <a:spcPts val="0"/>
              </a:spcAft>
              <a:buClr>
                <a:schemeClr val="hlink"/>
              </a:buClr>
              <a:buSzPts val="2400"/>
              <a:buChar char="•"/>
            </a:pPr>
            <a:r>
              <a:rPr lang="en-US">
                <a:solidFill>
                  <a:schemeClr val="hlink"/>
                </a:solidFill>
              </a:rPr>
              <a:t>Coordinating group-travel is challenging task </a:t>
            </a:r>
            <a:endParaRPr>
              <a:solidFill>
                <a:schemeClr val="hlink"/>
              </a:solidFill>
            </a:endParaRPr>
          </a:p>
          <a:p>
            <a:pPr indent="-381000" lvl="1" marL="914400" rtl="0" algn="l">
              <a:lnSpc>
                <a:spcPct val="100000"/>
              </a:lnSpc>
              <a:spcBef>
                <a:spcPts val="0"/>
              </a:spcBef>
              <a:spcAft>
                <a:spcPts val="0"/>
              </a:spcAft>
              <a:buClr>
                <a:schemeClr val="hlink"/>
              </a:buClr>
              <a:buSzPts val="2400"/>
              <a:buChar char="–"/>
            </a:pPr>
            <a:r>
              <a:rPr lang="en-US"/>
              <a:t>Miscommunication, schedules, and unclear expense tracking </a:t>
            </a:r>
            <a:endParaRPr/>
          </a:p>
          <a:p>
            <a:pPr indent="-381000" lvl="1" marL="914400" rtl="0" algn="l">
              <a:lnSpc>
                <a:spcPct val="100000"/>
              </a:lnSpc>
              <a:spcBef>
                <a:spcPts val="0"/>
              </a:spcBef>
              <a:spcAft>
                <a:spcPts val="0"/>
              </a:spcAft>
              <a:buClr>
                <a:schemeClr val="hlink"/>
              </a:buClr>
              <a:buSzPts val="2400"/>
              <a:buChar char="–"/>
            </a:pPr>
            <a:r>
              <a:rPr lang="en-US"/>
              <a:t>Existing solutions address specific needs, but none provide a holistic, unified platform</a:t>
            </a:r>
            <a:endParaRPr/>
          </a:p>
          <a:p>
            <a:pPr indent="0" lvl="0" marL="914400" marR="0" rtl="0" algn="l">
              <a:lnSpc>
                <a:spcPct val="100000"/>
              </a:lnSpc>
              <a:spcBef>
                <a:spcPts val="480"/>
              </a:spcBef>
              <a:spcAft>
                <a:spcPts val="0"/>
              </a:spcAft>
              <a:buNone/>
            </a:pPr>
            <a:r>
              <a:t/>
            </a:r>
            <a:endParaRPr/>
          </a:p>
          <a:p>
            <a:pPr indent="0" lvl="0" marL="1524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p:txBody>
      </p:sp>
      <p:sp>
        <p:nvSpPr>
          <p:cNvPr id="80" name="Google Shape;80;p7"/>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Problem Statement and Objectives</a:t>
            </a:r>
            <a:endParaRPr/>
          </a:p>
        </p:txBody>
      </p:sp>
      <p:sp>
        <p:nvSpPr>
          <p:cNvPr id="86" name="Google Shape;86;p3"/>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480"/>
              </a:spcBef>
              <a:spcAft>
                <a:spcPts val="0"/>
              </a:spcAft>
              <a:buClr>
                <a:srgbClr val="0000FF"/>
              </a:buClr>
              <a:buSzPts val="2400"/>
              <a:buFont typeface="Arial"/>
              <a:buChar char="•"/>
            </a:pPr>
            <a:r>
              <a:rPr b="0" i="0" lang="en-US" sz="2400" u="none">
                <a:solidFill>
                  <a:srgbClr val="0000FF"/>
                </a:solidFill>
                <a:latin typeface="Times New Roman"/>
                <a:ea typeface="Times New Roman"/>
                <a:cs typeface="Times New Roman"/>
                <a:sym typeface="Times New Roman"/>
              </a:rPr>
              <a:t> </a:t>
            </a:r>
            <a:r>
              <a:rPr lang="en-US"/>
              <a:t>TripSync is developed to provide an </a:t>
            </a:r>
            <a:r>
              <a:rPr lang="en-US"/>
              <a:t>integrated</a:t>
            </a:r>
            <a:r>
              <a:rPr lang="en-US"/>
              <a:t> and holistic solution </a:t>
            </a:r>
            <a:endParaRPr/>
          </a:p>
          <a:p>
            <a:pPr indent="-355600" lvl="1" marL="914400" rtl="0" algn="just">
              <a:lnSpc>
                <a:spcPct val="100000"/>
              </a:lnSpc>
              <a:spcBef>
                <a:spcPts val="480"/>
              </a:spcBef>
              <a:spcAft>
                <a:spcPts val="0"/>
              </a:spcAft>
              <a:buSzPts val="2000"/>
              <a:buChar char="–"/>
            </a:pPr>
            <a:r>
              <a:rPr lang="en-US"/>
              <a:t>Providing a single trip room for all communication and coordination</a:t>
            </a:r>
            <a:endParaRPr/>
          </a:p>
          <a:p>
            <a:pPr indent="-355600" lvl="1" marL="914400" rtl="0" algn="just">
              <a:lnSpc>
                <a:spcPct val="100000"/>
              </a:lnSpc>
              <a:spcBef>
                <a:spcPts val="480"/>
              </a:spcBef>
              <a:spcAft>
                <a:spcPts val="0"/>
              </a:spcAft>
              <a:buSzPts val="2000"/>
              <a:buChar char="–"/>
            </a:pPr>
            <a:r>
              <a:rPr lang="en-US"/>
              <a:t>Automating expense sharing and tracking.</a:t>
            </a:r>
            <a:endParaRPr/>
          </a:p>
          <a:p>
            <a:pPr indent="-355600" lvl="1" marL="914400" rtl="0" algn="just">
              <a:lnSpc>
                <a:spcPct val="100000"/>
              </a:lnSpc>
              <a:spcBef>
                <a:spcPts val="480"/>
              </a:spcBef>
              <a:spcAft>
                <a:spcPts val="0"/>
              </a:spcAft>
              <a:buSzPts val="2000"/>
              <a:buChar char="–"/>
            </a:pPr>
            <a:r>
              <a:rPr lang="en-US"/>
              <a:t>Offering live location tracking and geofencing for safety</a:t>
            </a:r>
            <a:endParaRPr/>
          </a:p>
          <a:p>
            <a:pPr indent="-355600" lvl="1" marL="914400" rtl="0" algn="just">
              <a:lnSpc>
                <a:spcPct val="100000"/>
              </a:lnSpc>
              <a:spcBef>
                <a:spcPts val="480"/>
              </a:spcBef>
              <a:spcAft>
                <a:spcPts val="0"/>
              </a:spcAft>
              <a:buSzPts val="2000"/>
              <a:buChar char="–"/>
            </a:pPr>
            <a:r>
              <a:rPr lang="en-US"/>
              <a:t>Enabling real-time chat, announcements, and voting mechanisms.</a:t>
            </a:r>
            <a:endParaRPr/>
          </a:p>
          <a:p>
            <a:pPr indent="0" lvl="0" marL="457200" rtl="0" algn="just">
              <a:lnSpc>
                <a:spcPct val="100000"/>
              </a:lnSpc>
              <a:spcBef>
                <a:spcPts val="0"/>
              </a:spcBef>
              <a:spcAft>
                <a:spcPts val="0"/>
              </a:spcAft>
              <a:buNone/>
            </a:pPr>
            <a:r>
              <a:t/>
            </a:r>
            <a:endParaRPr/>
          </a:p>
          <a:p>
            <a:pPr indent="-381000" lvl="0" marL="457200" rtl="0" algn="just">
              <a:lnSpc>
                <a:spcPct val="100000"/>
              </a:lnSpc>
              <a:spcBef>
                <a:spcPts val="0"/>
              </a:spcBef>
              <a:spcAft>
                <a:spcPts val="0"/>
              </a:spcAft>
              <a:buClr>
                <a:schemeClr val="hlink"/>
              </a:buClr>
              <a:buSzPts val="2400"/>
              <a:buChar char="•"/>
            </a:pPr>
            <a:r>
              <a:rPr lang="en-US"/>
              <a:t>Objectives</a:t>
            </a:r>
            <a:endParaRPr/>
          </a:p>
          <a:p>
            <a:pPr indent="-355600" lvl="1" marL="914400" rtl="0" algn="just">
              <a:lnSpc>
                <a:spcPct val="100000"/>
              </a:lnSpc>
              <a:spcBef>
                <a:spcPts val="0"/>
              </a:spcBef>
              <a:spcAft>
                <a:spcPts val="0"/>
              </a:spcAft>
              <a:buClr>
                <a:schemeClr val="hlink"/>
              </a:buClr>
              <a:buSzPts val="2000"/>
              <a:buChar char="–"/>
            </a:pPr>
            <a:r>
              <a:rPr lang="en-US"/>
              <a:t>To d</a:t>
            </a:r>
            <a:r>
              <a:rPr lang="en-US"/>
              <a:t>evelop an unified mobile application that consolidates trip planning, expense management, and real-time communication into a single platform</a:t>
            </a:r>
            <a:endParaRPr/>
          </a:p>
          <a:p>
            <a:pPr indent="-355600" lvl="1" marL="914400" rtl="0" algn="just">
              <a:lnSpc>
                <a:spcPct val="100000"/>
              </a:lnSpc>
              <a:spcBef>
                <a:spcPts val="0"/>
              </a:spcBef>
              <a:spcAft>
                <a:spcPts val="0"/>
              </a:spcAft>
              <a:buClr>
                <a:schemeClr val="hlink"/>
              </a:buClr>
              <a:buSzPts val="2000"/>
              <a:buChar char="–"/>
            </a:pPr>
            <a:r>
              <a:rPr lang="en-US"/>
              <a:t>To Implement real-time location tracking to provide safety and security features through geofencing </a:t>
            </a:r>
            <a:endParaRPr/>
          </a:p>
          <a:p>
            <a:pPr indent="-355600" lvl="1" marL="914400" rtl="0" algn="just">
              <a:lnSpc>
                <a:spcPct val="100000"/>
              </a:lnSpc>
              <a:spcBef>
                <a:spcPts val="0"/>
              </a:spcBef>
              <a:spcAft>
                <a:spcPts val="0"/>
              </a:spcAft>
              <a:buClr>
                <a:schemeClr val="hlink"/>
              </a:buClr>
              <a:buSzPts val="2000"/>
              <a:buChar char="–"/>
            </a:pPr>
            <a:r>
              <a:rPr lang="en-US"/>
              <a:t>To enhance group decision-making through a voting mechanism integrated into trip discussions</a:t>
            </a:r>
            <a:endParaRPr/>
          </a:p>
          <a:p>
            <a:pPr indent="-355600" lvl="1" marL="914400" rtl="0" algn="just">
              <a:lnSpc>
                <a:spcPct val="100000"/>
              </a:lnSpc>
              <a:spcBef>
                <a:spcPts val="0"/>
              </a:spcBef>
              <a:spcAft>
                <a:spcPts val="0"/>
              </a:spcAft>
              <a:buClr>
                <a:schemeClr val="hlink"/>
              </a:buClr>
              <a:buSzPts val="2000"/>
              <a:buChar char="–"/>
            </a:pPr>
            <a:r>
              <a:rPr lang="en-US"/>
              <a:t>To optimize app performance and scalability using cloud, ensuring smooth operation for large groups</a:t>
            </a:r>
            <a:endParaRPr>
              <a:solidFill>
                <a:schemeClr val="hlink"/>
              </a:solidFill>
            </a:endParaRPr>
          </a:p>
          <a:p>
            <a:pPr indent="0" lvl="0" marL="342900" marR="0" rtl="0" algn="l">
              <a:lnSpc>
                <a:spcPct val="100000"/>
              </a:lnSpc>
              <a:spcBef>
                <a:spcPts val="480"/>
              </a:spcBef>
              <a:spcAft>
                <a:spcPts val="0"/>
              </a:spcAft>
              <a:buSzPts val="2400"/>
              <a:buNone/>
            </a:pPr>
            <a:r>
              <a:t/>
            </a:r>
            <a:endParaRPr/>
          </a:p>
          <a:p>
            <a:pPr indent="0" lvl="0" marL="457200" marR="0" rtl="0" algn="l">
              <a:lnSpc>
                <a:spcPct val="100000"/>
              </a:lnSpc>
              <a:spcBef>
                <a:spcPts val="480"/>
              </a:spcBef>
              <a:spcAft>
                <a:spcPts val="0"/>
              </a:spcAft>
              <a:buSzPts val="2400"/>
              <a:buNone/>
            </a:pPr>
            <a:r>
              <a:rPr lang="en-US"/>
              <a:t>  </a:t>
            </a:r>
            <a:endParaRPr/>
          </a:p>
          <a:p>
            <a:pPr indent="0" lvl="0" marL="0" marR="0" rtl="0" algn="l">
              <a:lnSpc>
                <a:spcPct val="100000"/>
              </a:lnSpc>
              <a:spcBef>
                <a:spcPts val="480"/>
              </a:spcBef>
              <a:spcAft>
                <a:spcPts val="0"/>
              </a:spcAft>
              <a:buSzPts val="2400"/>
              <a:buNone/>
            </a:pPr>
            <a:r>
              <a:t/>
            </a:r>
            <a:endParaRPr/>
          </a:p>
        </p:txBody>
      </p:sp>
      <p:sp>
        <p:nvSpPr>
          <p:cNvPr id="87" name="Google Shape;87;p3"/>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35c1d201b2_0_3"/>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TechStack used for Implementation of TripSync</a:t>
            </a:r>
            <a:endParaRPr/>
          </a:p>
        </p:txBody>
      </p:sp>
      <p:sp>
        <p:nvSpPr>
          <p:cNvPr id="94" name="Google Shape;94;g335c1d201b2_0_3"/>
          <p:cNvSpPr txBox="1"/>
          <p:nvPr>
            <p:ph idx="1" type="body"/>
          </p:nvPr>
        </p:nvSpPr>
        <p:spPr>
          <a:xfrm>
            <a:off x="0" y="609674"/>
            <a:ext cx="9144000" cy="5715000"/>
          </a:xfrm>
          <a:prstGeom prst="rect">
            <a:avLst/>
          </a:prstGeom>
          <a:noFill/>
          <a:ln>
            <a:noFill/>
          </a:ln>
        </p:spPr>
        <p:txBody>
          <a:bodyPr anchorCtr="0" anchor="t" bIns="45700" lIns="91425" spcFirstLastPara="1" rIns="91425" wrap="square" tIns="45700">
            <a:noAutofit/>
          </a:bodyPr>
          <a:lstStyle/>
          <a:p>
            <a:pPr indent="0" lvl="0" marL="457200" rtl="0" algn="just">
              <a:lnSpc>
                <a:spcPct val="150000"/>
              </a:lnSpc>
              <a:spcBef>
                <a:spcPts val="480"/>
              </a:spcBef>
              <a:spcAft>
                <a:spcPts val="0"/>
              </a:spcAft>
              <a:buNone/>
            </a:pPr>
            <a:r>
              <a:t/>
            </a:r>
            <a:endParaRPr/>
          </a:p>
          <a:p>
            <a:pPr indent="-381000" lvl="0" marL="457200" rtl="0" algn="just">
              <a:lnSpc>
                <a:spcPct val="150000"/>
              </a:lnSpc>
              <a:spcBef>
                <a:spcPts val="480"/>
              </a:spcBef>
              <a:spcAft>
                <a:spcPts val="0"/>
              </a:spcAft>
              <a:buSzPts val="2400"/>
              <a:buChar char="•"/>
            </a:pPr>
            <a:r>
              <a:rPr lang="en-US"/>
              <a:t>Flutter  (Dart) -  Frontend</a:t>
            </a:r>
            <a:endParaRPr/>
          </a:p>
          <a:p>
            <a:pPr indent="-381000" lvl="0" marL="457200" rtl="0" algn="just">
              <a:lnSpc>
                <a:spcPct val="150000"/>
              </a:lnSpc>
              <a:spcBef>
                <a:spcPts val="480"/>
              </a:spcBef>
              <a:spcAft>
                <a:spcPts val="0"/>
              </a:spcAft>
              <a:buSzPts val="2400"/>
              <a:buChar char="•"/>
            </a:pPr>
            <a:r>
              <a:rPr lang="en-US"/>
              <a:t>Firebase Cloud - </a:t>
            </a:r>
            <a:r>
              <a:rPr lang="en-US"/>
              <a:t>Firebase</a:t>
            </a:r>
            <a:r>
              <a:rPr lang="en-US"/>
              <a:t> Authentication, </a:t>
            </a:r>
            <a:r>
              <a:rPr lang="en-US"/>
              <a:t>Firebase</a:t>
            </a:r>
            <a:r>
              <a:rPr lang="en-US"/>
              <a:t> FireStore </a:t>
            </a:r>
            <a:endParaRPr/>
          </a:p>
          <a:p>
            <a:pPr indent="-381000" lvl="0" marL="457200" rtl="0" algn="just">
              <a:lnSpc>
                <a:spcPct val="150000"/>
              </a:lnSpc>
              <a:spcBef>
                <a:spcPts val="480"/>
              </a:spcBef>
              <a:spcAft>
                <a:spcPts val="0"/>
              </a:spcAft>
              <a:buSzPts val="2400"/>
              <a:buChar char="•"/>
            </a:pPr>
            <a:r>
              <a:rPr lang="en-US"/>
              <a:t>Map API         -  OpenStreetMap  for security and Geofencing</a:t>
            </a:r>
            <a:endParaRPr/>
          </a:p>
          <a:p>
            <a:pPr indent="-381000" lvl="0" marL="457200" rtl="0" algn="just">
              <a:lnSpc>
                <a:spcPct val="150000"/>
              </a:lnSpc>
              <a:spcBef>
                <a:spcPts val="480"/>
              </a:spcBef>
              <a:spcAft>
                <a:spcPts val="0"/>
              </a:spcAft>
              <a:buSzPts val="2400"/>
              <a:buChar char="•"/>
            </a:pPr>
            <a:r>
              <a:rPr lang="en-US"/>
              <a:t>Weather API    -  to provide </a:t>
            </a:r>
            <a:r>
              <a:rPr lang="en-US"/>
              <a:t>weather</a:t>
            </a:r>
            <a:r>
              <a:rPr lang="en-US"/>
              <a:t> details to participants</a:t>
            </a:r>
            <a:endParaRPr/>
          </a:p>
          <a:p>
            <a:pPr indent="-381000" lvl="0" marL="457200" rtl="0" algn="just">
              <a:lnSpc>
                <a:spcPct val="150000"/>
              </a:lnSpc>
              <a:spcBef>
                <a:spcPts val="480"/>
              </a:spcBef>
              <a:spcAft>
                <a:spcPts val="0"/>
              </a:spcAft>
              <a:buSzPts val="2400"/>
              <a:buChar char="•"/>
            </a:pPr>
            <a:r>
              <a:rPr lang="en-US"/>
              <a:t>GeoLocator      -  to implement Geofencing </a:t>
            </a:r>
            <a:endParaRPr/>
          </a:p>
        </p:txBody>
      </p:sp>
      <p:sp>
        <p:nvSpPr>
          <p:cNvPr id="95" name="Google Shape;95;g335c1d201b2_0_3"/>
          <p:cNvSpPr txBox="1"/>
          <p:nvPr>
            <p:ph idx="12" type="sldNum"/>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3300"/>
              </a:buClr>
              <a:buSzPts val="1400"/>
              <a:buFont typeface="Times New Roman"/>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title"/>
          </p:nvPr>
        </p:nvSpPr>
        <p:spPr>
          <a:xfrm>
            <a:off x="0" y="0"/>
            <a:ext cx="9144000" cy="517500"/>
          </a:xfrm>
          <a:prstGeom prst="rect">
            <a:avLst/>
          </a:prstGeom>
          <a:noFill/>
          <a:ln>
            <a:noFill/>
          </a:ln>
        </p:spPr>
        <p:txBody>
          <a:bodyPr anchorCtr="0" anchor="ctr" bIns="45700" lIns="91425" spcFirstLastPara="1" rIns="91425" wrap="square" tIns="45700">
            <a:noAutofit/>
          </a:bodyPr>
          <a:lstStyle/>
          <a:p>
            <a:pPr indent="45720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Methodology  to Implement </a:t>
            </a:r>
            <a:r>
              <a:rPr lang="en-US"/>
              <a:t>TripSync</a:t>
            </a:r>
            <a:endParaRPr/>
          </a:p>
        </p:txBody>
      </p:sp>
      <p:sp>
        <p:nvSpPr>
          <p:cNvPr id="101" name="Google Shape;101;p9"/>
          <p:cNvSpPr txBox="1"/>
          <p:nvPr/>
        </p:nvSpPr>
        <p:spPr>
          <a:xfrm>
            <a:off x="198300" y="6437675"/>
            <a:ext cx="10524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02" name="Google Shape;102;p9"/>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03" name="Google Shape;103;p9"/>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104" name="Google Shape;104;p9" title="figure1.png"/>
          <p:cNvPicPr preferRelativeResize="0"/>
          <p:nvPr/>
        </p:nvPicPr>
        <p:blipFill rotWithShape="1">
          <a:blip r:embed="rId3">
            <a:alphaModFix/>
          </a:blip>
          <a:srcRect b="0" l="0" r="0" t="0"/>
          <a:stretch/>
        </p:blipFill>
        <p:spPr>
          <a:xfrm>
            <a:off x="152400" y="517525"/>
            <a:ext cx="8839199" cy="60248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35bed0db97_0_122"/>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457200" lvl="0" marL="0" rtl="0" algn="ctr">
              <a:lnSpc>
                <a:spcPct val="100000"/>
              </a:lnSpc>
              <a:spcBef>
                <a:spcPts val="0"/>
              </a:spcBef>
              <a:spcAft>
                <a:spcPts val="0"/>
              </a:spcAft>
              <a:buSzPts val="1400"/>
              <a:buNone/>
            </a:pPr>
            <a:r>
              <a:t/>
            </a:r>
            <a:endParaRPr/>
          </a:p>
          <a:p>
            <a:pPr indent="457200" lvl="0" marL="0" rtl="0" algn="ctr">
              <a:lnSpc>
                <a:spcPct val="100000"/>
              </a:lnSpc>
              <a:spcBef>
                <a:spcPts val="0"/>
              </a:spcBef>
              <a:spcAft>
                <a:spcPts val="0"/>
              </a:spcAft>
              <a:buClr>
                <a:srgbClr val="006600"/>
              </a:buClr>
              <a:buSzPts val="3200"/>
              <a:buFont typeface="Times New Roman"/>
              <a:buNone/>
            </a:pPr>
            <a:r>
              <a:t/>
            </a:r>
            <a:endParaRPr/>
          </a:p>
          <a:p>
            <a:pPr indent="457200" lvl="0" marL="0" rtl="0" algn="ctr">
              <a:lnSpc>
                <a:spcPct val="100000"/>
              </a:lnSpc>
              <a:spcBef>
                <a:spcPts val="0"/>
              </a:spcBef>
              <a:spcAft>
                <a:spcPts val="0"/>
              </a:spcAft>
              <a:buClr>
                <a:srgbClr val="006600"/>
              </a:buClr>
              <a:buSzPts val="3200"/>
              <a:buFont typeface="Times New Roman"/>
              <a:buNone/>
            </a:pPr>
            <a:r>
              <a:rPr lang="en-US"/>
              <a:t>Details of Modules Implemented in TripSync Management</a:t>
            </a:r>
            <a:endParaRPr/>
          </a:p>
          <a:p>
            <a:pPr indent="0" lvl="0" marL="0" rtl="0" algn="ctr">
              <a:lnSpc>
                <a:spcPct val="100000"/>
              </a:lnSpc>
              <a:spcBef>
                <a:spcPts val="0"/>
              </a:spcBef>
              <a:spcAft>
                <a:spcPts val="0"/>
              </a:spcAft>
              <a:buSzPts val="1400"/>
              <a:buNone/>
            </a:pPr>
            <a:r>
              <a:t/>
            </a:r>
            <a:endParaRPr/>
          </a:p>
        </p:txBody>
      </p:sp>
      <p:sp>
        <p:nvSpPr>
          <p:cNvPr id="111" name="Google Shape;111;g335bed0db97_0_122"/>
          <p:cNvSpPr txBox="1"/>
          <p:nvPr>
            <p:ph idx="1" type="body"/>
          </p:nvPr>
        </p:nvSpPr>
        <p:spPr>
          <a:xfrm>
            <a:off x="0" y="609674"/>
            <a:ext cx="9144000" cy="57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SzPts val="2400"/>
              <a:buNone/>
            </a:pPr>
            <a:r>
              <a:t/>
            </a:r>
            <a:endParaRPr/>
          </a:p>
        </p:txBody>
      </p:sp>
      <p:sp>
        <p:nvSpPr>
          <p:cNvPr id="112" name="Google Shape;112;g335bed0db97_0_122"/>
          <p:cNvSpPr txBox="1"/>
          <p:nvPr>
            <p:ph idx="12" type="sldNum"/>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3300"/>
              </a:buClr>
              <a:buSzPts val="1400"/>
              <a:buFont typeface="Times New Roman"/>
              <a:buNone/>
            </a:pPr>
            <a:fld id="{00000000-1234-1234-1234-123412341234}" type="slidenum">
              <a:rPr lang="en-US"/>
              <a:t>‹#›</a:t>
            </a:fld>
            <a:endParaRPr/>
          </a:p>
        </p:txBody>
      </p:sp>
      <p:pic>
        <p:nvPicPr>
          <p:cNvPr id="113" name="Google Shape;113;g335bed0db97_0_122" title="figure2.png"/>
          <p:cNvPicPr preferRelativeResize="0"/>
          <p:nvPr/>
        </p:nvPicPr>
        <p:blipFill rotWithShape="1">
          <a:blip r:embed="rId3">
            <a:alphaModFix/>
          </a:blip>
          <a:srcRect b="0" l="0" r="0" t="0"/>
          <a:stretch/>
        </p:blipFill>
        <p:spPr>
          <a:xfrm>
            <a:off x="0" y="609600"/>
            <a:ext cx="9144000" cy="57730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txBox="1"/>
          <p:nvPr>
            <p:ph type="title"/>
          </p:nvPr>
        </p:nvSpPr>
        <p:spPr>
          <a:xfrm>
            <a:off x="-7620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lang="en-US"/>
              <a:t>Trip Management Module </a:t>
            </a:r>
            <a:endParaRPr/>
          </a:p>
        </p:txBody>
      </p:sp>
      <p:sp>
        <p:nvSpPr>
          <p:cNvPr id="119" name="Google Shape;119;p10"/>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SzPts val="2400"/>
              <a:buNone/>
            </a:pPr>
            <a:r>
              <a:rPr b="1" lang="en-US">
                <a:solidFill>
                  <a:srgbClr val="006600"/>
                </a:solidFill>
                <a:latin typeface="Arial"/>
                <a:ea typeface="Arial"/>
                <a:cs typeface="Arial"/>
                <a:sym typeface="Arial"/>
              </a:rPr>
              <a:t>Trip Rooms</a:t>
            </a:r>
            <a:endParaRPr b="1">
              <a:solidFill>
                <a:srgbClr val="006600"/>
              </a:solidFill>
              <a:latin typeface="Arial"/>
              <a:ea typeface="Arial"/>
              <a:cs typeface="Arial"/>
              <a:sym typeface="Arial"/>
            </a:endParaRPr>
          </a:p>
          <a:p>
            <a:pPr indent="0" lvl="0" marL="0" rtl="0" algn="l">
              <a:lnSpc>
                <a:spcPct val="115000"/>
              </a:lnSpc>
              <a:spcBef>
                <a:spcPts val="1200"/>
              </a:spcBef>
              <a:spcAft>
                <a:spcPts val="0"/>
              </a:spcAft>
              <a:buSzPts val="2400"/>
              <a:buNone/>
            </a:pPr>
            <a:r>
              <a:rPr lang="en-US" sz="1800"/>
              <a:t>One of the core functionalities of TripSync is the ability to create and manage Trip Rooms. This feature enables trip organizers to establish dedicated virtual spaces where participants can join, collaborate, and access important trip-related information. It ensures that all members stay connected and informed throughout the trip, eliminating confusion and miscommunication.</a:t>
            </a:r>
            <a:endParaRPr sz="1800">
              <a:solidFill>
                <a:schemeClr val="dk1"/>
              </a:solidFill>
              <a:latin typeface="Arial"/>
              <a:ea typeface="Arial"/>
              <a:cs typeface="Arial"/>
              <a:sym typeface="Arial"/>
            </a:endParaRPr>
          </a:p>
          <a:p>
            <a:pPr indent="0" lvl="0" marL="0" rtl="0" algn="l">
              <a:lnSpc>
                <a:spcPct val="115000"/>
              </a:lnSpc>
              <a:spcBef>
                <a:spcPts val="1400"/>
              </a:spcBef>
              <a:spcAft>
                <a:spcPts val="0"/>
              </a:spcAft>
              <a:buSzPts val="2400"/>
              <a:buNone/>
            </a:pPr>
            <a:r>
              <a:rPr b="1" lang="en-US">
                <a:solidFill>
                  <a:srgbClr val="006600"/>
                </a:solidFill>
                <a:latin typeface="Arial"/>
                <a:ea typeface="Arial"/>
                <a:cs typeface="Arial"/>
                <a:sym typeface="Arial"/>
              </a:rPr>
              <a:t>Key Features of Trip Rooms:</a:t>
            </a:r>
            <a:endParaRPr b="1">
              <a:solidFill>
                <a:srgbClr val="006600"/>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800"/>
              <a:t>Create and Join Trips: Organizers can create trip rooms, and participants can join using unique access codes.</a:t>
            </a:r>
            <a:endParaRPr sz="1800"/>
          </a:p>
          <a:p>
            <a:pPr indent="-298450" lvl="0" marL="457200" rtl="0" algn="l">
              <a:lnSpc>
                <a:spcPct val="115000"/>
              </a:lnSpc>
              <a:spcBef>
                <a:spcPts val="0"/>
              </a:spcBef>
              <a:spcAft>
                <a:spcPts val="0"/>
              </a:spcAft>
              <a:buClr>
                <a:schemeClr val="dk1"/>
              </a:buClr>
              <a:buSzPts val="1100"/>
              <a:buChar char="●"/>
            </a:pPr>
            <a:r>
              <a:rPr lang="en-US" sz="1800"/>
              <a:t>Assign Co-Organizers: Organizers have the authority to assign co-organizers to assist in managing the trip. This ensures efficient delegation of responsibilities and seamless trip coordination.</a:t>
            </a:r>
            <a:endParaRPr sz="1800"/>
          </a:p>
          <a:p>
            <a:pPr indent="-298450" lvl="0" marL="457200" rtl="0" algn="l">
              <a:lnSpc>
                <a:spcPct val="115000"/>
              </a:lnSpc>
              <a:spcBef>
                <a:spcPts val="0"/>
              </a:spcBef>
              <a:spcAft>
                <a:spcPts val="0"/>
              </a:spcAft>
              <a:buClr>
                <a:schemeClr val="dk1"/>
              </a:buClr>
              <a:buSzPts val="1100"/>
              <a:buChar char="●"/>
            </a:pPr>
            <a:r>
              <a:rPr lang="en-US" sz="1800"/>
              <a:t>Real-Time Updates: Any changes in the itinerary, expenses, or announcements are instantly updated for all trip members, keeping them informed throughout the journey.</a:t>
            </a:r>
            <a:endParaRPr sz="1100">
              <a:solidFill>
                <a:schemeClr val="dk1"/>
              </a:solidFill>
              <a:latin typeface="Arial"/>
              <a:ea typeface="Arial"/>
              <a:cs typeface="Arial"/>
              <a:sym typeface="Arial"/>
            </a:endParaRPr>
          </a:p>
          <a:p>
            <a:pPr indent="0" lvl="0" marL="342900" marR="0" rtl="0" algn="l">
              <a:lnSpc>
                <a:spcPct val="100000"/>
              </a:lnSpc>
              <a:spcBef>
                <a:spcPts val="1200"/>
              </a:spcBef>
              <a:spcAft>
                <a:spcPts val="0"/>
              </a:spcAft>
              <a:buSzPts val="2400"/>
              <a:buNone/>
            </a:pPr>
            <a:r>
              <a:t/>
            </a:r>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p:txBody>
      </p:sp>
      <p:sp>
        <p:nvSpPr>
          <p:cNvPr id="120" name="Google Shape;120;p10"/>
          <p:cNvSpPr txBox="1"/>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21" name="Google Shape;121;p10"/>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22" name="Google Shape;122;p10"/>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200"/>
              </a:spcBef>
              <a:spcAft>
                <a:spcPts val="0"/>
              </a:spcAft>
              <a:buClr>
                <a:schemeClr val="dk1"/>
              </a:buClr>
              <a:buSzPts val="2400"/>
              <a:buFont typeface="Arial"/>
              <a:buNone/>
            </a:pPr>
            <a:r>
              <a:rPr lang="en-US" sz="2400">
                <a:latin typeface="Arial"/>
                <a:ea typeface="Arial"/>
                <a:cs typeface="Arial"/>
                <a:sym typeface="Arial"/>
              </a:rPr>
              <a:t>Itinerary Planner Module</a:t>
            </a:r>
            <a:endParaRPr/>
          </a:p>
        </p:txBody>
      </p:sp>
      <p:sp>
        <p:nvSpPr>
          <p:cNvPr id="128" name="Google Shape;128;p11"/>
          <p:cNvSpPr txBox="1"/>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29" name="Google Shape;129;p11"/>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30" name="Google Shape;130;p11"/>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1" name="Google Shape;131;p11"/>
          <p:cNvSpPr txBox="1"/>
          <p:nvPr/>
        </p:nvSpPr>
        <p:spPr>
          <a:xfrm>
            <a:off x="289150" y="609600"/>
            <a:ext cx="8293800" cy="5408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Itinerary Planner allows organizers to create and share detailed trip schedules with all participants. It provides a structured plan for activities, helping to eliminate confusion and ensure everyone is on the same page.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400"/>
              <a:buFont typeface="Arial"/>
              <a:buNone/>
            </a:pPr>
            <a:r>
              <a:rPr b="1" i="0" lang="en-US" sz="2400" u="none" cap="none" strike="noStrike">
                <a:solidFill>
                  <a:srgbClr val="006600"/>
                </a:solidFill>
                <a:latin typeface="Arial"/>
                <a:ea typeface="Arial"/>
                <a:cs typeface="Arial"/>
                <a:sym typeface="Arial"/>
              </a:rPr>
              <a:t>Key Features: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Detailed Schedules: Organizers can create day-to-day itineraries, including event descriptions, locations, and timings.</a:t>
            </a:r>
            <a:endParaRPr b="0" i="0" sz="1800" u="none" cap="none" strike="noStrike">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t/>
            </a:r>
            <a:endParaRPr sz="1800">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Real-Time Modifications: Unlike traditional itinerary tools, TripSync’s planner is dynamic, allowing changes even while the trip is ongoing. Participants get instant updates on any schedule modifications.</a:t>
            </a:r>
            <a:endParaRPr b="0" i="0" sz="1800" u="none" cap="none" strike="noStrike">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t/>
            </a:r>
            <a:endParaRPr sz="1800">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Enhanced Coordination: By ensuring every participant has access to the latest itinerary, this feature eliminates confusion and keeps everyone informed about the planned activities and timings.</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2"/>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Clr>
                <a:schemeClr val="dk1"/>
              </a:buClr>
              <a:buSzPts val="2400"/>
              <a:buFont typeface="Arial"/>
              <a:buNone/>
            </a:pPr>
            <a:r>
              <a:t/>
            </a:r>
            <a:endParaRPr sz="2400">
              <a:latin typeface="Arial"/>
              <a:ea typeface="Arial"/>
              <a:cs typeface="Arial"/>
              <a:sym typeface="Arial"/>
            </a:endParaRPr>
          </a:p>
          <a:p>
            <a:pPr indent="0" lvl="0" marL="0" rtl="0" algn="ctr">
              <a:lnSpc>
                <a:spcPct val="115000"/>
              </a:lnSpc>
              <a:spcBef>
                <a:spcPts val="1800"/>
              </a:spcBef>
              <a:spcAft>
                <a:spcPts val="0"/>
              </a:spcAft>
              <a:buNone/>
            </a:pPr>
            <a:r>
              <a:rPr lang="en-US" sz="2400">
                <a:latin typeface="Arial"/>
                <a:ea typeface="Arial"/>
                <a:cs typeface="Arial"/>
                <a:sym typeface="Arial"/>
              </a:rPr>
              <a:t>Integrated Chatroom and Communication Tools</a:t>
            </a:r>
            <a:endParaRPr sz="1700">
              <a:solidFill>
                <a:schemeClr val="dk1"/>
              </a:solidFill>
              <a:latin typeface="Arial"/>
              <a:ea typeface="Arial"/>
              <a:cs typeface="Arial"/>
              <a:sym typeface="Arial"/>
            </a:endParaRPr>
          </a:p>
          <a:p>
            <a:pPr indent="0" lvl="0" marL="0" rtl="0" algn="ctr">
              <a:lnSpc>
                <a:spcPct val="100000"/>
              </a:lnSpc>
              <a:spcBef>
                <a:spcPts val="0"/>
              </a:spcBef>
              <a:spcAft>
                <a:spcPts val="0"/>
              </a:spcAft>
              <a:buClr>
                <a:srgbClr val="006600"/>
              </a:buClr>
              <a:buSzPts val="3200"/>
              <a:buFont typeface="Times New Roman"/>
              <a:buNone/>
            </a:pPr>
            <a:r>
              <a:t/>
            </a:r>
            <a:endParaRPr/>
          </a:p>
        </p:txBody>
      </p:sp>
      <p:sp>
        <p:nvSpPr>
          <p:cNvPr id="137" name="Google Shape;137;p12"/>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38" name="Google Shape;138;p12"/>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9" name="Google Shape;139;p12"/>
          <p:cNvSpPr txBox="1"/>
          <p:nvPr/>
        </p:nvSpPr>
        <p:spPr>
          <a:xfrm>
            <a:off x="316250" y="975875"/>
            <a:ext cx="8248500" cy="51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2400"/>
              <a:buFont typeface="Arial"/>
              <a:buNone/>
            </a:pPr>
            <a:r>
              <a:rPr b="0" i="0" lang="en-US" sz="1800" u="none" cap="none" strike="noStrike">
                <a:solidFill>
                  <a:srgbClr val="0000FF"/>
                </a:solidFill>
                <a:latin typeface="Times New Roman"/>
                <a:ea typeface="Times New Roman"/>
                <a:cs typeface="Times New Roman"/>
                <a:sym typeface="Times New Roman"/>
              </a:rPr>
              <a:t>Communication is an essential aspect of successful trip coordination. TripSync offers a built-in chatroom to facilitate seamless communication among group members.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400"/>
              <a:buFont typeface="Arial"/>
              <a:buNone/>
            </a:pPr>
            <a:r>
              <a:rPr b="1" i="0" lang="en-US" sz="2400" u="none" cap="none" strike="noStrike">
                <a:solidFill>
                  <a:srgbClr val="006600"/>
                </a:solidFill>
                <a:latin typeface="Arial"/>
                <a:ea typeface="Arial"/>
                <a:cs typeface="Arial"/>
                <a:sym typeface="Arial"/>
              </a:rPr>
              <a:t>Key Features: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Dedicated Chatroom: Unlike third-party messaging apps, TripSync’s chatroom is exclusively designed for trip-related conversations, ensuring all important discussions stay in one place</a:t>
            </a:r>
            <a:endParaRPr sz="1800">
              <a:solidFill>
                <a:srgbClr val="0000FF"/>
              </a:solidFill>
              <a:latin typeface="Times New Roman"/>
              <a:ea typeface="Times New Roman"/>
              <a:cs typeface="Times New Roman"/>
              <a:sym typeface="Times New Roman"/>
            </a:endParaRPr>
          </a:p>
          <a:p>
            <a:pPr indent="0" lvl="0" marL="457200" marR="0" rtl="0" algn="l">
              <a:lnSpc>
                <a:spcPct val="115000"/>
              </a:lnSpc>
              <a:spcBef>
                <a:spcPts val="1200"/>
              </a:spcBef>
              <a:spcAft>
                <a:spcPts val="0"/>
              </a:spcAft>
              <a:buNone/>
            </a:pPr>
            <a:r>
              <a:t/>
            </a:r>
            <a:endParaRPr sz="1800">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Announcements Feature: Organizers can post important trip updates, last-minute changes, reminders, and emergency messages using a dedicated announcement section</a:t>
            </a:r>
            <a:endParaRPr b="0" i="0" sz="18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1800">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Polling System: Organizers and members can create polls for group decisions. This feature allows participants to vote on crucial trip aspects such as preferred destinations, meal choices, and activity preferences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800"/>
              </a:spcBef>
              <a:spcAft>
                <a:spcPts val="0"/>
              </a:spcAft>
              <a:buClr>
                <a:schemeClr val="dk1"/>
              </a:buClr>
              <a:buSzPts val="1100"/>
              <a:buFont typeface="Arial"/>
              <a:buNone/>
            </a:pPr>
            <a:r>
              <a:t/>
            </a:r>
            <a:endParaRPr sz="2400">
              <a:latin typeface="Arial"/>
              <a:ea typeface="Arial"/>
              <a:cs typeface="Arial"/>
              <a:sym typeface="Arial"/>
            </a:endParaRPr>
          </a:p>
          <a:p>
            <a:pPr indent="0" lvl="0" marL="0" rtl="0" algn="ctr">
              <a:lnSpc>
                <a:spcPct val="115000"/>
              </a:lnSpc>
              <a:spcBef>
                <a:spcPts val="1800"/>
              </a:spcBef>
              <a:spcAft>
                <a:spcPts val="0"/>
              </a:spcAft>
              <a:buClr>
                <a:schemeClr val="dk1"/>
              </a:buClr>
              <a:buSzPts val="1100"/>
              <a:buFont typeface="Arial"/>
              <a:buNone/>
            </a:pPr>
            <a:r>
              <a:rPr lang="en-US" sz="2400">
                <a:latin typeface="Arial"/>
                <a:ea typeface="Arial"/>
                <a:cs typeface="Arial"/>
                <a:sym typeface="Arial"/>
              </a:rPr>
              <a:t>Expense Management Module t</a:t>
            </a:r>
            <a:endParaRPr sz="1700">
              <a:solidFill>
                <a:schemeClr val="dk1"/>
              </a:solidFill>
              <a:latin typeface="Arial"/>
              <a:ea typeface="Arial"/>
              <a:cs typeface="Arial"/>
              <a:sym typeface="Arial"/>
            </a:endParaRPr>
          </a:p>
          <a:p>
            <a:pPr indent="0" lvl="0" marL="0" rtl="0" algn="ctr">
              <a:lnSpc>
                <a:spcPct val="100000"/>
              </a:lnSpc>
              <a:spcBef>
                <a:spcPts val="0"/>
              </a:spcBef>
              <a:spcAft>
                <a:spcPts val="0"/>
              </a:spcAft>
              <a:buClr>
                <a:srgbClr val="006600"/>
              </a:buClr>
              <a:buSzPts val="3200"/>
              <a:buFont typeface="Times New Roman"/>
              <a:buNone/>
            </a:pPr>
            <a:r>
              <a:t/>
            </a:r>
            <a:endParaRPr/>
          </a:p>
        </p:txBody>
      </p:sp>
      <p:sp>
        <p:nvSpPr>
          <p:cNvPr id="145" name="Google Shape;145;p13"/>
          <p:cNvSpPr txBox="1"/>
          <p:nvPr>
            <p:ph idx="1" type="body"/>
          </p:nvPr>
        </p:nvSpPr>
        <p:spPr>
          <a:xfrm>
            <a:off x="0" y="673513"/>
            <a:ext cx="9144000" cy="580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lang="en-US" sz="1800"/>
              <a:t>Managing shared expenses can often lead to disputes among trip participants. TripSync simplifies this process with its automated expense tracker, ensuring transparency and fair cost distribution.</a:t>
            </a:r>
            <a:endParaRPr sz="1100">
              <a:solidFill>
                <a:schemeClr val="dk1"/>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a:solidFill>
                  <a:srgbClr val="006600"/>
                </a:solidFill>
                <a:latin typeface="Arial"/>
                <a:ea typeface="Arial"/>
                <a:cs typeface="Arial"/>
                <a:sym typeface="Arial"/>
              </a:rPr>
              <a:t>Key Features:</a:t>
            </a:r>
            <a:endParaRPr b="1" sz="13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800"/>
              <a:t>Automated Expense Tracker: Users can input expenses, specify contributors, and receive instant cost-sharing calculations.</a:t>
            </a:r>
            <a:endParaRPr sz="1800"/>
          </a:p>
          <a:p>
            <a:pPr indent="-298450" lvl="0" marL="457200" rtl="0" algn="l">
              <a:lnSpc>
                <a:spcPct val="115000"/>
              </a:lnSpc>
              <a:spcBef>
                <a:spcPts val="0"/>
              </a:spcBef>
              <a:spcAft>
                <a:spcPts val="0"/>
              </a:spcAft>
              <a:buClr>
                <a:schemeClr val="dk1"/>
              </a:buClr>
              <a:buSzPts val="1100"/>
              <a:buChar char="●"/>
            </a:pPr>
            <a:r>
              <a:rPr lang="en-US" sz="1800"/>
              <a:t>Expense Categorization: Participants can log personal spending and categorize expenses such as food, travel, accommodation, and activities.</a:t>
            </a:r>
            <a:endParaRPr sz="1800"/>
          </a:p>
          <a:p>
            <a:pPr indent="-298450" lvl="0" marL="457200" rtl="0" algn="l">
              <a:lnSpc>
                <a:spcPct val="115000"/>
              </a:lnSpc>
              <a:spcBef>
                <a:spcPts val="0"/>
              </a:spcBef>
              <a:spcAft>
                <a:spcPts val="0"/>
              </a:spcAft>
              <a:buClr>
                <a:schemeClr val="dk1"/>
              </a:buClr>
              <a:buSzPts val="1100"/>
              <a:buChar char="●"/>
            </a:pPr>
            <a:r>
              <a:rPr lang="en-US" sz="1800"/>
              <a:t>Shared Expenses Management: This feature has two modes:</a:t>
            </a:r>
            <a:endParaRPr sz="1800"/>
          </a:p>
          <a:p>
            <a:pPr indent="-298450" lvl="1" marL="914400" rtl="0" algn="l">
              <a:lnSpc>
                <a:spcPct val="115000"/>
              </a:lnSpc>
              <a:spcBef>
                <a:spcPts val="0"/>
              </a:spcBef>
              <a:spcAft>
                <a:spcPts val="0"/>
              </a:spcAft>
              <a:buClr>
                <a:schemeClr val="dk1"/>
              </a:buClr>
              <a:buSzPts val="1100"/>
              <a:buChar char="○"/>
            </a:pPr>
            <a:r>
              <a:rPr lang="en-US" sz="1800">
                <a:solidFill>
                  <a:srgbClr val="0000FF"/>
                </a:solidFill>
              </a:rPr>
              <a:t>Organizer Mode: Organizers can enter shared expenses and assign payments to specific participants. At the end of the trip, the app calculates individual balances and suggests optimal reimbursements to ensure fair cost-sharing.</a:t>
            </a:r>
            <a:endParaRPr sz="1800">
              <a:solidFill>
                <a:srgbClr val="0000FF"/>
              </a:solidFill>
            </a:endParaRPr>
          </a:p>
          <a:p>
            <a:pPr indent="-298450" lvl="1" marL="914400" rtl="0" algn="l">
              <a:lnSpc>
                <a:spcPct val="115000"/>
              </a:lnSpc>
              <a:spcBef>
                <a:spcPts val="0"/>
              </a:spcBef>
              <a:spcAft>
                <a:spcPts val="0"/>
              </a:spcAft>
              <a:buClr>
                <a:schemeClr val="dk1"/>
              </a:buClr>
              <a:buSzPts val="1100"/>
              <a:buChar char="○"/>
            </a:pPr>
            <a:r>
              <a:rPr lang="en-US" sz="1800">
                <a:solidFill>
                  <a:srgbClr val="0000FF"/>
                </a:solidFill>
              </a:rPr>
              <a:t>Personal Expense Tracker: Each participant can track their personal expenses, monitor spending habits, and keep a detailed record of their contributions during the trip.</a:t>
            </a:r>
            <a:endParaRPr sz="1100">
              <a:solidFill>
                <a:schemeClr val="dk1"/>
              </a:solidFill>
              <a:latin typeface="Arial"/>
              <a:ea typeface="Arial"/>
              <a:cs typeface="Arial"/>
              <a:sym typeface="Arial"/>
            </a:endParaRPr>
          </a:p>
          <a:p>
            <a:pPr indent="0" lvl="1" marL="457200" marR="0" rtl="0" algn="l">
              <a:lnSpc>
                <a:spcPct val="100000"/>
              </a:lnSpc>
              <a:spcBef>
                <a:spcPts val="1200"/>
              </a:spcBef>
              <a:spcAft>
                <a:spcPts val="0"/>
              </a:spcAft>
              <a:buClr>
                <a:srgbClr val="9900CC"/>
              </a:buClr>
              <a:buSzPts val="2000"/>
              <a:buFont typeface="Arial"/>
              <a:buNone/>
            </a:pPr>
            <a:r>
              <a:t/>
            </a:r>
            <a:endParaRPr sz="2400">
              <a:solidFill>
                <a:srgbClr val="0000FF"/>
              </a:solidFill>
            </a:endParaRPr>
          </a:p>
          <a:p>
            <a:pPr indent="-3429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604A7B"/>
              </a:buClr>
              <a:buSzPts val="3600"/>
              <a:buFont typeface="Arial"/>
              <a:buNone/>
            </a:pPr>
            <a:r>
              <a:t/>
            </a:r>
            <a:endParaRPr b="0" i="0" sz="3600" u="none">
              <a:solidFill>
                <a:schemeClr val="dk1"/>
              </a:solidFill>
              <a:latin typeface="Arial"/>
              <a:ea typeface="Arial"/>
              <a:cs typeface="Arial"/>
              <a:sym typeface="Arial"/>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555555"/>
              </a:solidFill>
              <a:latin typeface="Helvetica Neue"/>
              <a:ea typeface="Helvetica Neue"/>
              <a:cs typeface="Helvetica Neue"/>
              <a:sym typeface="Helvetica Neue"/>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555555"/>
              </a:solidFill>
              <a:latin typeface="Helvetica Neue"/>
              <a:ea typeface="Helvetica Neue"/>
              <a:cs typeface="Helvetica Neue"/>
              <a:sym typeface="Helvetica Neue"/>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555555"/>
              </a:solidFill>
              <a:latin typeface="Helvetica Neue"/>
              <a:ea typeface="Helvetica Neue"/>
              <a:cs typeface="Helvetica Neue"/>
              <a:sym typeface="Helvetica Neue"/>
            </a:endParaRPr>
          </a:p>
        </p:txBody>
      </p:sp>
      <p:sp>
        <p:nvSpPr>
          <p:cNvPr id="146" name="Google Shape;146;p13"/>
          <p:cNvSpPr txBox="1"/>
          <p:nvPr/>
        </p:nvSpPr>
        <p:spPr>
          <a:xfrm>
            <a:off x="107950" y="6567487"/>
            <a:ext cx="1052512" cy="15398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rPr b="1" i="0" lang="en-US" sz="14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47" name="Google Shape;147;p13"/>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8" name="Google Shape;148;p13"/>
          <p:cNvSpPr txBox="1"/>
          <p:nvPr/>
        </p:nvSpPr>
        <p:spPr>
          <a:xfrm>
            <a:off x="0" y="90487"/>
            <a:ext cx="0" cy="276225"/>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ph type="title"/>
          </p:nvPr>
        </p:nvSpPr>
        <p:spPr>
          <a:xfrm>
            <a:off x="-36150" y="0"/>
            <a:ext cx="9144000" cy="609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Clr>
                <a:schemeClr val="dk1"/>
              </a:buClr>
              <a:buSzPts val="2400"/>
              <a:buFont typeface="Arial"/>
              <a:buNone/>
            </a:pPr>
            <a:r>
              <a:t/>
            </a:r>
            <a:endParaRPr sz="2400">
              <a:latin typeface="Arial"/>
              <a:ea typeface="Arial"/>
              <a:cs typeface="Arial"/>
              <a:sym typeface="Arial"/>
            </a:endParaRPr>
          </a:p>
          <a:p>
            <a:pPr indent="0" lvl="0" marL="0" rtl="0" algn="ctr">
              <a:lnSpc>
                <a:spcPct val="115000"/>
              </a:lnSpc>
              <a:spcBef>
                <a:spcPts val="1800"/>
              </a:spcBef>
              <a:spcAft>
                <a:spcPts val="0"/>
              </a:spcAft>
              <a:buClr>
                <a:schemeClr val="dk1"/>
              </a:buClr>
              <a:buSzPts val="2400"/>
              <a:buFont typeface="Arial"/>
              <a:buNone/>
            </a:pPr>
            <a:r>
              <a:rPr lang="en-US" sz="2400">
                <a:latin typeface="Arial"/>
                <a:ea typeface="Arial"/>
                <a:cs typeface="Arial"/>
                <a:sym typeface="Arial"/>
              </a:rPr>
              <a:t>Security and Location Tracking</a:t>
            </a:r>
            <a:endParaRPr sz="1700">
              <a:solidFill>
                <a:schemeClr val="dk1"/>
              </a:solidFill>
              <a:latin typeface="Arial"/>
              <a:ea typeface="Arial"/>
              <a:cs typeface="Arial"/>
              <a:sym typeface="Arial"/>
            </a:endParaRPr>
          </a:p>
          <a:p>
            <a:pPr indent="0" lvl="0" marL="0" rtl="0" algn="ctr">
              <a:lnSpc>
                <a:spcPct val="100000"/>
              </a:lnSpc>
              <a:spcBef>
                <a:spcPts val="0"/>
              </a:spcBef>
              <a:spcAft>
                <a:spcPts val="0"/>
              </a:spcAft>
              <a:buClr>
                <a:srgbClr val="006600"/>
              </a:buClr>
              <a:buSzPts val="3200"/>
              <a:buFont typeface="Times New Roman"/>
              <a:buNone/>
            </a:pPr>
            <a:r>
              <a:t/>
            </a:r>
            <a:endParaRPr/>
          </a:p>
        </p:txBody>
      </p:sp>
      <p:sp>
        <p:nvSpPr>
          <p:cNvPr id="154" name="Google Shape;154;p15"/>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SzPts val="2400"/>
              <a:buNone/>
            </a:pPr>
            <a:r>
              <a:rPr lang="en-US" sz="1800"/>
              <a:t>Ensuring the safety and security of all participants is a key priority for TripSync. The app offers multiple tracking and security features that enhance user safety during travel.</a:t>
            </a:r>
            <a:endParaRPr sz="1100">
              <a:solidFill>
                <a:schemeClr val="dk1"/>
              </a:solidFill>
              <a:latin typeface="Arial"/>
              <a:ea typeface="Arial"/>
              <a:cs typeface="Arial"/>
              <a:sym typeface="Arial"/>
            </a:endParaRPr>
          </a:p>
          <a:p>
            <a:pPr indent="0" lvl="0" marL="0" rtl="0" algn="l">
              <a:lnSpc>
                <a:spcPct val="115000"/>
              </a:lnSpc>
              <a:spcBef>
                <a:spcPts val="1400"/>
              </a:spcBef>
              <a:spcAft>
                <a:spcPts val="0"/>
              </a:spcAft>
              <a:buSzPts val="2400"/>
              <a:buNone/>
            </a:pPr>
            <a:r>
              <a:rPr b="1" lang="en-US">
                <a:solidFill>
                  <a:srgbClr val="006600"/>
                </a:solidFill>
                <a:latin typeface="Arial"/>
                <a:ea typeface="Arial"/>
                <a:cs typeface="Arial"/>
                <a:sym typeface="Arial"/>
              </a:rPr>
              <a:t>Key Features:</a:t>
            </a:r>
            <a:endParaRPr b="1" sz="13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800"/>
              <a:t>Real-Time Location Tracking: Participants can view the live location of their group members. This is particularly useful for outdoor activities, adventure trips, or crowded locations where people might get separated</a:t>
            </a:r>
            <a:endParaRPr sz="1800"/>
          </a:p>
          <a:p>
            <a:pPr indent="0" lvl="0" marL="457200" rtl="0" algn="l">
              <a:lnSpc>
                <a:spcPct val="115000"/>
              </a:lnSpc>
              <a:spcBef>
                <a:spcPts val="1200"/>
              </a:spcBef>
              <a:spcAft>
                <a:spcPts val="0"/>
              </a:spcAft>
              <a:buNone/>
            </a:pPr>
            <a:r>
              <a:t/>
            </a:r>
            <a:endParaRPr sz="1800"/>
          </a:p>
          <a:p>
            <a:pPr indent="-298450" lvl="0" marL="457200" rtl="0" algn="l">
              <a:lnSpc>
                <a:spcPct val="115000"/>
              </a:lnSpc>
              <a:spcBef>
                <a:spcPts val="0"/>
              </a:spcBef>
              <a:spcAft>
                <a:spcPts val="0"/>
              </a:spcAft>
              <a:buClr>
                <a:schemeClr val="dk1"/>
              </a:buClr>
              <a:buSzPts val="1100"/>
              <a:buChar char="●"/>
            </a:pPr>
            <a:r>
              <a:rPr lang="en-US" sz="1800"/>
              <a:t>Manual Location Sharing: Users have the option to share their location when needed, ensuring privacy while still allowing for quick assistance in emergencies</a:t>
            </a:r>
            <a:endParaRPr sz="1800"/>
          </a:p>
          <a:p>
            <a:pPr indent="0" lvl="0" marL="457200" rtl="0" algn="l">
              <a:lnSpc>
                <a:spcPct val="115000"/>
              </a:lnSpc>
              <a:spcBef>
                <a:spcPts val="0"/>
              </a:spcBef>
              <a:spcAft>
                <a:spcPts val="0"/>
              </a:spcAft>
              <a:buNone/>
            </a:pPr>
            <a:r>
              <a:t/>
            </a:r>
            <a:endParaRPr sz="1800"/>
          </a:p>
          <a:p>
            <a:pPr indent="-298450" lvl="0" marL="457200" rtl="0" algn="l">
              <a:lnSpc>
                <a:spcPct val="115000"/>
              </a:lnSpc>
              <a:spcBef>
                <a:spcPts val="0"/>
              </a:spcBef>
              <a:spcAft>
                <a:spcPts val="0"/>
              </a:spcAft>
              <a:buClr>
                <a:schemeClr val="dk1"/>
              </a:buClr>
              <a:buSzPts val="1100"/>
              <a:buChar char="●"/>
            </a:pPr>
            <a:r>
              <a:rPr lang="en-US" sz="1800"/>
              <a:t>Customizable Alerts: Organizers can set a custom radius for location alerts. If a participant moves beyond this radius, an immediate notification is sent to the group, allowing quick response in case of emergencies.</a:t>
            </a:r>
            <a:endParaRPr sz="1100">
              <a:solidFill>
                <a:schemeClr val="dk1"/>
              </a:solidFill>
              <a:latin typeface="Arial"/>
              <a:ea typeface="Arial"/>
              <a:cs typeface="Arial"/>
              <a:sym typeface="Arial"/>
            </a:endParaRPr>
          </a:p>
          <a:p>
            <a:pPr indent="0" lvl="0" marL="0" marR="0" rtl="0" algn="just">
              <a:lnSpc>
                <a:spcPct val="100000"/>
              </a:lnSpc>
              <a:spcBef>
                <a:spcPts val="1200"/>
              </a:spcBef>
              <a:spcAft>
                <a:spcPts val="0"/>
              </a:spcAft>
              <a:buSzPts val="2400"/>
              <a:buNone/>
            </a:pPr>
            <a:r>
              <a:t/>
            </a:r>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Roboto"/>
              <a:ea typeface="Roboto"/>
              <a:cs typeface="Roboto"/>
              <a:sym typeface="Roboto"/>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rgbClr val="604A7B"/>
              </a:buClr>
              <a:buSzPts val="2400"/>
              <a:buFont typeface="Arial"/>
              <a:buNone/>
            </a:pPr>
            <a:r>
              <a:t/>
            </a:r>
            <a:endParaRPr b="0" i="0" sz="2400" u="none">
              <a:solidFill>
                <a:srgbClr val="0000FF"/>
              </a:solidFill>
              <a:latin typeface="Times New Roman"/>
              <a:ea typeface="Times New Roman"/>
              <a:cs typeface="Times New Roman"/>
              <a:sym typeface="Times New Roman"/>
            </a:endParaRPr>
          </a:p>
        </p:txBody>
      </p:sp>
      <p:sp>
        <p:nvSpPr>
          <p:cNvPr id="155" name="Google Shape;155;p15"/>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56" name="Google Shape;156;p15"/>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800"/>
              </a:spcBef>
              <a:spcAft>
                <a:spcPts val="0"/>
              </a:spcAft>
              <a:buClr>
                <a:schemeClr val="dk1"/>
              </a:buClr>
              <a:buSzPts val="2400"/>
              <a:buFont typeface="Arial"/>
              <a:buNone/>
            </a:pPr>
            <a:r>
              <a:rPr lang="en-US" sz="2400">
                <a:latin typeface="Arial"/>
                <a:ea typeface="Arial"/>
                <a:cs typeface="Arial"/>
                <a:sym typeface="Arial"/>
              </a:rPr>
              <a:t>Shared Media Repository Module</a:t>
            </a:r>
            <a:endParaRPr/>
          </a:p>
        </p:txBody>
      </p:sp>
      <p:sp>
        <p:nvSpPr>
          <p:cNvPr id="162" name="Google Shape;162;p16"/>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63" name="Google Shape;163;p16"/>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4" name="Google Shape;164;p16"/>
          <p:cNvSpPr txBox="1"/>
          <p:nvPr/>
        </p:nvSpPr>
        <p:spPr>
          <a:xfrm>
            <a:off x="524075" y="1111375"/>
            <a:ext cx="8013600" cy="5056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TripSync includes a shared media repository where participants can upload and access trip-related content such as photos, videos, and documents.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400"/>
              <a:buFont typeface="Arial"/>
              <a:buNone/>
            </a:pPr>
            <a:r>
              <a:t/>
            </a:r>
            <a:endParaRPr b="1" sz="2400">
              <a:solidFill>
                <a:srgbClr val="006600"/>
              </a:solidFill>
            </a:endParaRPr>
          </a:p>
          <a:p>
            <a:pPr indent="0" lvl="0" marL="0" marR="0" rtl="0" algn="l">
              <a:lnSpc>
                <a:spcPct val="115000"/>
              </a:lnSpc>
              <a:spcBef>
                <a:spcPts val="1400"/>
              </a:spcBef>
              <a:spcAft>
                <a:spcPts val="0"/>
              </a:spcAft>
              <a:buClr>
                <a:srgbClr val="000000"/>
              </a:buClr>
              <a:buSzPts val="2400"/>
              <a:buFont typeface="Arial"/>
              <a:buNone/>
            </a:pPr>
            <a:r>
              <a:rPr b="1" i="0" lang="en-US" sz="2400" u="none" cap="none" strike="noStrike">
                <a:solidFill>
                  <a:srgbClr val="006600"/>
                </a:solidFill>
                <a:latin typeface="Arial"/>
                <a:ea typeface="Arial"/>
                <a:cs typeface="Arial"/>
                <a:sym typeface="Arial"/>
              </a:rPr>
              <a:t>Key Features: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Centralized Storage: All media files are stored in a single, accessible location, eliminating the need for scattered file-sharing platforms.</a:t>
            </a:r>
            <a:endParaRPr b="0" i="0" sz="1800" u="none" cap="none" strike="noStrike">
              <a:solidFill>
                <a:srgbClr val="0000FF"/>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t/>
            </a:r>
            <a:endParaRPr sz="1800">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Organized Media Library: Users can categorize photos and videos based on the day or event, making content easy to find.</a:t>
            </a:r>
            <a:endParaRPr b="0" i="0" sz="1800" u="none" cap="none" strike="noStrike">
              <a:solidFill>
                <a:srgbClr val="0000FF"/>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t/>
            </a:r>
            <a:endParaRPr sz="1800">
              <a:solidFill>
                <a:srgbClr val="0000FF"/>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chemeClr val="dk1"/>
              </a:buClr>
              <a:buSzPts val="1100"/>
              <a:buFont typeface="Arial"/>
              <a:buChar char="●"/>
            </a:pPr>
            <a:r>
              <a:rPr b="0" i="0" lang="en-US" sz="1800" u="none" cap="none" strike="noStrike">
                <a:solidFill>
                  <a:srgbClr val="0000FF"/>
                </a:solidFill>
                <a:latin typeface="Times New Roman"/>
                <a:ea typeface="Times New Roman"/>
                <a:cs typeface="Times New Roman"/>
                <a:sym typeface="Times New Roman"/>
              </a:rPr>
              <a:t>Enhanced Collaboration: Participants can upload, view, and share their trip experiences, fostering better engagement among group members.</a:t>
            </a:r>
            <a:endParaRPr b="0" i="0" sz="18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35c1d201b2_1_0"/>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800"/>
              </a:spcBef>
              <a:spcAft>
                <a:spcPts val="0"/>
              </a:spcAft>
              <a:buClr>
                <a:schemeClr val="dk1"/>
              </a:buClr>
              <a:buSzPts val="1100"/>
              <a:buFont typeface="Arial"/>
              <a:buNone/>
            </a:pPr>
            <a:r>
              <a:rPr lang="en-US" sz="2400">
                <a:latin typeface="Arial"/>
                <a:ea typeface="Arial"/>
                <a:cs typeface="Arial"/>
                <a:sym typeface="Arial"/>
              </a:rPr>
              <a:t>Feedback System</a:t>
            </a:r>
            <a:endParaRPr/>
          </a:p>
        </p:txBody>
      </p:sp>
      <p:sp>
        <p:nvSpPr>
          <p:cNvPr id="170" name="Google Shape;170;g335c1d201b2_1_0"/>
          <p:cNvSpPr txBox="1"/>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1" name="Google Shape;171;g335c1d201b2_1_0"/>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t/>
            </a:r>
            <a:endParaRPr b="1" sz="1700">
              <a:solidFill>
                <a:srgbClr val="222222"/>
              </a:solidFill>
              <a:highlight>
                <a:srgbClr val="FFFFFF"/>
              </a:highlight>
              <a:latin typeface="Arial"/>
              <a:ea typeface="Arial"/>
              <a:cs typeface="Arial"/>
              <a:sym typeface="Arial"/>
            </a:endParaRPr>
          </a:p>
          <a:p>
            <a:pPr indent="0" lvl="0" marL="0" rtl="0" algn="l">
              <a:lnSpc>
                <a:spcPct val="115000"/>
              </a:lnSpc>
              <a:spcBef>
                <a:spcPts val="1000"/>
              </a:spcBef>
              <a:spcAft>
                <a:spcPts val="0"/>
              </a:spcAft>
              <a:buClr>
                <a:schemeClr val="dk1"/>
              </a:buClr>
              <a:buSzPts val="1100"/>
              <a:buFont typeface="Arial"/>
              <a:buNone/>
            </a:pPr>
            <a:r>
              <a:rPr lang="en-US" sz="1800"/>
              <a:t>The Feedback System allows trip participants to share their experiences, helping organizers improve future trips.</a:t>
            </a:r>
            <a:endParaRPr sz="1100">
              <a:solidFill>
                <a:srgbClr val="222222"/>
              </a:solidFill>
              <a:highlight>
                <a:srgbClr val="FFFFFF"/>
              </a:highlight>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a:solidFill>
                  <a:srgbClr val="006600"/>
                </a:solidFill>
                <a:latin typeface="Arial"/>
                <a:ea typeface="Arial"/>
                <a:cs typeface="Arial"/>
                <a:sym typeface="Arial"/>
              </a:rPr>
              <a:t>Key Features</a:t>
            </a:r>
            <a:r>
              <a:rPr b="1" lang="en-US" sz="1300">
                <a:solidFill>
                  <a:srgbClr val="222222"/>
                </a:solidFill>
                <a:highlight>
                  <a:srgbClr val="FFFFFF"/>
                </a:highlight>
                <a:latin typeface="Arial"/>
                <a:ea typeface="Arial"/>
                <a:cs typeface="Arial"/>
                <a:sym typeface="Arial"/>
              </a:rPr>
              <a:t>:</a:t>
            </a:r>
            <a:endParaRPr b="1" sz="1300">
              <a:solidFill>
                <a:srgbClr val="222222"/>
              </a:solidFill>
              <a:highlight>
                <a:srgbClr val="FFFFFF"/>
              </a:highlight>
              <a:latin typeface="Arial"/>
              <a:ea typeface="Arial"/>
              <a:cs typeface="Arial"/>
              <a:sym typeface="Arial"/>
            </a:endParaRPr>
          </a:p>
          <a:p>
            <a:pPr indent="-298450" lvl="0" marL="596900" rtl="0" algn="l">
              <a:lnSpc>
                <a:spcPct val="115000"/>
              </a:lnSpc>
              <a:spcBef>
                <a:spcPts val="1000"/>
              </a:spcBef>
              <a:spcAft>
                <a:spcPts val="0"/>
              </a:spcAft>
              <a:buClr>
                <a:srgbClr val="222222"/>
              </a:buClr>
              <a:buSzPts val="1100"/>
              <a:buChar char="●"/>
            </a:pPr>
            <a:r>
              <a:rPr lang="en-US" sz="1800"/>
              <a:t>Private Feedback to Organizers: Participants can submit their feedback, which is visible only to the trip organizers.</a:t>
            </a:r>
            <a:endParaRPr sz="1800"/>
          </a:p>
          <a:p>
            <a:pPr indent="0" lvl="0" marL="457200" rtl="0" algn="l">
              <a:lnSpc>
                <a:spcPct val="115000"/>
              </a:lnSpc>
              <a:spcBef>
                <a:spcPts val="0"/>
              </a:spcBef>
              <a:spcAft>
                <a:spcPts val="0"/>
              </a:spcAft>
              <a:buNone/>
            </a:pPr>
            <a:r>
              <a:t/>
            </a:r>
            <a:endParaRPr sz="1800"/>
          </a:p>
          <a:p>
            <a:pPr indent="-298450" lvl="0" marL="596900" rtl="0" algn="l">
              <a:lnSpc>
                <a:spcPct val="115000"/>
              </a:lnSpc>
              <a:spcBef>
                <a:spcPts val="0"/>
              </a:spcBef>
              <a:spcAft>
                <a:spcPts val="0"/>
              </a:spcAft>
              <a:buClr>
                <a:srgbClr val="222222"/>
              </a:buClr>
              <a:buSzPts val="1100"/>
              <a:buChar char="●"/>
            </a:pPr>
            <a:r>
              <a:rPr lang="en-US" sz="1800"/>
              <a:t>Structured Rating System: The system includes a rating scale and an optional section for written comments to provide deeper insights.</a:t>
            </a:r>
            <a:endParaRPr sz="1800"/>
          </a:p>
          <a:p>
            <a:pPr indent="0" lvl="0" marL="457200" rtl="0" algn="l">
              <a:lnSpc>
                <a:spcPct val="115000"/>
              </a:lnSpc>
              <a:spcBef>
                <a:spcPts val="0"/>
              </a:spcBef>
              <a:spcAft>
                <a:spcPts val="0"/>
              </a:spcAft>
              <a:buNone/>
            </a:pPr>
            <a:r>
              <a:t/>
            </a:r>
            <a:endParaRPr sz="1800"/>
          </a:p>
          <a:p>
            <a:pPr indent="-298450" lvl="0" marL="596900" rtl="0" algn="l">
              <a:lnSpc>
                <a:spcPct val="115000"/>
              </a:lnSpc>
              <a:spcBef>
                <a:spcPts val="0"/>
              </a:spcBef>
              <a:spcAft>
                <a:spcPts val="0"/>
              </a:spcAft>
              <a:buClr>
                <a:srgbClr val="222222"/>
              </a:buClr>
              <a:buSzPts val="1100"/>
              <a:buChar char="●"/>
            </a:pPr>
            <a:r>
              <a:rPr lang="en-US" sz="1800"/>
              <a:t>Trip Improvement Insights: Organizers can review feedback to identify strengths and areas for improvement, ensuring better trip experiences in the future.</a:t>
            </a:r>
            <a:endParaRPr sz="1100">
              <a:solidFill>
                <a:srgbClr val="222222"/>
              </a:solidFill>
              <a:highlight>
                <a:srgbClr val="FFFFFF"/>
              </a:highlight>
              <a:latin typeface="Arial"/>
              <a:ea typeface="Arial"/>
              <a:cs typeface="Arial"/>
              <a:sym typeface="Arial"/>
            </a:endParaRPr>
          </a:p>
          <a:p>
            <a:pPr indent="0" lvl="0" marL="0" rtl="0" algn="l">
              <a:lnSpc>
                <a:spcPct val="115000"/>
              </a:lnSpc>
              <a:spcBef>
                <a:spcPts val="1000"/>
              </a:spcBef>
              <a:spcAft>
                <a:spcPts val="0"/>
              </a:spcAft>
              <a:buClr>
                <a:schemeClr val="dk1"/>
              </a:buClr>
              <a:buSzPts val="1100"/>
              <a:buFont typeface="Arial"/>
              <a:buNone/>
            </a:pPr>
            <a:r>
              <a:t/>
            </a:r>
            <a:endParaRPr sz="1100">
              <a:solidFill>
                <a:srgbClr val="222222"/>
              </a:solidFill>
              <a:highlight>
                <a:srgbClr val="FFFFFF"/>
              </a:highlight>
              <a:latin typeface="Arial"/>
              <a:ea typeface="Arial"/>
              <a:cs typeface="Arial"/>
              <a:sym typeface="Arial"/>
            </a:endParaRPr>
          </a:p>
          <a:p>
            <a:pPr indent="-139700" lvl="0" marL="342900" marR="0" rtl="0" algn="l">
              <a:lnSpc>
                <a:spcPct val="100000"/>
              </a:lnSpc>
              <a:spcBef>
                <a:spcPts val="1000"/>
              </a:spcBef>
              <a:spcAft>
                <a:spcPts val="0"/>
              </a:spcAft>
              <a:buClr>
                <a:srgbClr val="604A7B"/>
              </a:buClr>
              <a:buSzPts val="3200"/>
              <a:buFont typeface="Arial"/>
              <a:buNone/>
            </a:pPr>
            <a:r>
              <a:t/>
            </a:r>
            <a:endParaRPr sz="3200">
              <a:solidFill>
                <a:srgbClr val="604A7B"/>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4"/>
          <p:cNvSpPr txBox="1"/>
          <p:nvPr>
            <p:ph type="title"/>
          </p:nvPr>
        </p:nvSpPr>
        <p:spPr>
          <a:xfrm>
            <a:off x="0" y="0"/>
            <a:ext cx="9144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lang="en-US"/>
              <a:t>     Screenshots of TripSync Modules</a:t>
            </a:r>
            <a:endParaRPr/>
          </a:p>
        </p:txBody>
      </p:sp>
      <p:sp>
        <p:nvSpPr>
          <p:cNvPr id="177" name="Google Shape;177;p44"/>
          <p:cNvSpPr txBox="1"/>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78" name="Google Shape;178;p44"/>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79" name="Google Shape;179;p44"/>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180" name="Google Shape;180;p44" title="img1.png"/>
          <p:cNvPicPr preferRelativeResize="0"/>
          <p:nvPr/>
        </p:nvPicPr>
        <p:blipFill rotWithShape="1">
          <a:blip r:embed="rId3">
            <a:alphaModFix/>
          </a:blip>
          <a:srcRect b="0" l="0" r="0" t="0"/>
          <a:stretch/>
        </p:blipFill>
        <p:spPr>
          <a:xfrm>
            <a:off x="152400" y="1143000"/>
            <a:ext cx="2456340" cy="5060951"/>
          </a:xfrm>
          <a:prstGeom prst="rect">
            <a:avLst/>
          </a:prstGeom>
          <a:noFill/>
          <a:ln>
            <a:noFill/>
          </a:ln>
        </p:spPr>
      </p:pic>
      <p:pic>
        <p:nvPicPr>
          <p:cNvPr id="181" name="Google Shape;181;p44" title="img2.png"/>
          <p:cNvPicPr preferRelativeResize="0"/>
          <p:nvPr/>
        </p:nvPicPr>
        <p:blipFill rotWithShape="1">
          <a:blip r:embed="rId4">
            <a:alphaModFix/>
          </a:blip>
          <a:srcRect b="0" l="0" r="0" t="0"/>
          <a:stretch/>
        </p:blipFill>
        <p:spPr>
          <a:xfrm>
            <a:off x="3254115" y="1143000"/>
            <a:ext cx="2458812" cy="5060951"/>
          </a:xfrm>
          <a:prstGeom prst="rect">
            <a:avLst/>
          </a:prstGeom>
          <a:noFill/>
          <a:ln>
            <a:noFill/>
          </a:ln>
        </p:spPr>
      </p:pic>
      <p:pic>
        <p:nvPicPr>
          <p:cNvPr id="182" name="Google Shape;182;p44" title="img3.png"/>
          <p:cNvPicPr preferRelativeResize="0"/>
          <p:nvPr/>
        </p:nvPicPr>
        <p:blipFill rotWithShape="1">
          <a:blip r:embed="rId5">
            <a:alphaModFix/>
          </a:blip>
          <a:srcRect b="0" l="0" r="0" t="0"/>
          <a:stretch/>
        </p:blipFill>
        <p:spPr>
          <a:xfrm>
            <a:off x="6358302" y="1143000"/>
            <a:ext cx="2468696" cy="50609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35c1d201b2_1_24"/>
          <p:cNvSpPr txBox="1"/>
          <p:nvPr>
            <p:ph type="title"/>
          </p:nvPr>
        </p:nvSpPr>
        <p:spPr>
          <a:xfrm>
            <a:off x="0" y="0"/>
            <a:ext cx="9144000" cy="665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6600"/>
              </a:buClr>
              <a:buSzPts val="3200"/>
              <a:buFont typeface="Times New Roman"/>
              <a:buNone/>
            </a:pPr>
            <a:r>
              <a:rPr lang="en-US"/>
              <a:t> Screenshots of TripSync Modules</a:t>
            </a:r>
            <a:endParaRPr/>
          </a:p>
        </p:txBody>
      </p:sp>
      <p:sp>
        <p:nvSpPr>
          <p:cNvPr id="188" name="Google Shape;188;g335c1d201b2_1_24"/>
          <p:cNvSpPr txBox="1"/>
          <p:nvPr/>
        </p:nvSpPr>
        <p:spPr>
          <a:xfrm>
            <a:off x="107950" y="6356350"/>
            <a:ext cx="10524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89" name="Google Shape;189;g335c1d201b2_1_24"/>
          <p:cNvSpPr txBox="1"/>
          <p:nvPr/>
        </p:nvSpPr>
        <p:spPr>
          <a:xfrm>
            <a:off x="1160462" y="6356350"/>
            <a:ext cx="68739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190" name="Google Shape;190;g335c1d201b2_1_24"/>
          <p:cNvSpPr txBox="1"/>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191" name="Google Shape;191;g335c1d201b2_1_24" title="img4.png"/>
          <p:cNvPicPr preferRelativeResize="0"/>
          <p:nvPr/>
        </p:nvPicPr>
        <p:blipFill rotWithShape="1">
          <a:blip r:embed="rId3">
            <a:alphaModFix/>
          </a:blip>
          <a:srcRect b="0" l="0" r="0" t="0"/>
          <a:stretch/>
        </p:blipFill>
        <p:spPr>
          <a:xfrm>
            <a:off x="152400" y="1143000"/>
            <a:ext cx="2483523" cy="5060951"/>
          </a:xfrm>
          <a:prstGeom prst="rect">
            <a:avLst/>
          </a:prstGeom>
          <a:noFill/>
          <a:ln>
            <a:noFill/>
          </a:ln>
        </p:spPr>
      </p:pic>
      <p:pic>
        <p:nvPicPr>
          <p:cNvPr id="192" name="Google Shape;192;g335c1d201b2_1_24" title="img5.jpg"/>
          <p:cNvPicPr preferRelativeResize="0"/>
          <p:nvPr/>
        </p:nvPicPr>
        <p:blipFill rotWithShape="1">
          <a:blip r:embed="rId4">
            <a:alphaModFix/>
          </a:blip>
          <a:srcRect b="0" l="0" r="0" t="0"/>
          <a:stretch/>
        </p:blipFill>
        <p:spPr>
          <a:xfrm>
            <a:off x="3331473" y="1143000"/>
            <a:ext cx="2481052" cy="5060951"/>
          </a:xfrm>
          <a:prstGeom prst="rect">
            <a:avLst/>
          </a:prstGeom>
          <a:noFill/>
          <a:ln>
            <a:noFill/>
          </a:ln>
        </p:spPr>
      </p:pic>
      <p:pic>
        <p:nvPicPr>
          <p:cNvPr id="193" name="Google Shape;193;g335c1d201b2_1_24" title="img6.jpg"/>
          <p:cNvPicPr preferRelativeResize="0"/>
          <p:nvPr/>
        </p:nvPicPr>
        <p:blipFill rotWithShape="1">
          <a:blip r:embed="rId5">
            <a:alphaModFix/>
          </a:blip>
          <a:srcRect b="0" l="0" r="0" t="0"/>
          <a:stretch/>
        </p:blipFill>
        <p:spPr>
          <a:xfrm>
            <a:off x="6254901" y="1143000"/>
            <a:ext cx="2466225" cy="5060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35c1d201b2_1_39"/>
          <p:cNvSpPr txBox="1"/>
          <p:nvPr>
            <p:ph type="title"/>
          </p:nvPr>
        </p:nvSpPr>
        <p:spPr>
          <a:xfrm>
            <a:off x="0" y="0"/>
            <a:ext cx="9144000" cy="550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6600"/>
              </a:buClr>
              <a:buSzPts val="3200"/>
              <a:buFont typeface="Times New Roman"/>
              <a:buNone/>
            </a:pPr>
            <a:r>
              <a:rPr lang="en-US"/>
              <a:t> Screenshots of TripSync Modules</a:t>
            </a:r>
            <a:endParaRPr/>
          </a:p>
        </p:txBody>
      </p:sp>
      <p:sp>
        <p:nvSpPr>
          <p:cNvPr id="199" name="Google Shape;199;g335c1d201b2_1_39"/>
          <p:cNvSpPr txBox="1"/>
          <p:nvPr/>
        </p:nvSpPr>
        <p:spPr>
          <a:xfrm>
            <a:off x="107950" y="6356350"/>
            <a:ext cx="10524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00" name="Google Shape;200;g335c1d201b2_1_39"/>
          <p:cNvSpPr txBox="1"/>
          <p:nvPr/>
        </p:nvSpPr>
        <p:spPr>
          <a:xfrm>
            <a:off x="1160462" y="6356350"/>
            <a:ext cx="68739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01" name="Google Shape;201;g335c1d201b2_1_39"/>
          <p:cNvSpPr txBox="1"/>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202" name="Google Shape;202;g335c1d201b2_1_39" title="img7.jpg"/>
          <p:cNvPicPr preferRelativeResize="0"/>
          <p:nvPr/>
        </p:nvPicPr>
        <p:blipFill rotWithShape="1">
          <a:blip r:embed="rId3">
            <a:alphaModFix/>
          </a:blip>
          <a:srcRect b="0" l="0" r="0" t="0"/>
          <a:stretch/>
        </p:blipFill>
        <p:spPr>
          <a:xfrm>
            <a:off x="152400" y="1143000"/>
            <a:ext cx="2500822" cy="5060951"/>
          </a:xfrm>
          <a:prstGeom prst="rect">
            <a:avLst/>
          </a:prstGeom>
          <a:noFill/>
          <a:ln>
            <a:noFill/>
          </a:ln>
        </p:spPr>
      </p:pic>
      <p:pic>
        <p:nvPicPr>
          <p:cNvPr id="203" name="Google Shape;203;g335c1d201b2_1_39" title="img8.png"/>
          <p:cNvPicPr preferRelativeResize="0"/>
          <p:nvPr/>
        </p:nvPicPr>
        <p:blipFill rotWithShape="1">
          <a:blip r:embed="rId4">
            <a:alphaModFix/>
          </a:blip>
          <a:srcRect b="0" l="0" r="0" t="0"/>
          <a:stretch/>
        </p:blipFill>
        <p:spPr>
          <a:xfrm>
            <a:off x="3356872" y="1143000"/>
            <a:ext cx="2481052" cy="5060951"/>
          </a:xfrm>
          <a:prstGeom prst="rect">
            <a:avLst/>
          </a:prstGeom>
          <a:noFill/>
          <a:ln>
            <a:noFill/>
          </a:ln>
        </p:spPr>
      </p:pic>
      <p:pic>
        <p:nvPicPr>
          <p:cNvPr id="204" name="Google Shape;204;g335c1d201b2_1_39" title="img9.png"/>
          <p:cNvPicPr preferRelativeResize="0"/>
          <p:nvPr/>
        </p:nvPicPr>
        <p:blipFill rotWithShape="1">
          <a:blip r:embed="rId5">
            <a:alphaModFix/>
          </a:blip>
          <a:srcRect b="0" l="0" r="0" t="0"/>
          <a:stretch/>
        </p:blipFill>
        <p:spPr>
          <a:xfrm>
            <a:off x="6309299" y="1143000"/>
            <a:ext cx="2483523" cy="5060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35c1d201b2_1_53"/>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Conclusions and Future Work</a:t>
            </a:r>
            <a:endParaRPr/>
          </a:p>
        </p:txBody>
      </p:sp>
      <p:sp>
        <p:nvSpPr>
          <p:cNvPr id="211" name="Google Shape;211;g335c1d201b2_1_53"/>
          <p:cNvSpPr txBox="1"/>
          <p:nvPr>
            <p:ph idx="12" type="sldNum"/>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3300"/>
              </a:buClr>
              <a:buSzPts val="1400"/>
              <a:buFont typeface="Times New Roman"/>
              <a:buNone/>
            </a:pPr>
            <a:fld id="{00000000-1234-1234-1234-123412341234}" type="slidenum">
              <a:rPr lang="en-US"/>
              <a:t>‹#›</a:t>
            </a:fld>
            <a:endParaRPr/>
          </a:p>
        </p:txBody>
      </p:sp>
      <p:sp>
        <p:nvSpPr>
          <p:cNvPr id="212" name="Google Shape;212;g335c1d201b2_1_53"/>
          <p:cNvSpPr txBox="1"/>
          <p:nvPr/>
        </p:nvSpPr>
        <p:spPr>
          <a:xfrm>
            <a:off x="349725" y="814925"/>
            <a:ext cx="8794200" cy="4561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n-US" sz="2400">
                <a:solidFill>
                  <a:srgbClr val="980000"/>
                </a:solidFill>
                <a:latin typeface="Times New Roman"/>
                <a:ea typeface="Times New Roman"/>
                <a:cs typeface="Times New Roman"/>
                <a:sym typeface="Times New Roman"/>
              </a:rPr>
              <a:t>C</a:t>
            </a:r>
            <a:r>
              <a:rPr b="1" lang="en-US" sz="2400">
                <a:solidFill>
                  <a:srgbClr val="980000"/>
                </a:solidFill>
                <a:latin typeface="Times New Roman"/>
                <a:ea typeface="Times New Roman"/>
                <a:cs typeface="Times New Roman"/>
                <a:sym typeface="Times New Roman"/>
              </a:rPr>
              <a:t>onclusions:</a:t>
            </a:r>
            <a:endParaRPr b="1" sz="2400">
              <a:solidFill>
                <a:srgbClr val="980000"/>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T</a:t>
            </a:r>
            <a:r>
              <a:rPr b="0" i="0" lang="en-US" sz="1900" u="none" cap="none" strike="noStrike">
                <a:solidFill>
                  <a:srgbClr val="0000FF"/>
                </a:solidFill>
                <a:latin typeface="Times New Roman"/>
                <a:ea typeface="Times New Roman"/>
                <a:cs typeface="Times New Roman"/>
                <a:sym typeface="Times New Roman"/>
              </a:rPr>
              <a:t>ripSync is an all-in-one travel management app</a:t>
            </a:r>
            <a:endParaRPr b="0" i="0" sz="1900" u="none" cap="none" strike="noStrike">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b="0" i="0" lang="en-US" sz="1900" u="none" cap="none" strike="noStrike">
                <a:solidFill>
                  <a:srgbClr val="0000FF"/>
                </a:solidFill>
                <a:latin typeface="Times New Roman"/>
                <a:ea typeface="Times New Roman"/>
                <a:cs typeface="Times New Roman"/>
                <a:sym typeface="Times New Roman"/>
              </a:rPr>
              <a:t>Simplifies group travel experiences</a:t>
            </a:r>
            <a:endParaRPr b="0" i="0" sz="1900" u="none" cap="none" strike="noStrike">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b="0" i="0" lang="en-US" sz="1900" u="none" cap="none" strike="noStrike">
                <a:solidFill>
                  <a:srgbClr val="0000FF"/>
                </a:solidFill>
                <a:latin typeface="Times New Roman"/>
                <a:ea typeface="Times New Roman"/>
                <a:cs typeface="Times New Roman"/>
                <a:sym typeface="Times New Roman"/>
              </a:rPr>
              <a:t>Integrates itinerary planning, real-time communication, and expense tracking</a:t>
            </a:r>
            <a:endParaRPr b="0" i="0" sz="1900" u="none" cap="none" strike="noStrike">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b="0" i="0" lang="en-US" sz="1900" u="none" cap="none" strike="noStrike">
                <a:solidFill>
                  <a:srgbClr val="0000FF"/>
                </a:solidFill>
                <a:latin typeface="Times New Roman"/>
                <a:ea typeface="Times New Roman"/>
                <a:cs typeface="Times New Roman"/>
                <a:sym typeface="Times New Roman"/>
              </a:rPr>
              <a:t>Offers safety monitoring and data sharing features</a:t>
            </a:r>
            <a:r>
              <a:rPr lang="en-US" sz="1900">
                <a:solidFill>
                  <a:srgbClr val="0000FF"/>
                </a:solidFill>
                <a:latin typeface="Times New Roman"/>
                <a:ea typeface="Times New Roman"/>
                <a:cs typeface="Times New Roman"/>
                <a:sym typeface="Times New Roman"/>
              </a:rPr>
              <a:t> </a:t>
            </a:r>
            <a:r>
              <a:rPr lang="en-US" sz="1900">
                <a:solidFill>
                  <a:srgbClr val="0000FF"/>
                </a:solidFill>
                <a:latin typeface="Times New Roman"/>
                <a:ea typeface="Times New Roman"/>
                <a:cs typeface="Times New Roman"/>
                <a:sym typeface="Times New Roman"/>
              </a:rPr>
              <a:t>through</a:t>
            </a:r>
            <a:r>
              <a:rPr lang="en-US" sz="1900">
                <a:solidFill>
                  <a:srgbClr val="0000FF"/>
                </a:solidFill>
                <a:latin typeface="Times New Roman"/>
                <a:ea typeface="Times New Roman"/>
                <a:cs typeface="Times New Roman"/>
                <a:sym typeface="Times New Roman"/>
              </a:rPr>
              <a:t> Geofencing</a:t>
            </a:r>
            <a:endParaRPr b="0" i="0" sz="1900" u="none" cap="none" strike="noStrike">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b="0" i="0" lang="en-US" sz="1900" u="none" cap="none" strike="noStrike">
                <a:solidFill>
                  <a:srgbClr val="0000FF"/>
                </a:solidFill>
                <a:latin typeface="Times New Roman"/>
                <a:ea typeface="Times New Roman"/>
                <a:cs typeface="Times New Roman"/>
                <a:sym typeface="Times New Roman"/>
              </a:rPr>
              <a:t>Ensures organized, secure, and hassle-free travel coordination</a:t>
            </a:r>
            <a:endParaRPr b="0" i="0" sz="1900" u="none" cap="none" strike="noStrike">
              <a:solidFill>
                <a:srgbClr val="0000FF"/>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b="1" lang="en-US" sz="2400">
                <a:solidFill>
                  <a:srgbClr val="980000"/>
                </a:solidFill>
                <a:latin typeface="Times New Roman"/>
                <a:ea typeface="Times New Roman"/>
                <a:cs typeface="Times New Roman"/>
                <a:sym typeface="Times New Roman"/>
              </a:rPr>
              <a:t>Future Work:</a:t>
            </a:r>
            <a:endParaRPr b="1" sz="2400">
              <a:solidFill>
                <a:srgbClr val="980000"/>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AI-powered Itinerary Recommendations</a:t>
            </a:r>
            <a:endParaRPr sz="1900">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Machine Learning for Expense Predictions</a:t>
            </a:r>
            <a:endParaRPr sz="1900">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AI-powered Security Enhancements: Fraud detection, emergency SOS alerts, and integration with local emergency services</a:t>
            </a:r>
            <a:endParaRPr sz="1900">
              <a:solidFill>
                <a:srgbClr val="0000FF"/>
              </a:solidFill>
              <a:latin typeface="Times New Roman"/>
              <a:ea typeface="Times New Roman"/>
              <a:cs typeface="Times New Roman"/>
              <a:sym typeface="Times New Roman"/>
            </a:endParaRPr>
          </a:p>
          <a:p>
            <a:pPr indent="-349250" lvl="0" marL="914400" marR="0" rtl="0" algn="just">
              <a:lnSpc>
                <a:spcPct val="100000"/>
              </a:lnSpc>
              <a:spcBef>
                <a:spcPts val="0"/>
              </a:spcBef>
              <a:spcAft>
                <a:spcPts val="0"/>
              </a:spcAft>
              <a:buClr>
                <a:srgbClr val="0000FF"/>
              </a:buClr>
              <a:buSzPts val="1900"/>
              <a:buFont typeface="Times New Roman"/>
              <a:buChar char="●"/>
            </a:pPr>
            <a:r>
              <a:rPr lang="en-US" sz="1900">
                <a:solidFill>
                  <a:srgbClr val="0000FF"/>
                </a:solidFill>
                <a:latin typeface="Times New Roman"/>
                <a:ea typeface="Times New Roman"/>
                <a:cs typeface="Times New Roman"/>
                <a:sym typeface="Times New Roman"/>
              </a:rPr>
              <a:t>Direct Partnerships with Travel Services: Enabling flight, hotel, and rental bookings directly within the app</a:t>
            </a:r>
            <a:endParaRPr sz="1900">
              <a:solidFill>
                <a:srgbClr val="0000F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40a28991f0_0_0"/>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Roles and Responsibilities</a:t>
            </a:r>
            <a:endParaRPr/>
          </a:p>
        </p:txBody>
      </p:sp>
      <p:sp>
        <p:nvSpPr>
          <p:cNvPr id="219" name="Google Shape;219;g340a28991f0_0_0"/>
          <p:cNvSpPr txBox="1"/>
          <p:nvPr>
            <p:ph idx="1" type="body"/>
          </p:nvPr>
        </p:nvSpPr>
        <p:spPr>
          <a:xfrm>
            <a:off x="330375" y="1209075"/>
            <a:ext cx="8737500" cy="32625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480"/>
              </a:spcBef>
              <a:spcAft>
                <a:spcPts val="0"/>
              </a:spcAft>
              <a:buSzPts val="2200"/>
              <a:buAutoNum type="arabicPeriod"/>
            </a:pPr>
            <a:r>
              <a:rPr lang="en-US" sz="2200"/>
              <a:t> Itinerary Planner, FeedBack System,Trip Room Creation : Arthi R</a:t>
            </a:r>
            <a:endParaRPr sz="2200"/>
          </a:p>
          <a:p>
            <a:pPr indent="-368300" lvl="0" marL="457200" rtl="0" algn="l">
              <a:lnSpc>
                <a:spcPct val="150000"/>
              </a:lnSpc>
              <a:spcBef>
                <a:spcPts val="0"/>
              </a:spcBef>
              <a:spcAft>
                <a:spcPts val="0"/>
              </a:spcAft>
              <a:buSzPts val="2200"/>
              <a:buAutoNum type="arabicPeriod"/>
            </a:pPr>
            <a:r>
              <a:rPr lang="en-US" sz="2200"/>
              <a:t> Expense management,Location,Firebase Services : Mahesh K</a:t>
            </a:r>
            <a:endParaRPr sz="2200"/>
          </a:p>
          <a:p>
            <a:pPr indent="-368300" lvl="0" marL="457200" rtl="0" algn="l">
              <a:lnSpc>
                <a:spcPct val="150000"/>
              </a:lnSpc>
              <a:spcBef>
                <a:spcPts val="0"/>
              </a:spcBef>
              <a:spcAft>
                <a:spcPts val="0"/>
              </a:spcAft>
              <a:buSzPts val="2200"/>
              <a:buAutoNum type="arabicPeriod"/>
            </a:pPr>
            <a:r>
              <a:rPr lang="en-US" sz="2200"/>
              <a:t> Chatroom, Announcements, Polls, Shared Media : Sanjeeve  Sankar S</a:t>
            </a:r>
            <a:endParaRPr sz="2200"/>
          </a:p>
          <a:p>
            <a:pPr indent="-368300" lvl="0" marL="457200" rtl="0" algn="l">
              <a:lnSpc>
                <a:spcPct val="150000"/>
              </a:lnSpc>
              <a:spcBef>
                <a:spcPts val="0"/>
              </a:spcBef>
              <a:spcAft>
                <a:spcPts val="0"/>
              </a:spcAft>
              <a:buSzPts val="2200"/>
              <a:buAutoNum type="arabicPeriod"/>
            </a:pPr>
            <a:r>
              <a:rPr lang="en-US" sz="2200"/>
              <a:t>Integration</a:t>
            </a:r>
            <a:r>
              <a:rPr lang="en-US" sz="2200"/>
              <a:t> of all modules and testing  : All Three</a:t>
            </a:r>
            <a:endParaRPr sz="2200"/>
          </a:p>
        </p:txBody>
      </p:sp>
      <p:sp>
        <p:nvSpPr>
          <p:cNvPr id="220" name="Google Shape;220;g340a28991f0_0_0"/>
          <p:cNvSpPr txBox="1"/>
          <p:nvPr>
            <p:ph idx="12" type="sldNum"/>
          </p:nvPr>
        </p:nvSpPr>
        <p:spPr>
          <a:xfrm>
            <a:off x="8229600" y="6356350"/>
            <a:ext cx="838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3300"/>
              </a:buClr>
              <a:buSzPts val="1400"/>
              <a:buFont typeface="Times New Roman"/>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8"/>
          <p:cNvSpPr txBox="1"/>
          <p:nvPr>
            <p:ph type="title"/>
          </p:nvPr>
        </p:nvSpPr>
        <p:spPr>
          <a:xfrm>
            <a:off x="0" y="0"/>
            <a:ext cx="91440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b="1" i="0" lang="en-US" sz="3200" u="none">
                <a:solidFill>
                  <a:srgbClr val="006600"/>
                </a:solidFill>
                <a:latin typeface="Times New Roman"/>
                <a:ea typeface="Times New Roman"/>
                <a:cs typeface="Times New Roman"/>
                <a:sym typeface="Times New Roman"/>
              </a:rPr>
              <a:t>References</a:t>
            </a:r>
            <a:endParaRPr/>
          </a:p>
        </p:txBody>
      </p:sp>
      <p:sp>
        <p:nvSpPr>
          <p:cNvPr id="226" name="Google Shape;226;p48"/>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40"/>
              </a:spcBef>
              <a:spcAft>
                <a:spcPts val="0"/>
              </a:spcAft>
              <a:buClr>
                <a:schemeClr val="dk1"/>
              </a:buClr>
              <a:buSzPts val="1100"/>
              <a:buFont typeface="Arial"/>
              <a:buNone/>
            </a:pPr>
            <a:r>
              <a:rPr lang="en-US" sz="1600"/>
              <a:t>[1] S. W. Rahate and M. Z. Shaikh, ”Geo-fencing Infrastructure: Location Based Ser-</a:t>
            </a:r>
            <a:endParaRPr sz="1600"/>
          </a:p>
          <a:p>
            <a:pPr indent="0" lvl="0" marL="0" rtl="0" algn="l">
              <a:lnSpc>
                <a:spcPct val="100000"/>
              </a:lnSpc>
              <a:spcBef>
                <a:spcPts val="340"/>
              </a:spcBef>
              <a:spcAft>
                <a:spcPts val="0"/>
              </a:spcAft>
              <a:buClr>
                <a:schemeClr val="dk1"/>
              </a:buClr>
              <a:buSzPts val="1100"/>
              <a:buFont typeface="Arial"/>
              <a:buNone/>
            </a:pPr>
            <a:r>
              <a:rPr lang="en-US" sz="1600"/>
              <a:t>vice,” in *Proceedings of [Conference Name]*, [Year], pp. [Page Numbers].</a:t>
            </a:r>
            <a:endParaRPr sz="1600"/>
          </a:p>
          <a:p>
            <a:pPr indent="0" lvl="0" marL="0" rtl="0" algn="l">
              <a:lnSpc>
                <a:spcPct val="100000"/>
              </a:lnSpc>
              <a:spcBef>
                <a:spcPts val="340"/>
              </a:spcBef>
              <a:spcAft>
                <a:spcPts val="0"/>
              </a:spcAft>
              <a:buClr>
                <a:schemeClr val="dk1"/>
              </a:buClr>
              <a:buSzPts val="1100"/>
              <a:buFont typeface="Arial"/>
              <a:buNone/>
            </a:pPr>
            <a:r>
              <a:t/>
            </a:r>
            <a:endParaRPr sz="1600"/>
          </a:p>
          <a:p>
            <a:pPr indent="0" lvl="0" marL="0" rtl="0" algn="l">
              <a:lnSpc>
                <a:spcPct val="100000"/>
              </a:lnSpc>
              <a:spcBef>
                <a:spcPts val="340"/>
              </a:spcBef>
              <a:spcAft>
                <a:spcPts val="0"/>
              </a:spcAft>
              <a:buClr>
                <a:schemeClr val="dk1"/>
              </a:buClr>
              <a:buSzPts val="1100"/>
              <a:buFont typeface="Arial"/>
              <a:buNone/>
            </a:pPr>
            <a:r>
              <a:rPr lang="en-US" sz="1600"/>
              <a:t>[</a:t>
            </a:r>
            <a:r>
              <a:rPr lang="en-US" sz="1800"/>
              <a:t>2] A. H. Abbas, M. I. Habelalmateen, S. Jurdi, L. Audah, and N. A. M. Alduais, ”GPS Based Location Monitoring System with Geo-fencing Capabilities,”. AIP Conf. Proc. 2173, 020014 (2019)</a:t>
            </a:r>
            <a:endParaRPr sz="1800"/>
          </a:p>
          <a:p>
            <a:pPr indent="0" lvl="0" marL="0" rtl="0" algn="l">
              <a:lnSpc>
                <a:spcPct val="100000"/>
              </a:lnSpc>
              <a:spcBef>
                <a:spcPts val="340"/>
              </a:spcBef>
              <a:spcAft>
                <a:spcPts val="0"/>
              </a:spcAft>
              <a:buClr>
                <a:schemeClr val="dk1"/>
              </a:buClr>
              <a:buSzPts val="1100"/>
              <a:buFont typeface="Arial"/>
              <a:buNone/>
            </a:pPr>
            <a:r>
              <a:t/>
            </a:r>
            <a:endParaRPr sz="1800"/>
          </a:p>
          <a:p>
            <a:pPr indent="0" lvl="0" marL="0" rtl="0" algn="l">
              <a:lnSpc>
                <a:spcPct val="100000"/>
              </a:lnSpc>
              <a:spcBef>
                <a:spcPts val="340"/>
              </a:spcBef>
              <a:spcAft>
                <a:spcPts val="0"/>
              </a:spcAft>
              <a:buClr>
                <a:schemeClr val="dk1"/>
              </a:buClr>
              <a:buSzPts val="1100"/>
              <a:buFont typeface="Arial"/>
              <a:buNone/>
            </a:pPr>
            <a:r>
              <a:rPr lang="en-US" sz="1800"/>
              <a:t>[3] </a:t>
            </a:r>
            <a:r>
              <a:rPr lang="en-US" sz="1800"/>
              <a:t>Nurul Idayu Binti Yunus, &amp; Syerina Azlin Md Nasir. (2023). Development of E-Travel Mobile Application Using Geofencing Technique. Applied Mathematics and Computational Intelligence (AMCI), 12(2), 15–27. </a:t>
            </a:r>
            <a:endParaRPr sz="1800"/>
          </a:p>
          <a:p>
            <a:pPr indent="0" lvl="0" marL="0" rtl="0" algn="l">
              <a:lnSpc>
                <a:spcPct val="100000"/>
              </a:lnSpc>
              <a:spcBef>
                <a:spcPts val="340"/>
              </a:spcBef>
              <a:spcAft>
                <a:spcPts val="0"/>
              </a:spcAft>
              <a:buClr>
                <a:schemeClr val="dk1"/>
              </a:buClr>
              <a:buSzPts val="1100"/>
              <a:buFont typeface="Arial"/>
              <a:buNone/>
            </a:pPr>
            <a:r>
              <a:t/>
            </a:r>
            <a:endParaRPr sz="1800"/>
          </a:p>
          <a:p>
            <a:pPr indent="0" lvl="0" marL="0" marR="0" rtl="0" algn="l">
              <a:lnSpc>
                <a:spcPct val="100000"/>
              </a:lnSpc>
              <a:spcBef>
                <a:spcPts val="340"/>
              </a:spcBef>
              <a:spcAft>
                <a:spcPts val="0"/>
              </a:spcAft>
              <a:buClr>
                <a:schemeClr val="dk1"/>
              </a:buClr>
              <a:buSzPts val="1100"/>
              <a:buFont typeface="Arial"/>
              <a:buNone/>
            </a:pPr>
            <a:r>
              <a:rPr lang="en-US" sz="1800"/>
              <a:t>[4] V. A., A. Mayan J., N. P., and R. Francis, ”Expense Manager Application,” Technical Report.</a:t>
            </a:r>
            <a:endParaRPr sz="1800"/>
          </a:p>
          <a:p>
            <a:pPr indent="0" lvl="0" marL="0" rtl="0" algn="l">
              <a:lnSpc>
                <a:spcPct val="100000"/>
              </a:lnSpc>
              <a:spcBef>
                <a:spcPts val="340"/>
              </a:spcBef>
              <a:spcAft>
                <a:spcPts val="0"/>
              </a:spcAft>
              <a:buClr>
                <a:schemeClr val="dk1"/>
              </a:buClr>
              <a:buSzPts val="1100"/>
              <a:buFont typeface="Arial"/>
              <a:buNone/>
            </a:pPr>
            <a:r>
              <a:t/>
            </a:r>
            <a:endParaRPr sz="1800"/>
          </a:p>
          <a:p>
            <a:pPr indent="0" lvl="0" marL="0" rtl="0" algn="l">
              <a:lnSpc>
                <a:spcPct val="100000"/>
              </a:lnSpc>
              <a:spcBef>
                <a:spcPts val="340"/>
              </a:spcBef>
              <a:spcAft>
                <a:spcPts val="0"/>
              </a:spcAft>
              <a:buClr>
                <a:schemeClr val="dk1"/>
              </a:buClr>
              <a:buSzPts val="1100"/>
              <a:buFont typeface="Arial"/>
              <a:buNone/>
            </a:pPr>
            <a:r>
              <a:rPr lang="en-US" sz="1800"/>
              <a:t>[5] </a:t>
            </a:r>
            <a:r>
              <a:rPr lang="en-US" sz="1800"/>
              <a:t>Surekha, S. et al. (2022). Android Application for Business Expense Management. In: Balas, V.E., Solanki, V.K., Kumar, R. (eds) Recent Advances in Internet of Things and Machine Learning. Intelligent Systems Reference Library, vol 215. Springer, Cham.</a:t>
            </a:r>
            <a:endParaRPr b="0" i="0" sz="1600" u="none">
              <a:solidFill>
                <a:srgbClr val="0000FF"/>
              </a:solidFill>
              <a:latin typeface="Times New Roman"/>
              <a:ea typeface="Times New Roman"/>
              <a:cs typeface="Times New Roman"/>
              <a:sym typeface="Times New Roman"/>
            </a:endParaRPr>
          </a:p>
          <a:p>
            <a:pPr indent="0" lvl="0" marL="0" marR="0" rtl="0" algn="l">
              <a:lnSpc>
                <a:spcPct val="100000"/>
              </a:lnSpc>
              <a:spcBef>
                <a:spcPts val="340"/>
              </a:spcBef>
              <a:spcAft>
                <a:spcPts val="0"/>
              </a:spcAft>
              <a:buClr>
                <a:srgbClr val="604A7B"/>
              </a:buClr>
              <a:buSzPts val="1700"/>
              <a:buFont typeface="Calibri"/>
              <a:buNone/>
            </a:pPr>
            <a:r>
              <a:t/>
            </a:r>
            <a:endParaRPr b="0" i="0" sz="1600" u="none">
              <a:solidFill>
                <a:srgbClr val="0000FF"/>
              </a:solidFill>
              <a:latin typeface="Times New Roman"/>
              <a:ea typeface="Times New Roman"/>
              <a:cs typeface="Times New Roman"/>
              <a:sym typeface="Times New Roman"/>
            </a:endParaRPr>
          </a:p>
          <a:p>
            <a:pPr indent="0" lvl="0" marL="0" marR="0" rtl="0" algn="l">
              <a:lnSpc>
                <a:spcPct val="100000"/>
              </a:lnSpc>
              <a:spcBef>
                <a:spcPts val="340"/>
              </a:spcBef>
              <a:spcAft>
                <a:spcPts val="0"/>
              </a:spcAft>
              <a:buClr>
                <a:srgbClr val="604A7B"/>
              </a:buClr>
              <a:buSzPts val="1700"/>
              <a:buFont typeface="Calibri"/>
              <a:buNone/>
            </a:pPr>
            <a:r>
              <a:t/>
            </a:r>
            <a:endParaRPr b="0" i="0" sz="1600" u="none">
              <a:solidFill>
                <a:srgbClr val="0000FF"/>
              </a:solidFill>
              <a:latin typeface="Times New Roman"/>
              <a:ea typeface="Times New Roman"/>
              <a:cs typeface="Times New Roman"/>
              <a:sym typeface="Times New Roman"/>
            </a:endParaRPr>
          </a:p>
          <a:p>
            <a:pPr indent="0" lvl="0" marL="0" marR="0" rtl="0" algn="l">
              <a:lnSpc>
                <a:spcPct val="100000"/>
              </a:lnSpc>
              <a:spcBef>
                <a:spcPts val="340"/>
              </a:spcBef>
              <a:spcAft>
                <a:spcPts val="0"/>
              </a:spcAft>
              <a:buClr>
                <a:srgbClr val="604A7B"/>
              </a:buClr>
              <a:buSzPts val="1700"/>
              <a:buFont typeface="Calibri"/>
              <a:buNone/>
            </a:pPr>
            <a:r>
              <a:t/>
            </a:r>
            <a:endParaRPr b="0" i="0" sz="1600" u="none">
              <a:solidFill>
                <a:srgbClr val="0000FF"/>
              </a:solidFill>
              <a:latin typeface="Times New Roman"/>
              <a:ea typeface="Times New Roman"/>
              <a:cs typeface="Times New Roman"/>
              <a:sym typeface="Times New Roman"/>
            </a:endParaRPr>
          </a:p>
          <a:p>
            <a:pPr indent="-234950" lvl="0" marL="342900" marR="0" rtl="0" algn="l">
              <a:lnSpc>
                <a:spcPct val="100000"/>
              </a:lnSpc>
              <a:spcBef>
                <a:spcPts val="340"/>
              </a:spcBef>
              <a:spcAft>
                <a:spcPts val="0"/>
              </a:spcAft>
              <a:buClr>
                <a:srgbClr val="604A7B"/>
              </a:buClr>
              <a:buSzPts val="1700"/>
              <a:buFont typeface="Arial"/>
              <a:buNone/>
            </a:pPr>
            <a:r>
              <a:t/>
            </a:r>
            <a:endParaRPr b="0" i="0" sz="1600" u="none">
              <a:solidFill>
                <a:srgbClr val="0000FF"/>
              </a:solidFill>
              <a:latin typeface="Times New Roman"/>
              <a:ea typeface="Times New Roman"/>
              <a:cs typeface="Times New Roman"/>
              <a:sym typeface="Times New Roman"/>
            </a:endParaRPr>
          </a:p>
        </p:txBody>
      </p:sp>
      <p:sp>
        <p:nvSpPr>
          <p:cNvPr id="227" name="Google Shape;227;p48"/>
          <p:cNvSpPr txBox="1"/>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28" name="Google Shape;228;p48"/>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29" name="Google Shape;229;p48"/>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5"/>
          <p:cNvSpPr txBox="1"/>
          <p:nvPr>
            <p:ph type="title"/>
          </p:nvPr>
        </p:nvSpPr>
        <p:spPr>
          <a:xfrm>
            <a:off x="1721650" y="1655675"/>
            <a:ext cx="5541000" cy="169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6600"/>
              </a:buClr>
              <a:buSzPts val="3200"/>
              <a:buFont typeface="Times New Roman"/>
              <a:buNone/>
            </a:pPr>
            <a:r>
              <a:rPr lang="en-US" sz="2800">
                <a:solidFill>
                  <a:srgbClr val="38761D"/>
                </a:solidFill>
              </a:rPr>
              <a:t>Thank Y</a:t>
            </a:r>
            <a:r>
              <a:rPr lang="en-US" sz="2800">
                <a:solidFill>
                  <a:srgbClr val="38761D"/>
                </a:solidFill>
              </a:rPr>
              <a:t>ou!</a:t>
            </a:r>
            <a:r>
              <a:rPr lang="en-US" sz="2800">
                <a:solidFill>
                  <a:srgbClr val="38761D"/>
                </a:solidFill>
              </a:rPr>
              <a:t> </a:t>
            </a:r>
            <a:endParaRPr sz="2800">
              <a:solidFill>
                <a:srgbClr val="38761D"/>
              </a:solidFill>
            </a:endParaRPr>
          </a:p>
          <a:p>
            <a:pPr indent="0" lvl="0" marL="0" rtl="0" algn="ctr">
              <a:lnSpc>
                <a:spcPct val="100000"/>
              </a:lnSpc>
              <a:spcBef>
                <a:spcPts val="0"/>
              </a:spcBef>
              <a:spcAft>
                <a:spcPts val="0"/>
              </a:spcAft>
              <a:buClr>
                <a:srgbClr val="006600"/>
              </a:buClr>
              <a:buSzPts val="3200"/>
              <a:buFont typeface="Times New Roman"/>
              <a:buNone/>
            </a:pPr>
            <a:r>
              <a:rPr lang="en-US" sz="2800">
                <a:solidFill>
                  <a:srgbClr val="38761D"/>
                </a:solidFill>
              </a:rPr>
              <a:t>Questions</a:t>
            </a:r>
            <a:r>
              <a:rPr lang="en-US" sz="2800">
                <a:solidFill>
                  <a:srgbClr val="38761D"/>
                </a:solidFill>
              </a:rPr>
              <a:t>?</a:t>
            </a:r>
            <a:endParaRPr sz="2800">
              <a:solidFill>
                <a:srgbClr val="38761D"/>
              </a:solidFill>
            </a:endParaRPr>
          </a:p>
          <a:p>
            <a:pPr indent="0" lvl="0" marL="0" rtl="0" algn="ctr">
              <a:lnSpc>
                <a:spcPct val="100000"/>
              </a:lnSpc>
              <a:spcBef>
                <a:spcPts val="0"/>
              </a:spcBef>
              <a:spcAft>
                <a:spcPts val="0"/>
              </a:spcAft>
              <a:buClr>
                <a:srgbClr val="006600"/>
              </a:buClr>
              <a:buSzPts val="3200"/>
              <a:buFont typeface="Times New Roman"/>
              <a:buNone/>
            </a:pPr>
            <a:r>
              <a:t/>
            </a:r>
            <a:endParaRPr sz="2800">
              <a:solidFill>
                <a:srgbClr val="38761D"/>
              </a:solidFill>
            </a:endParaRPr>
          </a:p>
        </p:txBody>
      </p:sp>
      <p:sp>
        <p:nvSpPr>
          <p:cNvPr id="235" name="Google Shape;235;p45"/>
          <p:cNvSpPr txBox="1"/>
          <p:nvPr/>
        </p:nvSpPr>
        <p:spPr>
          <a:xfrm>
            <a:off x="107950" y="6356350"/>
            <a:ext cx="1052512"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36" name="Google Shape;236;p45"/>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37" name="Google Shape;237;p45"/>
          <p:cNvSpPr txBox="1"/>
          <p:nvPr/>
        </p:nvSpPr>
        <p:spPr>
          <a:xfrm>
            <a:off x="8229600" y="6356350"/>
            <a:ext cx="8382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00"/>
              </a:buClr>
              <a:buSzPts val="1400"/>
              <a:buFont typeface="Times New Roman"/>
              <a:buNone/>
            </a:pPr>
            <a:fld id="{00000000-1234-1234-1234-123412341234}" type="slidenum">
              <a:rPr b="1" i="0" lang="en-US" sz="1400" u="none" cap="none" strike="noStrike">
                <a:solidFill>
                  <a:srgbClr val="0033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50"/>
          <p:cNvSpPr txBox="1"/>
          <p:nvPr>
            <p:ph idx="4294967295" type="body"/>
          </p:nvPr>
        </p:nvSpPr>
        <p:spPr>
          <a:xfrm>
            <a:off x="457200" y="2362200"/>
            <a:ext cx="8229600" cy="129536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9900CC"/>
              </a:buClr>
              <a:buSzPts val="4000"/>
              <a:buFont typeface="Arial"/>
              <a:buNone/>
            </a:pPr>
            <a:r>
              <a:rPr b="1" i="0" lang="en-US" sz="4000" u="none" cap="none" strike="noStrike">
                <a:solidFill>
                  <a:srgbClr val="9900CC"/>
                </a:solidFill>
                <a:latin typeface="Times New Roman"/>
                <a:ea typeface="Times New Roman"/>
                <a:cs typeface="Times New Roman"/>
                <a:sym typeface="Times New Roman"/>
              </a:rPr>
              <a:t>Thank  You!</a:t>
            </a:r>
            <a:endParaRPr/>
          </a:p>
        </p:txBody>
      </p:sp>
      <p:sp>
        <p:nvSpPr>
          <p:cNvPr id="243" name="Google Shape;243;p50"/>
          <p:cNvSpPr txBox="1"/>
          <p:nvPr/>
        </p:nvSpPr>
        <p:spPr>
          <a:xfrm>
            <a:off x="1160462" y="6356350"/>
            <a:ext cx="6873875"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400"/>
              <a:buFont typeface="Times New Roman"/>
              <a:buNone/>
            </a:pPr>
            <a:r>
              <a:t/>
            </a:r>
            <a:endParaRPr b="0" i="0" sz="1400" u="none" cap="none" strike="noStrike">
              <a:solidFill>
                <a:srgbClr val="000000"/>
              </a:solidFill>
              <a:latin typeface="Arial"/>
              <a:ea typeface="Arial"/>
              <a:cs typeface="Arial"/>
              <a:sym typeface="Arial"/>
            </a:endParaRPr>
          </a:p>
        </p:txBody>
      </p:sp>
      <p:sp>
        <p:nvSpPr>
          <p:cNvPr id="244" name="Google Shape;244;p50"/>
          <p:cNvSpPr txBox="1"/>
          <p:nvPr/>
        </p:nvSpPr>
        <p:spPr>
          <a:xfrm>
            <a:off x="8034337" y="6356350"/>
            <a:ext cx="652462"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2016-10-19T09:48:59Z</dcterms:created>
  <dc:creator>nandha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3" name="KSOProductBuildVer">
    <vt:lpstr>1033-10.2.0.5811</vt:lpstr>
  </property>
</Properties>
</file>