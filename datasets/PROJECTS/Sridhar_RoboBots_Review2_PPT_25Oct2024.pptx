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72" r:id="rId3"/>
    <p:sldId id="257" r:id="rId4"/>
    <p:sldId id="258" r:id="rId5"/>
    <p:sldId id="259" r:id="rId6"/>
    <p:sldId id="260" r:id="rId7"/>
    <p:sldId id="268" r:id="rId8"/>
    <p:sldId id="271" r:id="rId9"/>
    <p:sldId id="261" r:id="rId10"/>
    <p:sldId id="262" r:id="rId11"/>
    <p:sldId id="263" r:id="rId12"/>
    <p:sldId id="264" r:id="rId13"/>
    <p:sldId id="265" r:id="rId14"/>
    <p:sldId id="266" r:id="rId15"/>
    <p:sldId id="267"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660"/>
  </p:normalViewPr>
  <p:slideViewPr>
    <p:cSldViewPr snapToGrid="0">
      <p:cViewPr varScale="1">
        <p:scale>
          <a:sx n="108" d="100"/>
          <a:sy n="108" d="100"/>
        </p:scale>
        <p:origin x="65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481734-9382-4B59-89C4-1430073C0EA0}" type="datetimeFigureOut">
              <a:rPr lang="en-IN" smtClean="0"/>
              <a:t>25-10-2024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364AF5-9366-4AAE-BA0B-C84DB732D5FE}" type="slidenum">
              <a:rPr lang="en-IN" smtClean="0"/>
              <a:t>‹#›</a:t>
            </a:fld>
            <a:endParaRPr lang="en-IN"/>
          </a:p>
        </p:txBody>
      </p:sp>
    </p:spTree>
    <p:extLst>
      <p:ext uri="{BB962C8B-B14F-4D97-AF65-F5344CB8AC3E}">
        <p14:creationId xmlns:p14="http://schemas.microsoft.com/office/powerpoint/2010/main" val="2240015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F364AF5-9366-4AAE-BA0B-C84DB732D5FE}" type="slidenum">
              <a:rPr lang="en-IN" smtClean="0"/>
              <a:t>1</a:t>
            </a:fld>
            <a:endParaRPr lang="en-IN"/>
          </a:p>
        </p:txBody>
      </p:sp>
    </p:spTree>
    <p:extLst>
      <p:ext uri="{BB962C8B-B14F-4D97-AF65-F5344CB8AC3E}">
        <p14:creationId xmlns:p14="http://schemas.microsoft.com/office/powerpoint/2010/main" val="1003743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E0050-449E-A153-3EF3-CA2EC829CE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E6302B-F514-65D8-4795-B674267C74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3CACA6-A8F3-0C2B-36ED-2554E9D56FA8}"/>
              </a:ext>
            </a:extLst>
          </p:cNvPr>
          <p:cNvSpPr>
            <a:spLocks noGrp="1"/>
          </p:cNvSpPr>
          <p:nvPr>
            <p:ph type="dt" sz="half" idx="10"/>
          </p:nvPr>
        </p:nvSpPr>
        <p:spPr/>
        <p:txBody>
          <a:bodyPr/>
          <a:lstStyle/>
          <a:p>
            <a:fld id="{7F22E244-B588-42E9-BD16-94332FB17822}" type="datetime1">
              <a:rPr lang="en-IN" smtClean="0"/>
              <a:t>25-10-2024</a:t>
            </a:fld>
            <a:endParaRPr lang="en-IN"/>
          </a:p>
        </p:txBody>
      </p:sp>
      <p:sp>
        <p:nvSpPr>
          <p:cNvPr id="5" name="Footer Placeholder 4">
            <a:extLst>
              <a:ext uri="{FF2B5EF4-FFF2-40B4-BE49-F238E27FC236}">
                <a16:creationId xmlns:a16="http://schemas.microsoft.com/office/drawing/2014/main" id="{7E03E851-AEBB-CE9D-75A8-D46D53A96630}"/>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64BBF379-BB21-5439-3013-EC0AF8101291}"/>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3709033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E697-B8A6-9A6C-F7B1-47421B7892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169DD4-F9B6-28AA-0651-AC4F4714A0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F47073-1638-1362-4552-7F144A1E3D65}"/>
              </a:ext>
            </a:extLst>
          </p:cNvPr>
          <p:cNvSpPr>
            <a:spLocks noGrp="1"/>
          </p:cNvSpPr>
          <p:nvPr>
            <p:ph type="dt" sz="half" idx="10"/>
          </p:nvPr>
        </p:nvSpPr>
        <p:spPr/>
        <p:txBody>
          <a:bodyPr/>
          <a:lstStyle/>
          <a:p>
            <a:fld id="{D5A6E87C-6B66-4074-A92F-A3CC690EAB78}" type="datetime1">
              <a:rPr lang="en-IN" smtClean="0"/>
              <a:t>25-10-2024</a:t>
            </a:fld>
            <a:endParaRPr lang="en-IN"/>
          </a:p>
        </p:txBody>
      </p:sp>
      <p:sp>
        <p:nvSpPr>
          <p:cNvPr id="5" name="Footer Placeholder 4">
            <a:extLst>
              <a:ext uri="{FF2B5EF4-FFF2-40B4-BE49-F238E27FC236}">
                <a16:creationId xmlns:a16="http://schemas.microsoft.com/office/drawing/2014/main" id="{A7EF4EB7-8D18-CEC7-A76B-B693E48B637C}"/>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3EE78155-BFD4-E8CC-58CC-993AEC3CB4C4}"/>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4206681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6EC27-83D5-05A0-43DF-6CFF6184C5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FC8014-B2A1-04B9-B6B2-7F55FA84BF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140D44-128B-B0ED-D591-EB5022855EC4}"/>
              </a:ext>
            </a:extLst>
          </p:cNvPr>
          <p:cNvSpPr>
            <a:spLocks noGrp="1"/>
          </p:cNvSpPr>
          <p:nvPr>
            <p:ph type="dt" sz="half" idx="10"/>
          </p:nvPr>
        </p:nvSpPr>
        <p:spPr/>
        <p:txBody>
          <a:bodyPr/>
          <a:lstStyle/>
          <a:p>
            <a:fld id="{CD6E259C-62C8-41F9-BF22-A9D559DDD0BE}" type="datetime1">
              <a:rPr lang="en-IN" smtClean="0"/>
              <a:t>25-10-2024</a:t>
            </a:fld>
            <a:endParaRPr lang="en-IN"/>
          </a:p>
        </p:txBody>
      </p:sp>
      <p:sp>
        <p:nvSpPr>
          <p:cNvPr id="5" name="Footer Placeholder 4">
            <a:extLst>
              <a:ext uri="{FF2B5EF4-FFF2-40B4-BE49-F238E27FC236}">
                <a16:creationId xmlns:a16="http://schemas.microsoft.com/office/drawing/2014/main" id="{962E4D14-606A-2F95-3D80-E0B24F2C5DF9}"/>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6812BD17-D92D-EF0C-C2CF-EC69A7D9F6DE}"/>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407770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1227F-A0F1-7E19-845F-F11B523DD3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8EE9C7-47F2-E51E-A26D-41F78B463F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81BBAA-77A3-13D0-B3E7-BD8F792F4C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48D9F8-F295-EF13-CC6F-4D25C901F01C}"/>
              </a:ext>
            </a:extLst>
          </p:cNvPr>
          <p:cNvSpPr>
            <a:spLocks noGrp="1"/>
          </p:cNvSpPr>
          <p:nvPr>
            <p:ph type="dt" sz="half" idx="10"/>
          </p:nvPr>
        </p:nvSpPr>
        <p:spPr/>
        <p:txBody>
          <a:bodyPr/>
          <a:lstStyle/>
          <a:p>
            <a:fld id="{9019A8D2-2E59-45D9-B2C0-646AE27F423E}" type="datetime1">
              <a:rPr lang="en-IN" smtClean="0"/>
              <a:t>25-10-2024</a:t>
            </a:fld>
            <a:endParaRPr lang="en-IN"/>
          </a:p>
        </p:txBody>
      </p:sp>
      <p:sp>
        <p:nvSpPr>
          <p:cNvPr id="6" name="Footer Placeholder 5">
            <a:extLst>
              <a:ext uri="{FF2B5EF4-FFF2-40B4-BE49-F238E27FC236}">
                <a16:creationId xmlns:a16="http://schemas.microsoft.com/office/drawing/2014/main" id="{4B5B19B2-1336-980F-8AE3-1EE1E4BEA1A9}"/>
              </a:ext>
            </a:extLst>
          </p:cNvPr>
          <p:cNvSpPr>
            <a:spLocks noGrp="1"/>
          </p:cNvSpPr>
          <p:nvPr>
            <p:ph type="ftr" sz="quarter" idx="11"/>
          </p:nvPr>
        </p:nvSpPr>
        <p:spPr/>
        <p:txBody>
          <a:bodyPr/>
          <a:lstStyle/>
          <a:p>
            <a:r>
              <a:rPr lang="en-US"/>
              <a:t>Multi-Robot Coordinated System for Warehouse Management</a:t>
            </a:r>
            <a:endParaRPr lang="en-IN"/>
          </a:p>
        </p:txBody>
      </p:sp>
      <p:sp>
        <p:nvSpPr>
          <p:cNvPr id="7" name="Slide Number Placeholder 6">
            <a:extLst>
              <a:ext uri="{FF2B5EF4-FFF2-40B4-BE49-F238E27FC236}">
                <a16:creationId xmlns:a16="http://schemas.microsoft.com/office/drawing/2014/main" id="{9E59B342-400C-7B85-0513-3247B9764AF9}"/>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594254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2C548-93EE-EA25-AA08-B54F299C2AC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7A1486-C96A-A8E7-1965-5BDDCDC441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F209BC-FCDB-5B5C-B3A4-7B75D06A8E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8E8A65-50E6-8485-D0D6-4F7F737D2E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C163AF-2810-2A2C-C4FE-3BE647A91F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3D8F5C-3FB8-716B-4802-416EEB578922}"/>
              </a:ext>
            </a:extLst>
          </p:cNvPr>
          <p:cNvSpPr>
            <a:spLocks noGrp="1"/>
          </p:cNvSpPr>
          <p:nvPr>
            <p:ph type="dt" sz="half" idx="10"/>
          </p:nvPr>
        </p:nvSpPr>
        <p:spPr/>
        <p:txBody>
          <a:bodyPr/>
          <a:lstStyle/>
          <a:p>
            <a:fld id="{69B6EC17-5DDF-4E44-9352-B1EF5639BB76}" type="datetime1">
              <a:rPr lang="en-IN" smtClean="0"/>
              <a:t>25-10-2024</a:t>
            </a:fld>
            <a:endParaRPr lang="en-IN"/>
          </a:p>
        </p:txBody>
      </p:sp>
      <p:sp>
        <p:nvSpPr>
          <p:cNvPr id="8" name="Footer Placeholder 7">
            <a:extLst>
              <a:ext uri="{FF2B5EF4-FFF2-40B4-BE49-F238E27FC236}">
                <a16:creationId xmlns:a16="http://schemas.microsoft.com/office/drawing/2014/main" id="{83BBEECF-28E0-B0A7-C40C-2DDD0BAC5FCF}"/>
              </a:ext>
            </a:extLst>
          </p:cNvPr>
          <p:cNvSpPr>
            <a:spLocks noGrp="1"/>
          </p:cNvSpPr>
          <p:nvPr>
            <p:ph type="ftr" sz="quarter" idx="11"/>
          </p:nvPr>
        </p:nvSpPr>
        <p:spPr/>
        <p:txBody>
          <a:bodyPr/>
          <a:lstStyle/>
          <a:p>
            <a:r>
              <a:rPr lang="en-US"/>
              <a:t>Multi-Robot Coordinated System for Warehouse Management</a:t>
            </a:r>
            <a:endParaRPr lang="en-IN"/>
          </a:p>
        </p:txBody>
      </p:sp>
      <p:sp>
        <p:nvSpPr>
          <p:cNvPr id="9" name="Slide Number Placeholder 8">
            <a:extLst>
              <a:ext uri="{FF2B5EF4-FFF2-40B4-BE49-F238E27FC236}">
                <a16:creationId xmlns:a16="http://schemas.microsoft.com/office/drawing/2014/main" id="{DDBBD8D2-62CE-D2B3-9C00-D2E8E35CBDCF}"/>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3870591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E7E43-CBD5-FBDE-6B21-375739E5787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3A90050-C5E5-8BC5-20E4-F25E2BD5C8FF}"/>
              </a:ext>
            </a:extLst>
          </p:cNvPr>
          <p:cNvSpPr>
            <a:spLocks noGrp="1"/>
          </p:cNvSpPr>
          <p:nvPr>
            <p:ph type="dt" sz="half" idx="10"/>
          </p:nvPr>
        </p:nvSpPr>
        <p:spPr/>
        <p:txBody>
          <a:bodyPr/>
          <a:lstStyle/>
          <a:p>
            <a:fld id="{049212AD-D40C-4A7F-95F9-52098715F513}" type="datetime1">
              <a:rPr lang="en-IN" smtClean="0"/>
              <a:t>25-10-2024</a:t>
            </a:fld>
            <a:endParaRPr lang="en-IN"/>
          </a:p>
        </p:txBody>
      </p:sp>
      <p:sp>
        <p:nvSpPr>
          <p:cNvPr id="4" name="Footer Placeholder 3">
            <a:extLst>
              <a:ext uri="{FF2B5EF4-FFF2-40B4-BE49-F238E27FC236}">
                <a16:creationId xmlns:a16="http://schemas.microsoft.com/office/drawing/2014/main" id="{25189AB6-0233-4C86-1167-2A2589CF9CA7}"/>
              </a:ext>
            </a:extLst>
          </p:cNvPr>
          <p:cNvSpPr>
            <a:spLocks noGrp="1"/>
          </p:cNvSpPr>
          <p:nvPr>
            <p:ph type="ftr" sz="quarter" idx="11"/>
          </p:nvPr>
        </p:nvSpPr>
        <p:spPr/>
        <p:txBody>
          <a:bodyPr/>
          <a:lstStyle/>
          <a:p>
            <a:r>
              <a:rPr lang="en-US"/>
              <a:t>Multi-Robot Coordinated System for Warehouse Management</a:t>
            </a:r>
            <a:endParaRPr lang="en-IN"/>
          </a:p>
        </p:txBody>
      </p:sp>
      <p:sp>
        <p:nvSpPr>
          <p:cNvPr id="5" name="Slide Number Placeholder 4">
            <a:extLst>
              <a:ext uri="{FF2B5EF4-FFF2-40B4-BE49-F238E27FC236}">
                <a16:creationId xmlns:a16="http://schemas.microsoft.com/office/drawing/2014/main" id="{58E7AB14-D587-0466-0B90-7F16607D4465}"/>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219033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4B8AEA-A694-6752-A3AF-A3A763D8C4A4}"/>
              </a:ext>
            </a:extLst>
          </p:cNvPr>
          <p:cNvSpPr>
            <a:spLocks noGrp="1"/>
          </p:cNvSpPr>
          <p:nvPr>
            <p:ph type="dt" sz="half" idx="10"/>
          </p:nvPr>
        </p:nvSpPr>
        <p:spPr/>
        <p:txBody>
          <a:bodyPr/>
          <a:lstStyle/>
          <a:p>
            <a:fld id="{CDA3E0C7-F94E-4134-819B-B9A87DD066F5}" type="datetime1">
              <a:rPr lang="en-IN" smtClean="0"/>
              <a:t>25-10-2024</a:t>
            </a:fld>
            <a:endParaRPr lang="en-IN"/>
          </a:p>
        </p:txBody>
      </p:sp>
      <p:sp>
        <p:nvSpPr>
          <p:cNvPr id="3" name="Footer Placeholder 2">
            <a:extLst>
              <a:ext uri="{FF2B5EF4-FFF2-40B4-BE49-F238E27FC236}">
                <a16:creationId xmlns:a16="http://schemas.microsoft.com/office/drawing/2014/main" id="{785B4EC4-F9BF-6451-25AC-D16F70B7A3FA}"/>
              </a:ext>
            </a:extLst>
          </p:cNvPr>
          <p:cNvSpPr>
            <a:spLocks noGrp="1"/>
          </p:cNvSpPr>
          <p:nvPr>
            <p:ph type="ftr" sz="quarter" idx="11"/>
          </p:nvPr>
        </p:nvSpPr>
        <p:spPr/>
        <p:txBody>
          <a:bodyPr/>
          <a:lstStyle/>
          <a:p>
            <a:r>
              <a:rPr lang="en-US"/>
              <a:t>Multi-Robot Coordinated System for Warehouse Management</a:t>
            </a:r>
            <a:endParaRPr lang="en-IN"/>
          </a:p>
        </p:txBody>
      </p:sp>
      <p:sp>
        <p:nvSpPr>
          <p:cNvPr id="4" name="Slide Number Placeholder 3">
            <a:extLst>
              <a:ext uri="{FF2B5EF4-FFF2-40B4-BE49-F238E27FC236}">
                <a16:creationId xmlns:a16="http://schemas.microsoft.com/office/drawing/2014/main" id="{BD9CA0D8-1400-8AA8-BB58-5E4E0CE4BBB0}"/>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1104287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C3AAB-1427-E0D7-2C81-13E14CBAB9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038581-6F85-13AE-46DF-8230672F80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3230B4A-6EEF-1B72-9D6B-357FA93E12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D83FA3-661D-DEEE-1435-0E999AF9B6DC}"/>
              </a:ext>
            </a:extLst>
          </p:cNvPr>
          <p:cNvSpPr>
            <a:spLocks noGrp="1"/>
          </p:cNvSpPr>
          <p:nvPr>
            <p:ph type="dt" sz="half" idx="10"/>
          </p:nvPr>
        </p:nvSpPr>
        <p:spPr/>
        <p:txBody>
          <a:bodyPr/>
          <a:lstStyle/>
          <a:p>
            <a:fld id="{7CF54018-4C7A-4A39-B517-907288F3DAB9}" type="datetime1">
              <a:rPr lang="en-IN" smtClean="0"/>
              <a:t>25-10-2024</a:t>
            </a:fld>
            <a:endParaRPr lang="en-IN"/>
          </a:p>
        </p:txBody>
      </p:sp>
      <p:sp>
        <p:nvSpPr>
          <p:cNvPr id="6" name="Footer Placeholder 5">
            <a:extLst>
              <a:ext uri="{FF2B5EF4-FFF2-40B4-BE49-F238E27FC236}">
                <a16:creationId xmlns:a16="http://schemas.microsoft.com/office/drawing/2014/main" id="{5DA2C4CC-0A44-331C-A68A-634961189AFA}"/>
              </a:ext>
            </a:extLst>
          </p:cNvPr>
          <p:cNvSpPr>
            <a:spLocks noGrp="1"/>
          </p:cNvSpPr>
          <p:nvPr>
            <p:ph type="ftr" sz="quarter" idx="11"/>
          </p:nvPr>
        </p:nvSpPr>
        <p:spPr/>
        <p:txBody>
          <a:bodyPr/>
          <a:lstStyle/>
          <a:p>
            <a:r>
              <a:rPr lang="en-US"/>
              <a:t>Multi-Robot Coordinated System for Warehouse Management</a:t>
            </a:r>
            <a:endParaRPr lang="en-IN"/>
          </a:p>
        </p:txBody>
      </p:sp>
      <p:sp>
        <p:nvSpPr>
          <p:cNvPr id="7" name="Slide Number Placeholder 6">
            <a:extLst>
              <a:ext uri="{FF2B5EF4-FFF2-40B4-BE49-F238E27FC236}">
                <a16:creationId xmlns:a16="http://schemas.microsoft.com/office/drawing/2014/main" id="{F9FCDB8F-8F83-11C5-44C6-EECE8D978E1B}"/>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3159656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2C80F-42D0-DAD7-179A-C843F831C5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871A87-7AF8-2F1F-3C1E-0709C40317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0BE9B2-4F76-D1F2-98F8-A9DC4B4F42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26FB4-E3E0-0114-9E20-FC1571DDB886}"/>
              </a:ext>
            </a:extLst>
          </p:cNvPr>
          <p:cNvSpPr>
            <a:spLocks noGrp="1"/>
          </p:cNvSpPr>
          <p:nvPr>
            <p:ph type="dt" sz="half" idx="10"/>
          </p:nvPr>
        </p:nvSpPr>
        <p:spPr/>
        <p:txBody>
          <a:bodyPr/>
          <a:lstStyle/>
          <a:p>
            <a:fld id="{DDED87A5-5D4D-4333-A53E-B142622408D8}" type="datetime1">
              <a:rPr lang="en-IN" smtClean="0"/>
              <a:t>25-10-2024</a:t>
            </a:fld>
            <a:endParaRPr lang="en-IN"/>
          </a:p>
        </p:txBody>
      </p:sp>
      <p:sp>
        <p:nvSpPr>
          <p:cNvPr id="6" name="Footer Placeholder 5">
            <a:extLst>
              <a:ext uri="{FF2B5EF4-FFF2-40B4-BE49-F238E27FC236}">
                <a16:creationId xmlns:a16="http://schemas.microsoft.com/office/drawing/2014/main" id="{CBFD3B14-CA84-E2F6-032C-4DBF01D84A72}"/>
              </a:ext>
            </a:extLst>
          </p:cNvPr>
          <p:cNvSpPr>
            <a:spLocks noGrp="1"/>
          </p:cNvSpPr>
          <p:nvPr>
            <p:ph type="ftr" sz="quarter" idx="11"/>
          </p:nvPr>
        </p:nvSpPr>
        <p:spPr/>
        <p:txBody>
          <a:bodyPr/>
          <a:lstStyle/>
          <a:p>
            <a:r>
              <a:rPr lang="en-US"/>
              <a:t>Multi-Robot Coordinated System for Warehouse Management</a:t>
            </a:r>
            <a:endParaRPr lang="en-IN"/>
          </a:p>
        </p:txBody>
      </p:sp>
      <p:sp>
        <p:nvSpPr>
          <p:cNvPr id="7" name="Slide Number Placeholder 6">
            <a:extLst>
              <a:ext uri="{FF2B5EF4-FFF2-40B4-BE49-F238E27FC236}">
                <a16:creationId xmlns:a16="http://schemas.microsoft.com/office/drawing/2014/main" id="{974A949C-EB19-B019-CBE3-DB0C954AED9E}"/>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3467548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D2FA1-1C12-F151-7D2F-80FE5984DC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B578D0-E878-A2A2-4CEA-19CC070A84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6C00DF-241F-B29A-9138-DE377DCAFDE4}"/>
              </a:ext>
            </a:extLst>
          </p:cNvPr>
          <p:cNvSpPr>
            <a:spLocks noGrp="1"/>
          </p:cNvSpPr>
          <p:nvPr>
            <p:ph type="dt" sz="half" idx="10"/>
          </p:nvPr>
        </p:nvSpPr>
        <p:spPr/>
        <p:txBody>
          <a:bodyPr/>
          <a:lstStyle/>
          <a:p>
            <a:fld id="{A4BE442E-2A80-4C7C-B603-5522566FF0D2}" type="datetime1">
              <a:rPr lang="en-IN" smtClean="0"/>
              <a:t>25-10-2024</a:t>
            </a:fld>
            <a:endParaRPr lang="en-IN"/>
          </a:p>
        </p:txBody>
      </p:sp>
      <p:sp>
        <p:nvSpPr>
          <p:cNvPr id="5" name="Footer Placeholder 4">
            <a:extLst>
              <a:ext uri="{FF2B5EF4-FFF2-40B4-BE49-F238E27FC236}">
                <a16:creationId xmlns:a16="http://schemas.microsoft.com/office/drawing/2014/main" id="{5D16A2EE-F4E9-CFA8-6271-8414F877D459}"/>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F3BE8E7F-3700-3BAC-62D1-3A764AA8AAF8}"/>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2372007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6077EA-DF43-26F5-9D46-2B82590396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68410D-7E51-4DA6-8B96-4C507F31A4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3782BF-FE1E-46DC-43DE-2F52C406DB21}"/>
              </a:ext>
            </a:extLst>
          </p:cNvPr>
          <p:cNvSpPr>
            <a:spLocks noGrp="1"/>
          </p:cNvSpPr>
          <p:nvPr>
            <p:ph type="dt" sz="half" idx="10"/>
          </p:nvPr>
        </p:nvSpPr>
        <p:spPr/>
        <p:txBody>
          <a:bodyPr/>
          <a:lstStyle/>
          <a:p>
            <a:fld id="{60F30A1F-F87B-4D30-B0A1-D41422F2C1C3}" type="datetime1">
              <a:rPr lang="en-IN" smtClean="0"/>
              <a:t>25-10-2024</a:t>
            </a:fld>
            <a:endParaRPr lang="en-IN"/>
          </a:p>
        </p:txBody>
      </p:sp>
      <p:sp>
        <p:nvSpPr>
          <p:cNvPr id="5" name="Footer Placeholder 4">
            <a:extLst>
              <a:ext uri="{FF2B5EF4-FFF2-40B4-BE49-F238E27FC236}">
                <a16:creationId xmlns:a16="http://schemas.microsoft.com/office/drawing/2014/main" id="{6D4A78EE-253C-6958-BF76-5BB2D6010C85}"/>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B2F75455-BC69-FE86-C37C-CBA0D9104284}"/>
              </a:ext>
            </a:extLst>
          </p:cNvPr>
          <p:cNvSpPr>
            <a:spLocks noGrp="1"/>
          </p:cNvSpPr>
          <p:nvPr>
            <p:ph type="sldNum" sz="quarter" idx="12"/>
          </p:nvPr>
        </p:nvSpPr>
        <p:spPr/>
        <p:txBody>
          <a:bodyPr/>
          <a:lstStyle/>
          <a:p>
            <a:fld id="{BCD8B248-873C-447D-B91D-0DF08D23C344}" type="slidenum">
              <a:rPr lang="en-IN" smtClean="0"/>
              <a:t>‹#›</a:t>
            </a:fld>
            <a:endParaRPr lang="en-IN"/>
          </a:p>
        </p:txBody>
      </p:sp>
    </p:spTree>
    <p:extLst>
      <p:ext uri="{BB962C8B-B14F-4D97-AF65-F5344CB8AC3E}">
        <p14:creationId xmlns:p14="http://schemas.microsoft.com/office/powerpoint/2010/main" val="219975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88ADFF-E901-251B-54FE-2C5FA49926C3}"/>
              </a:ext>
            </a:extLst>
          </p:cNvPr>
          <p:cNvSpPr>
            <a:spLocks noGrp="1"/>
          </p:cNvSpPr>
          <p:nvPr>
            <p:ph type="title"/>
          </p:nvPr>
        </p:nvSpPr>
        <p:spPr>
          <a:xfrm>
            <a:off x="0" y="18256"/>
            <a:ext cx="12192000" cy="538698"/>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46DD498B-6E15-7002-10FE-4AF5D1A20C5C}"/>
              </a:ext>
            </a:extLst>
          </p:cNvPr>
          <p:cNvSpPr>
            <a:spLocks noGrp="1"/>
          </p:cNvSpPr>
          <p:nvPr>
            <p:ph type="body" idx="1"/>
          </p:nvPr>
        </p:nvSpPr>
        <p:spPr>
          <a:xfrm>
            <a:off x="-1" y="556954"/>
            <a:ext cx="12192000" cy="594134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53130D65-1D7D-54DF-856B-02FF015362CF}"/>
              </a:ext>
            </a:extLst>
          </p:cNvPr>
          <p:cNvSpPr>
            <a:spLocks noGrp="1"/>
          </p:cNvSpPr>
          <p:nvPr>
            <p:ph type="dt" sz="half" idx="2"/>
          </p:nvPr>
        </p:nvSpPr>
        <p:spPr>
          <a:xfrm>
            <a:off x="0" y="6525491"/>
            <a:ext cx="1130531" cy="304684"/>
          </a:xfrm>
          <a:prstGeom prst="rect">
            <a:avLst/>
          </a:prstGeom>
        </p:spPr>
        <p:txBody>
          <a:bodyPr vert="horz" lIns="91440" tIns="45720" rIns="91440" bIns="45720" rtlCol="0" anchor="ctr"/>
          <a:lstStyle>
            <a:lvl1pPr algn="l">
              <a:defRPr sz="1400" b="1">
                <a:solidFill>
                  <a:srgbClr val="C00000"/>
                </a:solidFill>
                <a:latin typeface="Times New Roman" panose="02020603050405020304" pitchFamily="18" charset="0"/>
                <a:cs typeface="Times New Roman" panose="02020603050405020304" pitchFamily="18" charset="0"/>
              </a:defRPr>
            </a:lvl1pPr>
          </a:lstStyle>
          <a:p>
            <a:fld id="{47850DE0-D426-4C9D-BD2E-F24577CFB6DE}" type="datetime1">
              <a:rPr lang="en-IN" smtClean="0"/>
              <a:t>25-10-2024</a:t>
            </a:fld>
            <a:endParaRPr lang="en-IN" dirty="0"/>
          </a:p>
        </p:txBody>
      </p:sp>
      <p:sp>
        <p:nvSpPr>
          <p:cNvPr id="5" name="Footer Placeholder 4">
            <a:extLst>
              <a:ext uri="{FF2B5EF4-FFF2-40B4-BE49-F238E27FC236}">
                <a16:creationId xmlns:a16="http://schemas.microsoft.com/office/drawing/2014/main" id="{BA589477-C50C-CE5F-5C03-1D77078C8644}"/>
              </a:ext>
            </a:extLst>
          </p:cNvPr>
          <p:cNvSpPr>
            <a:spLocks noGrp="1"/>
          </p:cNvSpPr>
          <p:nvPr>
            <p:ph type="ftr" sz="quarter" idx="3"/>
          </p:nvPr>
        </p:nvSpPr>
        <p:spPr>
          <a:xfrm>
            <a:off x="3416531" y="6525491"/>
            <a:ext cx="5170516" cy="365125"/>
          </a:xfrm>
          <a:prstGeom prst="rect">
            <a:avLst/>
          </a:prstGeom>
        </p:spPr>
        <p:txBody>
          <a:bodyPr vert="horz" lIns="91440" tIns="45720" rIns="91440" bIns="45720" rtlCol="0" anchor="ctr"/>
          <a:lstStyle>
            <a:lvl1pPr algn="ctr">
              <a:defRPr sz="1400" b="1">
                <a:solidFill>
                  <a:srgbClr val="C00000"/>
                </a:solidFill>
                <a:latin typeface="Times New Roman" panose="02020603050405020304" pitchFamily="18" charset="0"/>
                <a:cs typeface="Times New Roman" panose="02020603050405020304" pitchFamily="18" charset="0"/>
              </a:defRPr>
            </a:lvl1pPr>
          </a:lstStyle>
          <a:p>
            <a:r>
              <a:rPr lang="en-US" dirty="0"/>
              <a:t>Multi-Robot Coordinated System for Warehouse Management</a:t>
            </a:r>
            <a:endParaRPr lang="en-IN" dirty="0"/>
          </a:p>
        </p:txBody>
      </p:sp>
      <p:sp>
        <p:nvSpPr>
          <p:cNvPr id="6" name="Slide Number Placeholder 5">
            <a:extLst>
              <a:ext uri="{FF2B5EF4-FFF2-40B4-BE49-F238E27FC236}">
                <a16:creationId xmlns:a16="http://schemas.microsoft.com/office/drawing/2014/main" id="{C6D7674D-24C2-5F6E-A10C-AB3400BB2BE9}"/>
              </a:ext>
            </a:extLst>
          </p:cNvPr>
          <p:cNvSpPr>
            <a:spLocks noGrp="1"/>
          </p:cNvSpPr>
          <p:nvPr>
            <p:ph type="sldNum" sz="quarter" idx="4"/>
          </p:nvPr>
        </p:nvSpPr>
        <p:spPr>
          <a:xfrm>
            <a:off x="11521440" y="6525491"/>
            <a:ext cx="538942" cy="337935"/>
          </a:xfrm>
          <a:prstGeom prst="rect">
            <a:avLst/>
          </a:prstGeom>
        </p:spPr>
        <p:txBody>
          <a:bodyPr vert="horz" lIns="91440" tIns="45720" rIns="91440" bIns="45720" rtlCol="0" anchor="ctr"/>
          <a:lstStyle>
            <a:lvl1pPr algn="r">
              <a:defRPr sz="1400" b="1">
                <a:solidFill>
                  <a:srgbClr val="C00000"/>
                </a:solidFill>
              </a:defRPr>
            </a:lvl1pPr>
          </a:lstStyle>
          <a:p>
            <a:fld id="{BCD8B248-873C-447D-B91D-0DF08D23C344}" type="slidenum">
              <a:rPr lang="en-IN" smtClean="0"/>
              <a:pPr/>
              <a:t>‹#›</a:t>
            </a:fld>
            <a:endParaRPr lang="en-IN" dirty="0"/>
          </a:p>
        </p:txBody>
      </p:sp>
    </p:spTree>
    <p:extLst>
      <p:ext uri="{BB962C8B-B14F-4D97-AF65-F5344CB8AC3E}">
        <p14:creationId xmlns:p14="http://schemas.microsoft.com/office/powerpoint/2010/main" val="1132055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lnSpc>
          <a:spcPct val="90000"/>
        </a:lnSpc>
        <a:spcBef>
          <a:spcPct val="0"/>
        </a:spcBef>
        <a:buNone/>
        <a:defRPr sz="3200" b="1" kern="1200">
          <a:solidFill>
            <a:srgbClr val="C00000"/>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00FF"/>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rgbClr val="006600"/>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6600"/>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6600"/>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72CE0-7FB1-8285-8229-703B4FF3C3CC}"/>
              </a:ext>
            </a:extLst>
          </p:cNvPr>
          <p:cNvSpPr>
            <a:spLocks noGrp="1"/>
          </p:cNvSpPr>
          <p:nvPr>
            <p:ph type="ctrTitle"/>
          </p:nvPr>
        </p:nvSpPr>
        <p:spPr>
          <a:xfrm>
            <a:off x="1594338" y="341508"/>
            <a:ext cx="9144000" cy="2387600"/>
          </a:xfrm>
        </p:spPr>
        <p:txBody>
          <a:bodyPr/>
          <a:lstStyle/>
          <a:p>
            <a:pPr algn="l"/>
            <a:r>
              <a:rPr lang="en-IN" dirty="0"/>
              <a:t>Robo - Scout</a:t>
            </a:r>
          </a:p>
        </p:txBody>
      </p:sp>
      <p:sp>
        <p:nvSpPr>
          <p:cNvPr id="3" name="Subtitle 2">
            <a:extLst>
              <a:ext uri="{FF2B5EF4-FFF2-40B4-BE49-F238E27FC236}">
                <a16:creationId xmlns:a16="http://schemas.microsoft.com/office/drawing/2014/main" id="{41DD4F5A-A0E1-A9C8-B976-C2C088DCB4B9}"/>
              </a:ext>
            </a:extLst>
          </p:cNvPr>
          <p:cNvSpPr>
            <a:spLocks noGrp="1"/>
          </p:cNvSpPr>
          <p:nvPr>
            <p:ph type="subTitle" idx="1"/>
          </p:nvPr>
        </p:nvSpPr>
        <p:spPr>
          <a:xfrm>
            <a:off x="1655884" y="2631977"/>
            <a:ext cx="9144000" cy="1655762"/>
          </a:xfrm>
        </p:spPr>
        <p:txBody>
          <a:bodyPr>
            <a:normAutofit/>
          </a:bodyPr>
          <a:lstStyle/>
          <a:p>
            <a:pPr algn="l" rtl="0">
              <a:spcBef>
                <a:spcPts val="0"/>
              </a:spcBef>
              <a:spcAft>
                <a:spcPts val="0"/>
              </a:spcAft>
            </a:pPr>
            <a:r>
              <a:rPr lang="en-US" sz="2000" b="0" i="0" u="none" strike="noStrike" dirty="0">
                <a:solidFill>
                  <a:srgbClr val="1A1A1A"/>
                </a:solidFill>
                <a:effectLst/>
                <a:latin typeface="Raleway" panose="020F0502020204030204" pitchFamily="2" charset="0"/>
              </a:rPr>
              <a:t>Multi-Robot Coordinated System for Optimized </a:t>
            </a:r>
            <a:endParaRPr lang="en-US" sz="2000" b="0" dirty="0">
              <a:effectLst/>
            </a:endParaRPr>
          </a:p>
          <a:p>
            <a:pPr algn="l" rtl="0">
              <a:spcBef>
                <a:spcPts val="0"/>
              </a:spcBef>
              <a:spcAft>
                <a:spcPts val="0"/>
              </a:spcAft>
            </a:pPr>
            <a:r>
              <a:rPr lang="en-US" sz="2000" b="0" i="0" u="none" strike="noStrike" dirty="0">
                <a:solidFill>
                  <a:srgbClr val="1A1A1A"/>
                </a:solidFill>
                <a:effectLst/>
                <a:latin typeface="Raleway" panose="020F0502020204030204" pitchFamily="2" charset="0"/>
              </a:rPr>
              <a:t>Warehouse Management</a:t>
            </a:r>
            <a:endParaRPr lang="en-US" sz="2000" b="0" dirty="0">
              <a:effectLst/>
            </a:endParaRPr>
          </a:p>
          <a:p>
            <a:pPr algn="l"/>
            <a:br>
              <a:rPr lang="en-US" sz="2000" dirty="0"/>
            </a:br>
            <a:endParaRPr lang="en-IN" sz="2000" dirty="0"/>
          </a:p>
        </p:txBody>
      </p:sp>
      <p:sp>
        <p:nvSpPr>
          <p:cNvPr id="5" name="TextBox 4">
            <a:extLst>
              <a:ext uri="{FF2B5EF4-FFF2-40B4-BE49-F238E27FC236}">
                <a16:creationId xmlns:a16="http://schemas.microsoft.com/office/drawing/2014/main" id="{4403D1AE-0C5E-275F-D2DE-978E45982955}"/>
              </a:ext>
            </a:extLst>
          </p:cNvPr>
          <p:cNvSpPr txBox="1"/>
          <p:nvPr/>
        </p:nvSpPr>
        <p:spPr>
          <a:xfrm>
            <a:off x="1594338" y="4630639"/>
            <a:ext cx="4073551" cy="1631216"/>
          </a:xfrm>
          <a:prstGeom prst="rect">
            <a:avLst/>
          </a:prstGeom>
          <a:noFill/>
        </p:spPr>
        <p:txBody>
          <a:bodyPr wrap="none" rtlCol="0">
            <a:spAutoFit/>
          </a:bodyPr>
          <a:lstStyle/>
          <a:p>
            <a:pPr rtl="0">
              <a:spcBef>
                <a:spcPts val="0"/>
              </a:spcBef>
              <a:spcAft>
                <a:spcPts val="0"/>
              </a:spcAft>
            </a:pPr>
            <a:r>
              <a:rPr lang="nn-NO" sz="2000" b="0" i="0" u="none" strike="noStrike" dirty="0">
                <a:effectLst/>
                <a:latin typeface="Raleway" pitchFamily="2" charset="0"/>
              </a:rPr>
              <a:t>Harshavardan K K (715521104015)</a:t>
            </a:r>
            <a:endParaRPr lang="nn-NO" sz="2000" b="0" dirty="0">
              <a:effectLst/>
              <a:latin typeface="Raleway" pitchFamily="2" charset="0"/>
            </a:endParaRPr>
          </a:p>
          <a:p>
            <a:pPr rtl="0">
              <a:spcBef>
                <a:spcPts val="0"/>
              </a:spcBef>
              <a:spcAft>
                <a:spcPts val="0"/>
              </a:spcAft>
            </a:pPr>
            <a:r>
              <a:rPr lang="nn-NO" sz="2000" b="0" i="0" u="none" strike="noStrike" dirty="0">
                <a:effectLst/>
                <a:latin typeface="Raleway" pitchFamily="2" charset="0"/>
              </a:rPr>
              <a:t>Sridhar R (715521104310)</a:t>
            </a:r>
            <a:endParaRPr lang="nn-NO" sz="2000" b="0" dirty="0">
              <a:effectLst/>
              <a:latin typeface="Raleway" pitchFamily="2" charset="0"/>
            </a:endParaRPr>
          </a:p>
          <a:p>
            <a:pPr rtl="0">
              <a:spcBef>
                <a:spcPts val="0"/>
              </a:spcBef>
              <a:spcAft>
                <a:spcPts val="0"/>
              </a:spcAft>
            </a:pPr>
            <a:r>
              <a:rPr lang="nn-NO" sz="2000" b="0" i="0" u="none" strike="noStrike" dirty="0">
                <a:effectLst/>
                <a:latin typeface="Raleway" pitchFamily="2" charset="0"/>
              </a:rPr>
              <a:t>Mugunthan R (715521104305)</a:t>
            </a:r>
            <a:endParaRPr lang="nn-NO" sz="2000" b="0" dirty="0">
              <a:effectLst/>
              <a:latin typeface="Raleway" pitchFamily="2" charset="0"/>
            </a:endParaRPr>
          </a:p>
          <a:p>
            <a:br>
              <a:rPr lang="nn-NO" sz="2000" b="0" dirty="0">
                <a:effectLst/>
                <a:latin typeface="Raleway" pitchFamily="2" charset="0"/>
              </a:rPr>
            </a:br>
            <a:endParaRPr lang="en-IN" sz="2000" dirty="0">
              <a:latin typeface="Raleway" pitchFamily="2" charset="0"/>
            </a:endParaRPr>
          </a:p>
        </p:txBody>
      </p:sp>
      <p:sp>
        <p:nvSpPr>
          <p:cNvPr id="6" name="TextBox 5">
            <a:extLst>
              <a:ext uri="{FF2B5EF4-FFF2-40B4-BE49-F238E27FC236}">
                <a16:creationId xmlns:a16="http://schemas.microsoft.com/office/drawing/2014/main" id="{AFA77882-F02F-FB7A-1944-D949E29F8373}"/>
              </a:ext>
            </a:extLst>
          </p:cNvPr>
          <p:cNvSpPr txBox="1"/>
          <p:nvPr/>
        </p:nvSpPr>
        <p:spPr>
          <a:xfrm>
            <a:off x="8765931" y="4862146"/>
            <a:ext cx="2989384" cy="646331"/>
          </a:xfrm>
          <a:prstGeom prst="rect">
            <a:avLst/>
          </a:prstGeom>
          <a:noFill/>
        </p:spPr>
        <p:txBody>
          <a:bodyPr wrap="square" rtlCol="0">
            <a:spAutoFit/>
          </a:bodyPr>
          <a:lstStyle/>
          <a:p>
            <a:r>
              <a:rPr lang="pt-BR" dirty="0">
                <a:latin typeface="Raleway" pitchFamily="2" charset="0"/>
              </a:rPr>
              <a:t>Project Guide:</a:t>
            </a:r>
          </a:p>
          <a:p>
            <a:r>
              <a:rPr lang="pt-BR" dirty="0">
                <a:latin typeface="Raleway" pitchFamily="2" charset="0"/>
              </a:rPr>
              <a:t>Dr. Manimegalai R</a:t>
            </a:r>
          </a:p>
        </p:txBody>
      </p:sp>
    </p:spTree>
    <p:extLst>
      <p:ext uri="{BB962C8B-B14F-4D97-AF65-F5344CB8AC3E}">
        <p14:creationId xmlns:p14="http://schemas.microsoft.com/office/powerpoint/2010/main" val="678288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631BB-84DC-4CFA-9F80-14773F7AC327}"/>
              </a:ext>
            </a:extLst>
          </p:cNvPr>
          <p:cNvSpPr>
            <a:spLocks noGrp="1"/>
          </p:cNvSpPr>
          <p:nvPr>
            <p:ph type="title"/>
          </p:nvPr>
        </p:nvSpPr>
        <p:spPr/>
        <p:txBody>
          <a:bodyPr/>
          <a:lstStyle/>
          <a:p>
            <a:r>
              <a:rPr lang="en-US" dirty="0"/>
              <a:t>Outline of the Presentation</a:t>
            </a:r>
            <a:endParaRPr lang="en-IN" dirty="0"/>
          </a:p>
        </p:txBody>
      </p:sp>
      <p:sp>
        <p:nvSpPr>
          <p:cNvPr id="3" name="Content Placeholder 2">
            <a:extLst>
              <a:ext uri="{FF2B5EF4-FFF2-40B4-BE49-F238E27FC236}">
                <a16:creationId xmlns:a16="http://schemas.microsoft.com/office/drawing/2014/main" id="{47B2A0C9-86F3-422F-A9DD-5190D836E3DA}"/>
              </a:ext>
            </a:extLst>
          </p:cNvPr>
          <p:cNvSpPr>
            <a:spLocks noGrp="1"/>
          </p:cNvSpPr>
          <p:nvPr>
            <p:ph idx="1"/>
          </p:nvPr>
        </p:nvSpPr>
        <p:spPr/>
        <p:txBody>
          <a:bodyPr/>
          <a:lstStyle/>
          <a:p>
            <a:r>
              <a:rPr lang="en-US" dirty="0"/>
              <a:t>Introduction and Background</a:t>
            </a:r>
          </a:p>
          <a:p>
            <a:r>
              <a:rPr lang="en-US" dirty="0"/>
              <a:t>Literature Review</a:t>
            </a:r>
          </a:p>
          <a:p>
            <a:r>
              <a:rPr lang="en-US" dirty="0"/>
              <a:t>Gaps Identified </a:t>
            </a:r>
          </a:p>
          <a:p>
            <a:r>
              <a:rPr lang="en-US" dirty="0"/>
              <a:t>Objectives</a:t>
            </a:r>
          </a:p>
          <a:p>
            <a:r>
              <a:rPr lang="en-US" dirty="0"/>
              <a:t>Proposed Methodology for the Multi-Robot Coordinated System for Warehouse Management</a:t>
            </a:r>
            <a:endParaRPr lang="en-IN" dirty="0"/>
          </a:p>
          <a:p>
            <a:r>
              <a:rPr lang="en-US" dirty="0"/>
              <a:t>Progress After the Previous Review</a:t>
            </a:r>
          </a:p>
          <a:p>
            <a:r>
              <a:rPr lang="en-US" dirty="0"/>
              <a:t>Roles and Responsibilities</a:t>
            </a:r>
          </a:p>
          <a:p>
            <a:r>
              <a:rPr lang="en-US" dirty="0"/>
              <a:t>Time of the Project </a:t>
            </a:r>
          </a:p>
          <a:p>
            <a:r>
              <a:rPr lang="en-US" dirty="0"/>
              <a:t>Demo </a:t>
            </a:r>
          </a:p>
          <a:p>
            <a:r>
              <a:rPr lang="en-US" dirty="0"/>
              <a:t>Conclusions</a:t>
            </a:r>
          </a:p>
          <a:p>
            <a:r>
              <a:rPr lang="en-US" dirty="0"/>
              <a:t>References</a:t>
            </a:r>
          </a:p>
        </p:txBody>
      </p:sp>
      <p:sp>
        <p:nvSpPr>
          <p:cNvPr id="4" name="Date Placeholder 3">
            <a:extLst>
              <a:ext uri="{FF2B5EF4-FFF2-40B4-BE49-F238E27FC236}">
                <a16:creationId xmlns:a16="http://schemas.microsoft.com/office/drawing/2014/main" id="{B1C1D35A-038C-493A-9F1E-956CD9E104AB}"/>
              </a:ext>
            </a:extLst>
          </p:cNvPr>
          <p:cNvSpPr>
            <a:spLocks noGrp="1"/>
          </p:cNvSpPr>
          <p:nvPr>
            <p:ph type="dt" sz="half" idx="10"/>
          </p:nvPr>
        </p:nvSpPr>
        <p:spPr/>
        <p:txBody>
          <a:bodyPr/>
          <a:lstStyle/>
          <a:p>
            <a:fld id="{D5A6E87C-6B66-4074-A92F-A3CC690EAB78}" type="datetime1">
              <a:rPr lang="en-IN" smtClean="0"/>
              <a:t>25-10-2024</a:t>
            </a:fld>
            <a:endParaRPr lang="en-IN"/>
          </a:p>
        </p:txBody>
      </p:sp>
      <p:sp>
        <p:nvSpPr>
          <p:cNvPr id="5" name="Footer Placeholder 4">
            <a:extLst>
              <a:ext uri="{FF2B5EF4-FFF2-40B4-BE49-F238E27FC236}">
                <a16:creationId xmlns:a16="http://schemas.microsoft.com/office/drawing/2014/main" id="{77CAA087-1356-4EA3-AE8E-16AE341518B8}"/>
              </a:ext>
            </a:extLst>
          </p:cNvPr>
          <p:cNvSpPr>
            <a:spLocks noGrp="1"/>
          </p:cNvSpPr>
          <p:nvPr>
            <p:ph type="ftr" sz="quarter" idx="11"/>
          </p:nvPr>
        </p:nvSpPr>
        <p:spPr/>
        <p:txBody>
          <a:bodyPr/>
          <a:lstStyle/>
          <a:p>
            <a:r>
              <a:rPr lang="en-US" dirty="0"/>
              <a:t>Multi-Robot Coordinated System for Warehouse Management</a:t>
            </a:r>
            <a:endParaRPr lang="en-IN" dirty="0"/>
          </a:p>
        </p:txBody>
      </p:sp>
      <p:sp>
        <p:nvSpPr>
          <p:cNvPr id="6" name="Slide Number Placeholder 5">
            <a:extLst>
              <a:ext uri="{FF2B5EF4-FFF2-40B4-BE49-F238E27FC236}">
                <a16:creationId xmlns:a16="http://schemas.microsoft.com/office/drawing/2014/main" id="{9B741722-CFC6-449F-8F72-08A95D95B55D}"/>
              </a:ext>
            </a:extLst>
          </p:cNvPr>
          <p:cNvSpPr>
            <a:spLocks noGrp="1"/>
          </p:cNvSpPr>
          <p:nvPr>
            <p:ph type="sldNum" sz="quarter" idx="12"/>
          </p:nvPr>
        </p:nvSpPr>
        <p:spPr/>
        <p:txBody>
          <a:bodyPr/>
          <a:lstStyle/>
          <a:p>
            <a:fld id="{BCD8B248-873C-447D-B91D-0DF08D23C344}" type="slidenum">
              <a:rPr lang="en-IN" smtClean="0"/>
              <a:t>2</a:t>
            </a:fld>
            <a:endParaRPr lang="en-IN"/>
          </a:p>
        </p:txBody>
      </p:sp>
    </p:spTree>
    <p:extLst>
      <p:ext uri="{BB962C8B-B14F-4D97-AF65-F5344CB8AC3E}">
        <p14:creationId xmlns:p14="http://schemas.microsoft.com/office/powerpoint/2010/main" val="2690803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D9B99-7D7D-CC44-F3E9-E98D5C6E1819}"/>
              </a:ext>
            </a:extLst>
          </p:cNvPr>
          <p:cNvSpPr>
            <a:spLocks noGrp="1"/>
          </p:cNvSpPr>
          <p:nvPr>
            <p:ph type="title"/>
          </p:nvPr>
        </p:nvSpPr>
        <p:spPr/>
        <p:txBody>
          <a:bodyPr>
            <a:normAutofit fontScale="90000"/>
          </a:bodyPr>
          <a:lstStyle/>
          <a:p>
            <a:br>
              <a:rPr lang="en-IN" dirty="0"/>
            </a:br>
            <a:r>
              <a:rPr lang="en-IN" dirty="0"/>
              <a:t>Objective of the Problem</a:t>
            </a:r>
            <a:br>
              <a:rPr lang="en-IN" dirty="0"/>
            </a:br>
            <a:endParaRPr lang="en-IN" dirty="0"/>
          </a:p>
        </p:txBody>
      </p:sp>
      <p:sp>
        <p:nvSpPr>
          <p:cNvPr id="3" name="Content Placeholder 2">
            <a:extLst>
              <a:ext uri="{FF2B5EF4-FFF2-40B4-BE49-F238E27FC236}">
                <a16:creationId xmlns:a16="http://schemas.microsoft.com/office/drawing/2014/main" id="{87A0C491-CA3B-78C3-3D31-72706D85B58A}"/>
              </a:ext>
            </a:extLst>
          </p:cNvPr>
          <p:cNvSpPr>
            <a:spLocks noGrp="1"/>
          </p:cNvSpPr>
          <p:nvPr>
            <p:ph idx="1"/>
          </p:nvPr>
        </p:nvSpPr>
        <p:spPr/>
        <p:txBody>
          <a:bodyPr>
            <a:normAutofit/>
          </a:bodyPr>
          <a:lstStyle/>
          <a:p>
            <a:r>
              <a:rPr lang="en-US" sz="2000" dirty="0"/>
              <a:t>To design and develop a Multi-Robot Coordinated System capable of using multiple autonomous bots to collaboratively perform tasks for warehouse navigation, collision avoidance and do pickup and drop of warehouse pallets.</a:t>
            </a:r>
          </a:p>
          <a:p>
            <a:r>
              <a:rPr lang="en-US" sz="2000" dirty="0"/>
              <a:t>Each bot in the swarm should be equipped with motors that will help in navigating through the environment and identify the desired pallet and drop in its delivery zone  which is achieved with minimal human intervention. </a:t>
            </a:r>
          </a:p>
          <a:p>
            <a:r>
              <a:rPr lang="en-US" sz="2000" dirty="0"/>
              <a:t>The system should optimize task allocation, navigation, and data exchange to enable effective coordinated action for multiple bots to exist.</a:t>
            </a:r>
          </a:p>
          <a:p>
            <a:endParaRPr lang="en-IN" sz="2000" dirty="0"/>
          </a:p>
        </p:txBody>
      </p:sp>
      <p:sp>
        <p:nvSpPr>
          <p:cNvPr id="4" name="Date Placeholder 3">
            <a:extLst>
              <a:ext uri="{FF2B5EF4-FFF2-40B4-BE49-F238E27FC236}">
                <a16:creationId xmlns:a16="http://schemas.microsoft.com/office/drawing/2014/main" id="{103481BC-0D48-4786-8DA2-D4BFD55028A3}"/>
              </a:ext>
            </a:extLst>
          </p:cNvPr>
          <p:cNvSpPr>
            <a:spLocks noGrp="1"/>
          </p:cNvSpPr>
          <p:nvPr>
            <p:ph type="dt" sz="half" idx="10"/>
          </p:nvPr>
        </p:nvSpPr>
        <p:spPr/>
        <p:txBody>
          <a:bodyPr/>
          <a:lstStyle/>
          <a:p>
            <a:fld id="{84C8FBD0-6793-4AC1-98C8-B8E3168DD85E}" type="datetime1">
              <a:rPr lang="en-IN" smtClean="0"/>
              <a:t>25-10-2024</a:t>
            </a:fld>
            <a:endParaRPr lang="en-IN"/>
          </a:p>
        </p:txBody>
      </p:sp>
      <p:sp>
        <p:nvSpPr>
          <p:cNvPr id="5" name="Footer Placeholder 4">
            <a:extLst>
              <a:ext uri="{FF2B5EF4-FFF2-40B4-BE49-F238E27FC236}">
                <a16:creationId xmlns:a16="http://schemas.microsoft.com/office/drawing/2014/main" id="{4CC01A9C-4554-4E85-9925-D179FF5367C2}"/>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17AC0853-80B1-4C88-9853-9DACB66726F5}"/>
              </a:ext>
            </a:extLst>
          </p:cNvPr>
          <p:cNvSpPr>
            <a:spLocks noGrp="1"/>
          </p:cNvSpPr>
          <p:nvPr>
            <p:ph type="sldNum" sz="quarter" idx="12"/>
          </p:nvPr>
        </p:nvSpPr>
        <p:spPr/>
        <p:txBody>
          <a:bodyPr/>
          <a:lstStyle/>
          <a:p>
            <a:fld id="{BCD8B248-873C-447D-B91D-0DF08D23C344}" type="slidenum">
              <a:rPr lang="en-IN" smtClean="0"/>
              <a:t>3</a:t>
            </a:fld>
            <a:endParaRPr lang="en-IN"/>
          </a:p>
        </p:txBody>
      </p:sp>
    </p:spTree>
    <p:extLst>
      <p:ext uri="{BB962C8B-B14F-4D97-AF65-F5344CB8AC3E}">
        <p14:creationId xmlns:p14="http://schemas.microsoft.com/office/powerpoint/2010/main" val="3930077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DD960-6C52-B3D5-0807-E3AF737A15D1}"/>
              </a:ext>
            </a:extLst>
          </p:cNvPr>
          <p:cNvSpPr>
            <a:spLocks noGrp="1"/>
          </p:cNvSpPr>
          <p:nvPr>
            <p:ph type="title"/>
          </p:nvPr>
        </p:nvSpPr>
        <p:spPr/>
        <p:txBody>
          <a:bodyPr>
            <a:normAutofit fontScale="90000"/>
          </a:bodyPr>
          <a:lstStyle/>
          <a:p>
            <a:br>
              <a:rPr lang="en-IN" dirty="0"/>
            </a:br>
            <a:br>
              <a:rPr lang="en-IN" dirty="0"/>
            </a:br>
            <a:br>
              <a:rPr lang="en-IN" dirty="0"/>
            </a:br>
            <a:r>
              <a:rPr lang="en-IN" dirty="0"/>
              <a:t>Abstract</a:t>
            </a:r>
            <a:br>
              <a:rPr lang="en-IN" dirty="0"/>
            </a:br>
            <a:br>
              <a:rPr lang="en-IN" dirty="0"/>
            </a:br>
            <a:br>
              <a:rPr lang="en-IN" dirty="0"/>
            </a:br>
            <a:endParaRPr lang="en-IN" dirty="0"/>
          </a:p>
        </p:txBody>
      </p:sp>
      <p:sp>
        <p:nvSpPr>
          <p:cNvPr id="3" name="Content Placeholder 2">
            <a:extLst>
              <a:ext uri="{FF2B5EF4-FFF2-40B4-BE49-F238E27FC236}">
                <a16:creationId xmlns:a16="http://schemas.microsoft.com/office/drawing/2014/main" id="{8FF4CE09-5FE1-2E0B-ADBC-9BBCA3263843}"/>
              </a:ext>
            </a:extLst>
          </p:cNvPr>
          <p:cNvSpPr>
            <a:spLocks noGrp="1"/>
          </p:cNvSpPr>
          <p:nvPr>
            <p:ph idx="1"/>
          </p:nvPr>
        </p:nvSpPr>
        <p:spPr/>
        <p:txBody>
          <a:bodyPr>
            <a:normAutofit/>
          </a:bodyPr>
          <a:lstStyle/>
          <a:p>
            <a:r>
              <a:rPr lang="en-US" sz="2000" dirty="0"/>
              <a:t>The system will manage a fleet of small, autonomous robots in a warehouse-simulated environment, each equipped with </a:t>
            </a:r>
            <a:r>
              <a:rPr lang="en-US" sz="2000" dirty="0" err="1"/>
              <a:t>ArUco</a:t>
            </a:r>
            <a:r>
              <a:rPr lang="en-US" sz="2000" dirty="0"/>
              <a:t> markers for unique identification.</a:t>
            </a:r>
          </a:p>
          <a:p>
            <a:r>
              <a:rPr lang="en-US" sz="2000" dirty="0"/>
              <a:t>A master PC with an eagle-eye view of the warehouse will plan collision-free paths for the robots, including speed and angle, to ensure efficient navigation.</a:t>
            </a:r>
          </a:p>
          <a:p>
            <a:r>
              <a:rPr lang="en-US" sz="2000" dirty="0"/>
              <a:t>Each bot will receive its navigational instructions via a </a:t>
            </a:r>
            <a:r>
              <a:rPr lang="en-US" sz="2000" dirty="0" err="1"/>
              <a:t>NodeMCU</a:t>
            </a:r>
            <a:r>
              <a:rPr lang="en-US" sz="2000" dirty="0"/>
              <a:t>, allowing the robots to travel seamlessly and deliver pallets to their designated locations.</a:t>
            </a:r>
            <a:endParaRPr lang="en-IN" sz="2000" dirty="0"/>
          </a:p>
        </p:txBody>
      </p:sp>
      <p:sp>
        <p:nvSpPr>
          <p:cNvPr id="4" name="Date Placeholder 3">
            <a:extLst>
              <a:ext uri="{FF2B5EF4-FFF2-40B4-BE49-F238E27FC236}">
                <a16:creationId xmlns:a16="http://schemas.microsoft.com/office/drawing/2014/main" id="{81C15632-1344-444E-B873-6A02CE11FDAC}"/>
              </a:ext>
            </a:extLst>
          </p:cNvPr>
          <p:cNvSpPr>
            <a:spLocks noGrp="1"/>
          </p:cNvSpPr>
          <p:nvPr>
            <p:ph type="dt" sz="half" idx="10"/>
          </p:nvPr>
        </p:nvSpPr>
        <p:spPr/>
        <p:txBody>
          <a:bodyPr/>
          <a:lstStyle/>
          <a:p>
            <a:fld id="{559BD5F5-8D67-4144-B4B5-33FCB26850A1}" type="datetime1">
              <a:rPr lang="en-IN" smtClean="0"/>
              <a:t>25-10-2024</a:t>
            </a:fld>
            <a:endParaRPr lang="en-IN"/>
          </a:p>
        </p:txBody>
      </p:sp>
      <p:sp>
        <p:nvSpPr>
          <p:cNvPr id="5" name="Footer Placeholder 4">
            <a:extLst>
              <a:ext uri="{FF2B5EF4-FFF2-40B4-BE49-F238E27FC236}">
                <a16:creationId xmlns:a16="http://schemas.microsoft.com/office/drawing/2014/main" id="{B7101FC6-8E3F-43A6-A04C-04FBBDD486C0}"/>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FE1FE278-9C7D-431F-9749-4F931016A446}"/>
              </a:ext>
            </a:extLst>
          </p:cNvPr>
          <p:cNvSpPr>
            <a:spLocks noGrp="1"/>
          </p:cNvSpPr>
          <p:nvPr>
            <p:ph type="sldNum" sz="quarter" idx="12"/>
          </p:nvPr>
        </p:nvSpPr>
        <p:spPr/>
        <p:txBody>
          <a:bodyPr/>
          <a:lstStyle/>
          <a:p>
            <a:fld id="{BCD8B248-873C-447D-B91D-0DF08D23C344}" type="slidenum">
              <a:rPr lang="en-IN" smtClean="0"/>
              <a:t>4</a:t>
            </a:fld>
            <a:endParaRPr lang="en-IN"/>
          </a:p>
        </p:txBody>
      </p:sp>
    </p:spTree>
    <p:extLst>
      <p:ext uri="{BB962C8B-B14F-4D97-AF65-F5344CB8AC3E}">
        <p14:creationId xmlns:p14="http://schemas.microsoft.com/office/powerpoint/2010/main" val="705627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F8C6B-A51C-D2E6-E695-3E06F8B9A131}"/>
              </a:ext>
            </a:extLst>
          </p:cNvPr>
          <p:cNvSpPr>
            <a:spLocks noGrp="1"/>
          </p:cNvSpPr>
          <p:nvPr>
            <p:ph type="title"/>
          </p:nvPr>
        </p:nvSpPr>
        <p:spPr/>
        <p:txBody>
          <a:bodyPr>
            <a:normAutofit fontScale="90000"/>
          </a:bodyPr>
          <a:lstStyle/>
          <a:p>
            <a:br>
              <a:rPr lang="en-IN" dirty="0"/>
            </a:br>
            <a:r>
              <a:rPr lang="en-IN" dirty="0"/>
              <a:t>Module(s)</a:t>
            </a:r>
            <a:br>
              <a:rPr lang="en-IN" dirty="0"/>
            </a:br>
            <a:endParaRPr lang="en-IN" dirty="0"/>
          </a:p>
        </p:txBody>
      </p:sp>
      <p:sp>
        <p:nvSpPr>
          <p:cNvPr id="3" name="Content Placeholder 2">
            <a:extLst>
              <a:ext uri="{FF2B5EF4-FFF2-40B4-BE49-F238E27FC236}">
                <a16:creationId xmlns:a16="http://schemas.microsoft.com/office/drawing/2014/main" id="{12F8701B-6050-0949-D425-D63FEC6365F8}"/>
              </a:ext>
            </a:extLst>
          </p:cNvPr>
          <p:cNvSpPr>
            <a:spLocks noGrp="1"/>
          </p:cNvSpPr>
          <p:nvPr>
            <p:ph idx="1"/>
          </p:nvPr>
        </p:nvSpPr>
        <p:spPr/>
        <p:txBody>
          <a:bodyPr>
            <a:normAutofit/>
          </a:bodyPr>
          <a:lstStyle/>
          <a:p>
            <a:r>
              <a:rPr lang="en-US" sz="2000" dirty="0"/>
              <a:t>Camera Module - to enable the computer vision. </a:t>
            </a:r>
          </a:p>
          <a:p>
            <a:r>
              <a:rPr lang="en-US" sz="2000" dirty="0"/>
              <a:t>Robot &amp; Pallet Localization - this is implemented using </a:t>
            </a:r>
            <a:r>
              <a:rPr lang="en-US" sz="2000" dirty="0" err="1"/>
              <a:t>ArUco</a:t>
            </a:r>
            <a:r>
              <a:rPr lang="en-US" sz="2000" dirty="0"/>
              <a:t> Markers and the boundaries of the environment is marked</a:t>
            </a:r>
          </a:p>
          <a:p>
            <a:r>
              <a:rPr lang="en-US" sz="2000" dirty="0"/>
              <a:t>Task Coordination and Command Module - to transfer commands from central server to bots.</a:t>
            </a:r>
          </a:p>
          <a:p>
            <a:r>
              <a:rPr lang="en-US" sz="2000" dirty="0"/>
              <a:t>Path Planner - this is to plan the route for the bot from it current position to the pallets and after collecting the pallets from there to the drop off points.</a:t>
            </a:r>
          </a:p>
          <a:p>
            <a:r>
              <a:rPr lang="en-US" sz="2000" dirty="0"/>
              <a:t>Motor Control module - Servo motor inputs are provided.</a:t>
            </a:r>
          </a:p>
          <a:p>
            <a:r>
              <a:rPr lang="en-US" sz="2000" dirty="0"/>
              <a:t>Electromagnet - to pick up the pallets.</a:t>
            </a:r>
          </a:p>
          <a:p>
            <a:endParaRPr lang="en-IN" sz="2000" dirty="0"/>
          </a:p>
        </p:txBody>
      </p:sp>
      <p:sp>
        <p:nvSpPr>
          <p:cNvPr id="4" name="Date Placeholder 3">
            <a:extLst>
              <a:ext uri="{FF2B5EF4-FFF2-40B4-BE49-F238E27FC236}">
                <a16:creationId xmlns:a16="http://schemas.microsoft.com/office/drawing/2014/main" id="{6A163840-0A67-4B50-A879-DAB6A37E3CB7}"/>
              </a:ext>
            </a:extLst>
          </p:cNvPr>
          <p:cNvSpPr>
            <a:spLocks noGrp="1"/>
          </p:cNvSpPr>
          <p:nvPr>
            <p:ph type="dt" sz="half" idx="10"/>
          </p:nvPr>
        </p:nvSpPr>
        <p:spPr/>
        <p:txBody>
          <a:bodyPr/>
          <a:lstStyle/>
          <a:p>
            <a:fld id="{B040FCF8-2A57-4DEC-8E04-737B961EBF63}" type="datetime1">
              <a:rPr lang="en-IN" smtClean="0"/>
              <a:t>25-10-2024</a:t>
            </a:fld>
            <a:endParaRPr lang="en-IN"/>
          </a:p>
        </p:txBody>
      </p:sp>
      <p:sp>
        <p:nvSpPr>
          <p:cNvPr id="5" name="Footer Placeholder 4">
            <a:extLst>
              <a:ext uri="{FF2B5EF4-FFF2-40B4-BE49-F238E27FC236}">
                <a16:creationId xmlns:a16="http://schemas.microsoft.com/office/drawing/2014/main" id="{83AFEAFA-7AB5-42C9-9C91-FC1ED9FD9133}"/>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4BAA2701-B631-4C01-9584-E6060710FEE0}"/>
              </a:ext>
            </a:extLst>
          </p:cNvPr>
          <p:cNvSpPr>
            <a:spLocks noGrp="1"/>
          </p:cNvSpPr>
          <p:nvPr>
            <p:ph type="sldNum" sz="quarter" idx="12"/>
          </p:nvPr>
        </p:nvSpPr>
        <p:spPr/>
        <p:txBody>
          <a:bodyPr/>
          <a:lstStyle/>
          <a:p>
            <a:fld id="{BCD8B248-873C-447D-B91D-0DF08D23C344}" type="slidenum">
              <a:rPr lang="en-IN" smtClean="0"/>
              <a:t>5</a:t>
            </a:fld>
            <a:endParaRPr lang="en-IN"/>
          </a:p>
        </p:txBody>
      </p:sp>
    </p:spTree>
    <p:extLst>
      <p:ext uri="{BB962C8B-B14F-4D97-AF65-F5344CB8AC3E}">
        <p14:creationId xmlns:p14="http://schemas.microsoft.com/office/powerpoint/2010/main" val="857221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0C9E3-95A8-7408-7FDC-F23D4957F9DE}"/>
              </a:ext>
            </a:extLst>
          </p:cNvPr>
          <p:cNvSpPr>
            <a:spLocks noGrp="1"/>
          </p:cNvSpPr>
          <p:nvPr>
            <p:ph type="title"/>
          </p:nvPr>
        </p:nvSpPr>
        <p:spPr/>
        <p:txBody>
          <a:bodyPr>
            <a:normAutofit fontScale="90000"/>
          </a:bodyPr>
          <a:lstStyle/>
          <a:p>
            <a:br>
              <a:rPr lang="en-IN" dirty="0"/>
            </a:br>
            <a:r>
              <a:rPr lang="en-IN" dirty="0"/>
              <a:t>Hardware Components</a:t>
            </a:r>
            <a:br>
              <a:rPr lang="en-IN" dirty="0"/>
            </a:br>
            <a:endParaRPr lang="en-IN" dirty="0"/>
          </a:p>
        </p:txBody>
      </p:sp>
      <p:pic>
        <p:nvPicPr>
          <p:cNvPr id="1026" name="Picture 2">
            <a:extLst>
              <a:ext uri="{FF2B5EF4-FFF2-40B4-BE49-F238E27FC236}">
                <a16:creationId xmlns:a16="http://schemas.microsoft.com/office/drawing/2014/main" id="{9FE96F72-1C03-E630-2B4C-D823AEF6753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01031"/>
            <a:ext cx="2178355" cy="21783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10D0B7C-C64B-1574-FA11-88E15FF1BD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7290" y="1821900"/>
            <a:ext cx="2238375" cy="20383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odeMCU - Wikipedia">
            <a:extLst>
              <a:ext uri="{FF2B5EF4-FFF2-40B4-BE49-F238E27FC236}">
                <a16:creationId xmlns:a16="http://schemas.microsoft.com/office/drawing/2014/main" id="{375DBE13-6B35-4797-EEFB-EE1F161C1E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80287" y="2117175"/>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owerPro SG 90 Micro Servo Motor ...">
            <a:extLst>
              <a:ext uri="{FF2B5EF4-FFF2-40B4-BE49-F238E27FC236}">
                <a16:creationId xmlns:a16="http://schemas.microsoft.com/office/drawing/2014/main" id="{276B469D-7BE7-7E08-E091-C94FFEC157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955" y="4224703"/>
            <a:ext cx="2352675" cy="19431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18650 Rechargeable Lithium Ion Battery ...">
            <a:extLst>
              <a:ext uri="{FF2B5EF4-FFF2-40B4-BE49-F238E27FC236}">
                <a16:creationId xmlns:a16="http://schemas.microsoft.com/office/drawing/2014/main" id="{33895B29-AD99-1394-6733-CE2FD64678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40762" y="4224703"/>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T Single Phase 7805 Voltage Regulator ...">
            <a:extLst>
              <a:ext uri="{FF2B5EF4-FFF2-40B4-BE49-F238E27FC236}">
                <a16:creationId xmlns:a16="http://schemas.microsoft.com/office/drawing/2014/main" id="{5CB4B342-0BB5-97BF-1DD9-A3AE76DCB5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94977" y="434975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id="{7C3D9A18-6F37-431C-842A-AFBD6DC0C1E2}"/>
              </a:ext>
            </a:extLst>
          </p:cNvPr>
          <p:cNvSpPr>
            <a:spLocks noGrp="1"/>
          </p:cNvSpPr>
          <p:nvPr>
            <p:ph type="dt" sz="half" idx="10"/>
          </p:nvPr>
        </p:nvSpPr>
        <p:spPr/>
        <p:txBody>
          <a:bodyPr/>
          <a:lstStyle/>
          <a:p>
            <a:fld id="{94C44CEF-A10E-4CAF-8355-F70482297F79}" type="datetime1">
              <a:rPr lang="en-IN" smtClean="0"/>
              <a:t>25-10-2024</a:t>
            </a:fld>
            <a:endParaRPr lang="en-IN"/>
          </a:p>
        </p:txBody>
      </p:sp>
      <p:sp>
        <p:nvSpPr>
          <p:cNvPr id="4" name="Footer Placeholder 3">
            <a:extLst>
              <a:ext uri="{FF2B5EF4-FFF2-40B4-BE49-F238E27FC236}">
                <a16:creationId xmlns:a16="http://schemas.microsoft.com/office/drawing/2014/main" id="{CA7C31F3-4979-4148-AFDA-B7209077BC24}"/>
              </a:ext>
            </a:extLst>
          </p:cNvPr>
          <p:cNvSpPr>
            <a:spLocks noGrp="1"/>
          </p:cNvSpPr>
          <p:nvPr>
            <p:ph type="ftr" sz="quarter" idx="11"/>
          </p:nvPr>
        </p:nvSpPr>
        <p:spPr/>
        <p:txBody>
          <a:bodyPr/>
          <a:lstStyle/>
          <a:p>
            <a:r>
              <a:rPr lang="en-US"/>
              <a:t>Multi-Robot Coordinated System for Warehouse Management</a:t>
            </a:r>
            <a:endParaRPr lang="en-IN"/>
          </a:p>
        </p:txBody>
      </p:sp>
      <p:sp>
        <p:nvSpPr>
          <p:cNvPr id="5" name="Slide Number Placeholder 4">
            <a:extLst>
              <a:ext uri="{FF2B5EF4-FFF2-40B4-BE49-F238E27FC236}">
                <a16:creationId xmlns:a16="http://schemas.microsoft.com/office/drawing/2014/main" id="{394CDF75-945D-4A2E-A5EA-24B5DF8FE092}"/>
              </a:ext>
            </a:extLst>
          </p:cNvPr>
          <p:cNvSpPr>
            <a:spLocks noGrp="1"/>
          </p:cNvSpPr>
          <p:nvPr>
            <p:ph type="sldNum" sz="quarter" idx="12"/>
          </p:nvPr>
        </p:nvSpPr>
        <p:spPr/>
        <p:txBody>
          <a:bodyPr/>
          <a:lstStyle/>
          <a:p>
            <a:fld id="{BCD8B248-873C-447D-B91D-0DF08D23C344}" type="slidenum">
              <a:rPr lang="en-IN" smtClean="0"/>
              <a:t>6</a:t>
            </a:fld>
            <a:endParaRPr lang="en-IN"/>
          </a:p>
        </p:txBody>
      </p:sp>
    </p:spTree>
    <p:extLst>
      <p:ext uri="{BB962C8B-B14F-4D97-AF65-F5344CB8AC3E}">
        <p14:creationId xmlns:p14="http://schemas.microsoft.com/office/powerpoint/2010/main" val="4038021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6555-5DB2-7A0C-8CDA-290F3B20FFC9}"/>
              </a:ext>
            </a:extLst>
          </p:cNvPr>
          <p:cNvSpPr>
            <a:spLocks noGrp="1"/>
          </p:cNvSpPr>
          <p:nvPr>
            <p:ph type="title"/>
          </p:nvPr>
        </p:nvSpPr>
        <p:spPr/>
        <p:txBody>
          <a:bodyPr>
            <a:normAutofit/>
          </a:bodyPr>
          <a:lstStyle/>
          <a:p>
            <a:r>
              <a:rPr lang="en-IN" dirty="0"/>
              <a:t>Block Diagram (Hardware) </a:t>
            </a:r>
          </a:p>
        </p:txBody>
      </p:sp>
      <p:sp>
        <p:nvSpPr>
          <p:cNvPr id="3" name="Content Placeholder 2">
            <a:extLst>
              <a:ext uri="{FF2B5EF4-FFF2-40B4-BE49-F238E27FC236}">
                <a16:creationId xmlns:a16="http://schemas.microsoft.com/office/drawing/2014/main" id="{941DA61C-E773-39E7-DD32-D2CFD83FE6CB}"/>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3B4E50CE-2527-7067-ACD4-482809DDBB29}"/>
              </a:ext>
            </a:extLst>
          </p:cNvPr>
          <p:cNvPicPr>
            <a:picLocks noChangeAspect="1"/>
          </p:cNvPicPr>
          <p:nvPr/>
        </p:nvPicPr>
        <p:blipFill>
          <a:blip r:embed="rId2"/>
          <a:stretch>
            <a:fillRect/>
          </a:stretch>
        </p:blipFill>
        <p:spPr>
          <a:xfrm>
            <a:off x="838200" y="1899981"/>
            <a:ext cx="8611802" cy="3667637"/>
          </a:xfrm>
          <a:prstGeom prst="rect">
            <a:avLst/>
          </a:prstGeom>
        </p:spPr>
      </p:pic>
      <p:sp>
        <p:nvSpPr>
          <p:cNvPr id="4" name="Date Placeholder 3">
            <a:extLst>
              <a:ext uri="{FF2B5EF4-FFF2-40B4-BE49-F238E27FC236}">
                <a16:creationId xmlns:a16="http://schemas.microsoft.com/office/drawing/2014/main" id="{5F21390D-C951-4867-9716-18A87F228125}"/>
              </a:ext>
            </a:extLst>
          </p:cNvPr>
          <p:cNvSpPr>
            <a:spLocks noGrp="1"/>
          </p:cNvSpPr>
          <p:nvPr>
            <p:ph type="dt" sz="half" idx="10"/>
          </p:nvPr>
        </p:nvSpPr>
        <p:spPr/>
        <p:txBody>
          <a:bodyPr/>
          <a:lstStyle/>
          <a:p>
            <a:fld id="{41656157-F317-4989-A142-E66C8CDC8DA7}" type="datetime1">
              <a:rPr lang="en-IN" smtClean="0"/>
              <a:t>25-10-2024</a:t>
            </a:fld>
            <a:endParaRPr lang="en-IN"/>
          </a:p>
        </p:txBody>
      </p:sp>
      <p:sp>
        <p:nvSpPr>
          <p:cNvPr id="6" name="Footer Placeholder 5">
            <a:extLst>
              <a:ext uri="{FF2B5EF4-FFF2-40B4-BE49-F238E27FC236}">
                <a16:creationId xmlns:a16="http://schemas.microsoft.com/office/drawing/2014/main" id="{B239F068-2A6A-456D-A11F-4E5C2CD7115D}"/>
              </a:ext>
            </a:extLst>
          </p:cNvPr>
          <p:cNvSpPr>
            <a:spLocks noGrp="1"/>
          </p:cNvSpPr>
          <p:nvPr>
            <p:ph type="ftr" sz="quarter" idx="11"/>
          </p:nvPr>
        </p:nvSpPr>
        <p:spPr/>
        <p:txBody>
          <a:bodyPr/>
          <a:lstStyle/>
          <a:p>
            <a:r>
              <a:rPr lang="en-US"/>
              <a:t>Multi-Robot Coordinated System for Warehouse Management</a:t>
            </a:r>
            <a:endParaRPr lang="en-IN"/>
          </a:p>
        </p:txBody>
      </p:sp>
      <p:sp>
        <p:nvSpPr>
          <p:cNvPr id="7" name="Slide Number Placeholder 6">
            <a:extLst>
              <a:ext uri="{FF2B5EF4-FFF2-40B4-BE49-F238E27FC236}">
                <a16:creationId xmlns:a16="http://schemas.microsoft.com/office/drawing/2014/main" id="{B2237248-9AEF-4B3D-9B7E-309F236D3297}"/>
              </a:ext>
            </a:extLst>
          </p:cNvPr>
          <p:cNvSpPr>
            <a:spLocks noGrp="1"/>
          </p:cNvSpPr>
          <p:nvPr>
            <p:ph type="sldNum" sz="quarter" idx="12"/>
          </p:nvPr>
        </p:nvSpPr>
        <p:spPr/>
        <p:txBody>
          <a:bodyPr/>
          <a:lstStyle/>
          <a:p>
            <a:fld id="{BCD8B248-873C-447D-B91D-0DF08D23C344}" type="slidenum">
              <a:rPr lang="en-IN" smtClean="0"/>
              <a:t>7</a:t>
            </a:fld>
            <a:endParaRPr lang="en-IN"/>
          </a:p>
        </p:txBody>
      </p:sp>
    </p:spTree>
    <p:extLst>
      <p:ext uri="{BB962C8B-B14F-4D97-AF65-F5344CB8AC3E}">
        <p14:creationId xmlns:p14="http://schemas.microsoft.com/office/powerpoint/2010/main" val="1544776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A0BA0-4D20-2D77-3581-148BD22D571B}"/>
              </a:ext>
            </a:extLst>
          </p:cNvPr>
          <p:cNvSpPr>
            <a:spLocks noGrp="1"/>
          </p:cNvSpPr>
          <p:nvPr>
            <p:ph type="title"/>
          </p:nvPr>
        </p:nvSpPr>
        <p:spPr/>
        <p:txBody>
          <a:bodyPr>
            <a:normAutofit/>
          </a:bodyPr>
          <a:lstStyle/>
          <a:p>
            <a:r>
              <a:rPr lang="en-US" dirty="0"/>
              <a:t>Block Diagram (Modules)</a:t>
            </a:r>
            <a:endParaRPr lang="en-IN" dirty="0"/>
          </a:p>
        </p:txBody>
      </p:sp>
      <p:pic>
        <p:nvPicPr>
          <p:cNvPr id="5" name="Content Placeholder 4">
            <a:extLst>
              <a:ext uri="{FF2B5EF4-FFF2-40B4-BE49-F238E27FC236}">
                <a16:creationId xmlns:a16="http://schemas.microsoft.com/office/drawing/2014/main" id="{6E3800D0-DDEA-5109-3F81-105AAEE5CA36}"/>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aturation sat="0"/>
                    </a14:imgEffect>
                  </a14:imgLayer>
                </a14:imgProps>
              </a:ext>
            </a:extLst>
          </a:blip>
          <a:srcRect b="25367"/>
          <a:stretch/>
        </p:blipFill>
        <p:spPr>
          <a:xfrm>
            <a:off x="2147679" y="1781664"/>
            <a:ext cx="8184673" cy="4065221"/>
          </a:xfrm>
        </p:spPr>
      </p:pic>
      <p:sp>
        <p:nvSpPr>
          <p:cNvPr id="3" name="Date Placeholder 2">
            <a:extLst>
              <a:ext uri="{FF2B5EF4-FFF2-40B4-BE49-F238E27FC236}">
                <a16:creationId xmlns:a16="http://schemas.microsoft.com/office/drawing/2014/main" id="{5E03DC96-25F3-425B-8BB6-524985D963E2}"/>
              </a:ext>
            </a:extLst>
          </p:cNvPr>
          <p:cNvSpPr>
            <a:spLocks noGrp="1"/>
          </p:cNvSpPr>
          <p:nvPr>
            <p:ph type="dt" sz="half" idx="10"/>
          </p:nvPr>
        </p:nvSpPr>
        <p:spPr/>
        <p:txBody>
          <a:bodyPr/>
          <a:lstStyle/>
          <a:p>
            <a:fld id="{34A37B23-6EF6-4FA9-9060-9DD7DABF07D2}" type="datetime1">
              <a:rPr lang="en-IN" smtClean="0"/>
              <a:t>25-10-2024</a:t>
            </a:fld>
            <a:endParaRPr lang="en-IN"/>
          </a:p>
        </p:txBody>
      </p:sp>
      <p:sp>
        <p:nvSpPr>
          <p:cNvPr id="4" name="Footer Placeholder 3">
            <a:extLst>
              <a:ext uri="{FF2B5EF4-FFF2-40B4-BE49-F238E27FC236}">
                <a16:creationId xmlns:a16="http://schemas.microsoft.com/office/drawing/2014/main" id="{C736201A-63EF-46B7-9D03-22D057C09AA7}"/>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9A2462EA-1669-4177-8810-B2922A5ABFC6}"/>
              </a:ext>
            </a:extLst>
          </p:cNvPr>
          <p:cNvSpPr>
            <a:spLocks noGrp="1"/>
          </p:cNvSpPr>
          <p:nvPr>
            <p:ph type="sldNum" sz="quarter" idx="12"/>
          </p:nvPr>
        </p:nvSpPr>
        <p:spPr/>
        <p:txBody>
          <a:bodyPr/>
          <a:lstStyle/>
          <a:p>
            <a:fld id="{BCD8B248-873C-447D-B91D-0DF08D23C344}" type="slidenum">
              <a:rPr lang="en-IN" smtClean="0"/>
              <a:t>8</a:t>
            </a:fld>
            <a:endParaRPr lang="en-IN"/>
          </a:p>
        </p:txBody>
      </p:sp>
    </p:spTree>
    <p:extLst>
      <p:ext uri="{BB962C8B-B14F-4D97-AF65-F5344CB8AC3E}">
        <p14:creationId xmlns:p14="http://schemas.microsoft.com/office/powerpoint/2010/main" val="3186573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AEC9E-B9C4-572E-E935-8B09D6DDA083}"/>
              </a:ext>
            </a:extLst>
          </p:cNvPr>
          <p:cNvSpPr>
            <a:spLocks noGrp="1"/>
          </p:cNvSpPr>
          <p:nvPr>
            <p:ph type="title"/>
          </p:nvPr>
        </p:nvSpPr>
        <p:spPr/>
        <p:txBody>
          <a:bodyPr>
            <a:normAutofit fontScale="90000"/>
          </a:bodyPr>
          <a:lstStyle/>
          <a:p>
            <a:br>
              <a:rPr lang="en-US" dirty="0"/>
            </a:br>
            <a:r>
              <a:rPr lang="en-US" dirty="0"/>
              <a:t>Robot and Pallet Localization Module</a:t>
            </a:r>
            <a:br>
              <a:rPr lang="en-US" dirty="0"/>
            </a:br>
            <a:endParaRPr lang="en-IN" dirty="0"/>
          </a:p>
        </p:txBody>
      </p:sp>
      <p:sp>
        <p:nvSpPr>
          <p:cNvPr id="3" name="Content Placeholder 2">
            <a:extLst>
              <a:ext uri="{FF2B5EF4-FFF2-40B4-BE49-F238E27FC236}">
                <a16:creationId xmlns:a16="http://schemas.microsoft.com/office/drawing/2014/main" id="{59941631-D59D-4055-D21B-AF1A8F64E3D5}"/>
              </a:ext>
            </a:extLst>
          </p:cNvPr>
          <p:cNvSpPr>
            <a:spLocks noGrp="1"/>
          </p:cNvSpPr>
          <p:nvPr>
            <p:ph idx="1"/>
          </p:nvPr>
        </p:nvSpPr>
        <p:spPr>
          <a:xfrm>
            <a:off x="838200" y="1825625"/>
            <a:ext cx="6353908" cy="4351338"/>
          </a:xfrm>
        </p:spPr>
        <p:txBody>
          <a:bodyPr>
            <a:normAutofit/>
          </a:bodyPr>
          <a:lstStyle/>
          <a:p>
            <a:r>
              <a:rPr lang="en-US" sz="2000" dirty="0"/>
              <a:t>Overview: Implemented using a Overhead Camera to detect </a:t>
            </a:r>
            <a:r>
              <a:rPr lang="en-US" sz="2000" dirty="0" err="1"/>
              <a:t>ArUco</a:t>
            </a:r>
            <a:r>
              <a:rPr lang="en-US" sz="2000" dirty="0"/>
              <a:t> Markers</a:t>
            </a:r>
          </a:p>
          <a:p>
            <a:r>
              <a:rPr lang="en-US" sz="2000" dirty="0"/>
              <a:t>Components:</a:t>
            </a:r>
          </a:p>
          <a:p>
            <a:pPr lvl="1"/>
            <a:r>
              <a:rPr lang="en-US" sz="1600" dirty="0"/>
              <a:t>Camera: Captures images/videos for processing.</a:t>
            </a:r>
          </a:p>
          <a:p>
            <a:pPr lvl="1"/>
            <a:r>
              <a:rPr lang="en-US" sz="1600" dirty="0"/>
              <a:t>OpenCV: Library used for image processing and computer vision tasks.</a:t>
            </a:r>
          </a:p>
          <a:p>
            <a:r>
              <a:rPr lang="en-US" sz="2000" dirty="0"/>
              <a:t>Features:</a:t>
            </a:r>
          </a:p>
          <a:p>
            <a:pPr lvl="1"/>
            <a:r>
              <a:rPr lang="en-US" sz="1600" dirty="0"/>
              <a:t>The Master Computer is connected with a webcam that runs a python program</a:t>
            </a:r>
          </a:p>
          <a:p>
            <a:pPr lvl="1"/>
            <a:r>
              <a:rPr lang="en-US" sz="1600" dirty="0"/>
              <a:t>This is able to detect all the </a:t>
            </a:r>
            <a:r>
              <a:rPr lang="en-US" sz="1600" dirty="0" err="1"/>
              <a:t>ArUco</a:t>
            </a:r>
            <a:r>
              <a:rPr lang="en-US" sz="1600" dirty="0"/>
              <a:t> Marker which is present in the environment</a:t>
            </a:r>
          </a:p>
          <a:p>
            <a:pPr lvl="1"/>
            <a:r>
              <a:rPr lang="en-US" sz="1600" dirty="0"/>
              <a:t>Application: Facilitates autonomous navigation and decision-making for bots.</a:t>
            </a:r>
          </a:p>
          <a:p>
            <a:endParaRPr lang="en-US" sz="2000" dirty="0"/>
          </a:p>
          <a:p>
            <a:endParaRPr lang="en-US" sz="2000" dirty="0"/>
          </a:p>
          <a:p>
            <a:endParaRPr lang="en-IN" sz="2000" dirty="0"/>
          </a:p>
        </p:txBody>
      </p:sp>
      <p:pic>
        <p:nvPicPr>
          <p:cNvPr id="2050" name="Picture 2">
            <a:extLst>
              <a:ext uri="{FF2B5EF4-FFF2-40B4-BE49-F238E27FC236}">
                <a16:creationId xmlns:a16="http://schemas.microsoft.com/office/drawing/2014/main" id="{62991ABE-45BA-FBD7-52FC-601F5A8E9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9419" y="2597394"/>
            <a:ext cx="3943350" cy="333375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1FB8B2A1-C170-4587-B042-80DC366BDA4E}"/>
              </a:ext>
            </a:extLst>
          </p:cNvPr>
          <p:cNvSpPr>
            <a:spLocks noGrp="1"/>
          </p:cNvSpPr>
          <p:nvPr>
            <p:ph type="dt" sz="half" idx="10"/>
          </p:nvPr>
        </p:nvSpPr>
        <p:spPr/>
        <p:txBody>
          <a:bodyPr/>
          <a:lstStyle/>
          <a:p>
            <a:fld id="{1C9C2DC9-18D6-4DE6-BDE1-DCD2FDAFBE75}" type="datetime1">
              <a:rPr lang="en-IN" smtClean="0"/>
              <a:t>25-10-2024</a:t>
            </a:fld>
            <a:endParaRPr lang="en-IN"/>
          </a:p>
        </p:txBody>
      </p:sp>
      <p:sp>
        <p:nvSpPr>
          <p:cNvPr id="5" name="Footer Placeholder 4">
            <a:extLst>
              <a:ext uri="{FF2B5EF4-FFF2-40B4-BE49-F238E27FC236}">
                <a16:creationId xmlns:a16="http://schemas.microsoft.com/office/drawing/2014/main" id="{BF86BE55-33D4-4BF4-8949-8DCE53DBFD8C}"/>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9A28989E-BF19-412E-9E8F-1E1F09303056}"/>
              </a:ext>
            </a:extLst>
          </p:cNvPr>
          <p:cNvSpPr>
            <a:spLocks noGrp="1"/>
          </p:cNvSpPr>
          <p:nvPr>
            <p:ph type="sldNum" sz="quarter" idx="12"/>
          </p:nvPr>
        </p:nvSpPr>
        <p:spPr/>
        <p:txBody>
          <a:bodyPr/>
          <a:lstStyle/>
          <a:p>
            <a:fld id="{BCD8B248-873C-447D-B91D-0DF08D23C344}" type="slidenum">
              <a:rPr lang="en-IN" smtClean="0"/>
              <a:t>9</a:t>
            </a:fld>
            <a:endParaRPr lang="en-IN"/>
          </a:p>
        </p:txBody>
      </p:sp>
    </p:spTree>
    <p:extLst>
      <p:ext uri="{BB962C8B-B14F-4D97-AF65-F5344CB8AC3E}">
        <p14:creationId xmlns:p14="http://schemas.microsoft.com/office/powerpoint/2010/main" val="3450017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2CC5B-FED2-E102-5328-5636F55DC1EA}"/>
              </a:ext>
            </a:extLst>
          </p:cNvPr>
          <p:cNvSpPr>
            <a:spLocks noGrp="1"/>
          </p:cNvSpPr>
          <p:nvPr>
            <p:ph type="title"/>
          </p:nvPr>
        </p:nvSpPr>
        <p:spPr/>
        <p:txBody>
          <a:bodyPr>
            <a:normAutofit fontScale="90000"/>
          </a:bodyPr>
          <a:lstStyle/>
          <a:p>
            <a:br>
              <a:rPr lang="en-IN" dirty="0"/>
            </a:br>
            <a:r>
              <a:rPr lang="en-IN" dirty="0"/>
              <a:t>Path Planner Module</a:t>
            </a:r>
            <a:br>
              <a:rPr lang="en-IN" dirty="0"/>
            </a:br>
            <a:endParaRPr lang="en-IN" dirty="0"/>
          </a:p>
        </p:txBody>
      </p:sp>
      <p:pic>
        <p:nvPicPr>
          <p:cNvPr id="3074" name="Picture 2">
            <a:extLst>
              <a:ext uri="{FF2B5EF4-FFF2-40B4-BE49-F238E27FC236}">
                <a16:creationId xmlns:a16="http://schemas.microsoft.com/office/drawing/2014/main" id="{70112312-0C37-9EF4-EB72-E2935F006B5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955" t="34019" r="27761" b="29206"/>
          <a:stretch/>
        </p:blipFill>
        <p:spPr bwMode="auto">
          <a:xfrm>
            <a:off x="1890345" y="3994030"/>
            <a:ext cx="7354328" cy="219575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46D9798-AC7E-5C11-491E-B096EE724952}"/>
              </a:ext>
            </a:extLst>
          </p:cNvPr>
          <p:cNvSpPr txBox="1"/>
          <p:nvPr/>
        </p:nvSpPr>
        <p:spPr>
          <a:xfrm>
            <a:off x="411040" y="1509661"/>
            <a:ext cx="11432198" cy="2308324"/>
          </a:xfrm>
          <a:prstGeom prst="rect">
            <a:avLst/>
          </a:prstGeom>
          <a:noFill/>
        </p:spPr>
        <p:txBody>
          <a:bodyPr wrap="square">
            <a:spAutoFit/>
          </a:bodyPr>
          <a:lstStyle/>
          <a:p>
            <a:pPr marL="285750" indent="-285750">
              <a:buFont typeface="Arial" panose="020B0604020202020204" pitchFamily="34" charset="0"/>
              <a:buChar char="•"/>
            </a:pPr>
            <a:r>
              <a:rPr lang="en-US" dirty="0"/>
              <a:t>Overview: The system incorporates a path planner module that uses the A* search algorithm to navigate bots efficiently within the warehouse environment.</a:t>
            </a:r>
          </a:p>
          <a:p>
            <a:pPr marL="285750" indent="-285750">
              <a:buFont typeface="Arial" panose="020B0604020202020204" pitchFamily="34" charset="0"/>
              <a:buChar char="•"/>
            </a:pPr>
            <a:r>
              <a:rPr lang="en-US" dirty="0"/>
              <a:t>A* Search Algorithm: A pathfinding algorithm used to calculate the optimal path for each bot from its current position to the target location.</a:t>
            </a:r>
          </a:p>
          <a:p>
            <a:pPr marL="285750" indent="-285750">
              <a:buFont typeface="Arial" panose="020B0604020202020204" pitchFamily="34" charset="0"/>
              <a:buChar char="•"/>
            </a:pPr>
            <a:r>
              <a:rPr lang="en-US" dirty="0"/>
              <a:t>The path planner uses A* to compute the shortest collision-free path for each bot, taking into account obstacles and other bots.</a:t>
            </a:r>
          </a:p>
          <a:p>
            <a:pPr marL="285750" indent="-285750">
              <a:buFont typeface="Arial" panose="020B0604020202020204" pitchFamily="34" charset="0"/>
              <a:buChar char="•"/>
            </a:pPr>
            <a:r>
              <a:rPr lang="en-US" dirty="0"/>
              <a:t>Application: This path planner ensures efficient and collision-free movement for the bots, allowing them to reach their destination while avoiding obstacles and optimizing travel time.</a:t>
            </a:r>
            <a:endParaRPr lang="en-IN" dirty="0"/>
          </a:p>
        </p:txBody>
      </p:sp>
      <p:sp>
        <p:nvSpPr>
          <p:cNvPr id="3" name="Date Placeholder 2">
            <a:extLst>
              <a:ext uri="{FF2B5EF4-FFF2-40B4-BE49-F238E27FC236}">
                <a16:creationId xmlns:a16="http://schemas.microsoft.com/office/drawing/2014/main" id="{73D33A02-1BBA-4F9A-BF95-626D87FE01A3}"/>
              </a:ext>
            </a:extLst>
          </p:cNvPr>
          <p:cNvSpPr>
            <a:spLocks noGrp="1"/>
          </p:cNvSpPr>
          <p:nvPr>
            <p:ph type="dt" sz="half" idx="10"/>
          </p:nvPr>
        </p:nvSpPr>
        <p:spPr/>
        <p:txBody>
          <a:bodyPr/>
          <a:lstStyle/>
          <a:p>
            <a:fld id="{530B68C1-6C48-4402-A41B-9704F6F5B5D9}" type="datetime1">
              <a:rPr lang="en-IN" smtClean="0"/>
              <a:t>25-10-2024</a:t>
            </a:fld>
            <a:endParaRPr lang="en-IN"/>
          </a:p>
        </p:txBody>
      </p:sp>
      <p:sp>
        <p:nvSpPr>
          <p:cNvPr id="4" name="Footer Placeholder 3">
            <a:extLst>
              <a:ext uri="{FF2B5EF4-FFF2-40B4-BE49-F238E27FC236}">
                <a16:creationId xmlns:a16="http://schemas.microsoft.com/office/drawing/2014/main" id="{39243616-6721-4D29-8EAA-66646CFE17BA}"/>
              </a:ext>
            </a:extLst>
          </p:cNvPr>
          <p:cNvSpPr>
            <a:spLocks noGrp="1"/>
          </p:cNvSpPr>
          <p:nvPr>
            <p:ph type="ftr" sz="quarter" idx="11"/>
          </p:nvPr>
        </p:nvSpPr>
        <p:spPr/>
        <p:txBody>
          <a:bodyPr/>
          <a:lstStyle/>
          <a:p>
            <a:r>
              <a:rPr lang="en-US"/>
              <a:t>Multi-Robot Coordinated System for Warehouse Management</a:t>
            </a:r>
            <a:endParaRPr lang="en-IN"/>
          </a:p>
        </p:txBody>
      </p:sp>
      <p:sp>
        <p:nvSpPr>
          <p:cNvPr id="5" name="Slide Number Placeholder 4">
            <a:extLst>
              <a:ext uri="{FF2B5EF4-FFF2-40B4-BE49-F238E27FC236}">
                <a16:creationId xmlns:a16="http://schemas.microsoft.com/office/drawing/2014/main" id="{DACC5DA2-0B23-4712-8FF4-833DEF1308A4}"/>
              </a:ext>
            </a:extLst>
          </p:cNvPr>
          <p:cNvSpPr>
            <a:spLocks noGrp="1"/>
          </p:cNvSpPr>
          <p:nvPr>
            <p:ph type="sldNum" sz="quarter" idx="12"/>
          </p:nvPr>
        </p:nvSpPr>
        <p:spPr/>
        <p:txBody>
          <a:bodyPr/>
          <a:lstStyle/>
          <a:p>
            <a:fld id="{BCD8B248-873C-447D-B91D-0DF08D23C344}" type="slidenum">
              <a:rPr lang="en-IN" smtClean="0"/>
              <a:t>10</a:t>
            </a:fld>
            <a:endParaRPr lang="en-IN"/>
          </a:p>
        </p:txBody>
      </p:sp>
    </p:spTree>
    <p:extLst>
      <p:ext uri="{BB962C8B-B14F-4D97-AF65-F5344CB8AC3E}">
        <p14:creationId xmlns:p14="http://schemas.microsoft.com/office/powerpoint/2010/main" val="1259785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20389-7BDD-434D-923D-57A9DECB100D}"/>
              </a:ext>
            </a:extLst>
          </p:cNvPr>
          <p:cNvSpPr>
            <a:spLocks noGrp="1"/>
          </p:cNvSpPr>
          <p:nvPr>
            <p:ph type="title"/>
          </p:nvPr>
        </p:nvSpPr>
        <p:spPr/>
        <p:txBody>
          <a:bodyPr>
            <a:normAutofit fontScale="90000"/>
          </a:bodyPr>
          <a:lstStyle/>
          <a:p>
            <a:br>
              <a:rPr lang="en-IN" dirty="0"/>
            </a:br>
            <a:r>
              <a:rPr lang="en-IN" dirty="0"/>
              <a:t>Bot-Master Communication Module</a:t>
            </a:r>
            <a:br>
              <a:rPr lang="en-IN" dirty="0"/>
            </a:br>
            <a:endParaRPr lang="en-IN" dirty="0"/>
          </a:p>
        </p:txBody>
      </p:sp>
      <p:sp>
        <p:nvSpPr>
          <p:cNvPr id="3" name="Content Placeholder 2">
            <a:extLst>
              <a:ext uri="{FF2B5EF4-FFF2-40B4-BE49-F238E27FC236}">
                <a16:creationId xmlns:a16="http://schemas.microsoft.com/office/drawing/2014/main" id="{8B0DEB91-9D9B-394F-9CBB-00ADA2C5738A}"/>
              </a:ext>
            </a:extLst>
          </p:cNvPr>
          <p:cNvSpPr>
            <a:spLocks noGrp="1"/>
          </p:cNvSpPr>
          <p:nvPr>
            <p:ph idx="1"/>
          </p:nvPr>
        </p:nvSpPr>
        <p:spPr/>
        <p:txBody>
          <a:bodyPr>
            <a:normAutofit/>
          </a:bodyPr>
          <a:lstStyle/>
          <a:p>
            <a:r>
              <a:rPr lang="en-IN" sz="2000" dirty="0"/>
              <a:t>Overview: Utilizes a </a:t>
            </a:r>
            <a:r>
              <a:rPr lang="en-IN" sz="2000" dirty="0" err="1"/>
              <a:t>WiFi</a:t>
            </a:r>
            <a:r>
              <a:rPr lang="en-IN" sz="2000" dirty="0"/>
              <a:t> module for seamless communication between bots and the central server.</a:t>
            </a:r>
          </a:p>
          <a:p>
            <a:r>
              <a:rPr lang="en-IN" sz="2000" dirty="0"/>
              <a:t>Components:</a:t>
            </a:r>
          </a:p>
          <a:p>
            <a:pPr lvl="1"/>
            <a:r>
              <a:rPr lang="en-IN" sz="1600" dirty="0" err="1"/>
              <a:t>WiFi</a:t>
            </a:r>
            <a:r>
              <a:rPr lang="en-IN" sz="1600" dirty="0"/>
              <a:t> Module (e.g., ESP8266): Enables network connectivity.</a:t>
            </a:r>
          </a:p>
          <a:p>
            <a:r>
              <a:rPr lang="en-IN" sz="2000" dirty="0"/>
              <a:t>Features:</a:t>
            </a:r>
          </a:p>
          <a:p>
            <a:pPr lvl="1"/>
            <a:r>
              <a:rPr lang="en-IN" sz="1600" dirty="0"/>
              <a:t>Supports HTTP protocols for reliable data transfer. </a:t>
            </a:r>
          </a:p>
          <a:p>
            <a:pPr lvl="1"/>
            <a:r>
              <a:rPr lang="en-IN" sz="1600" dirty="0"/>
              <a:t>Allows for multi-bot communication for coordinated tasks.</a:t>
            </a:r>
          </a:p>
          <a:p>
            <a:pPr lvl="1"/>
            <a:r>
              <a:rPr lang="en-IN" sz="1600" dirty="0"/>
              <a:t>Facilitates status updates and command acknowledgments.</a:t>
            </a:r>
          </a:p>
          <a:p>
            <a:r>
              <a:rPr lang="en-IN" sz="2000" dirty="0"/>
              <a:t>Application: Ensures synchronization and collaboration among bots during operations.</a:t>
            </a:r>
          </a:p>
          <a:p>
            <a:endParaRPr lang="en-IN" sz="2000" dirty="0"/>
          </a:p>
          <a:p>
            <a:endParaRPr lang="en-IN" sz="2000" dirty="0"/>
          </a:p>
          <a:p>
            <a:endParaRPr lang="en-IN" sz="2000" dirty="0"/>
          </a:p>
        </p:txBody>
      </p:sp>
      <p:sp>
        <p:nvSpPr>
          <p:cNvPr id="4" name="Date Placeholder 3">
            <a:extLst>
              <a:ext uri="{FF2B5EF4-FFF2-40B4-BE49-F238E27FC236}">
                <a16:creationId xmlns:a16="http://schemas.microsoft.com/office/drawing/2014/main" id="{E823035A-D100-45B0-A689-02FE8F1E76B2}"/>
              </a:ext>
            </a:extLst>
          </p:cNvPr>
          <p:cNvSpPr>
            <a:spLocks noGrp="1"/>
          </p:cNvSpPr>
          <p:nvPr>
            <p:ph type="dt" sz="half" idx="10"/>
          </p:nvPr>
        </p:nvSpPr>
        <p:spPr/>
        <p:txBody>
          <a:bodyPr/>
          <a:lstStyle/>
          <a:p>
            <a:fld id="{96361C57-AABF-42EA-BB1B-23241BFE95C6}" type="datetime1">
              <a:rPr lang="en-IN" smtClean="0"/>
              <a:t>25-10-2024</a:t>
            </a:fld>
            <a:endParaRPr lang="en-IN"/>
          </a:p>
        </p:txBody>
      </p:sp>
      <p:sp>
        <p:nvSpPr>
          <p:cNvPr id="5" name="Footer Placeholder 4">
            <a:extLst>
              <a:ext uri="{FF2B5EF4-FFF2-40B4-BE49-F238E27FC236}">
                <a16:creationId xmlns:a16="http://schemas.microsoft.com/office/drawing/2014/main" id="{46BE40C6-1EB9-49C8-ADA1-EE88751B53F8}"/>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69D18A31-F8EA-4D67-865C-C1BB4A0E336E}"/>
              </a:ext>
            </a:extLst>
          </p:cNvPr>
          <p:cNvSpPr>
            <a:spLocks noGrp="1"/>
          </p:cNvSpPr>
          <p:nvPr>
            <p:ph type="sldNum" sz="quarter" idx="12"/>
          </p:nvPr>
        </p:nvSpPr>
        <p:spPr/>
        <p:txBody>
          <a:bodyPr/>
          <a:lstStyle/>
          <a:p>
            <a:fld id="{BCD8B248-873C-447D-B91D-0DF08D23C344}" type="slidenum">
              <a:rPr lang="en-IN" smtClean="0"/>
              <a:t>11</a:t>
            </a:fld>
            <a:endParaRPr lang="en-IN"/>
          </a:p>
        </p:txBody>
      </p:sp>
    </p:spTree>
    <p:extLst>
      <p:ext uri="{BB962C8B-B14F-4D97-AF65-F5344CB8AC3E}">
        <p14:creationId xmlns:p14="http://schemas.microsoft.com/office/powerpoint/2010/main" val="536728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E24A0-D711-3282-D75F-2D48A49BCE22}"/>
              </a:ext>
            </a:extLst>
          </p:cNvPr>
          <p:cNvSpPr>
            <a:spLocks noGrp="1"/>
          </p:cNvSpPr>
          <p:nvPr>
            <p:ph type="title"/>
          </p:nvPr>
        </p:nvSpPr>
        <p:spPr/>
        <p:txBody>
          <a:bodyPr>
            <a:normAutofit fontScale="90000"/>
          </a:bodyPr>
          <a:lstStyle/>
          <a:p>
            <a:br>
              <a:rPr lang="en-IN" dirty="0"/>
            </a:br>
            <a:r>
              <a:rPr lang="en-IN" dirty="0"/>
              <a:t>Motor Control Module</a:t>
            </a:r>
            <a:br>
              <a:rPr lang="en-IN" dirty="0"/>
            </a:br>
            <a:endParaRPr lang="en-IN" dirty="0"/>
          </a:p>
        </p:txBody>
      </p:sp>
      <p:sp>
        <p:nvSpPr>
          <p:cNvPr id="3" name="Content Placeholder 2">
            <a:extLst>
              <a:ext uri="{FF2B5EF4-FFF2-40B4-BE49-F238E27FC236}">
                <a16:creationId xmlns:a16="http://schemas.microsoft.com/office/drawing/2014/main" id="{0179E9AA-8ECB-4B3B-DD3B-71E21384F839}"/>
              </a:ext>
            </a:extLst>
          </p:cNvPr>
          <p:cNvSpPr>
            <a:spLocks noGrp="1"/>
          </p:cNvSpPr>
          <p:nvPr>
            <p:ph idx="1"/>
          </p:nvPr>
        </p:nvSpPr>
        <p:spPr/>
        <p:txBody>
          <a:bodyPr>
            <a:normAutofit/>
          </a:bodyPr>
          <a:lstStyle/>
          <a:p>
            <a:r>
              <a:rPr lang="en-US" sz="2000" dirty="0"/>
              <a:t>Overview: The motor control system utilizes 360-degree servo motors to drive two wheels, with a passive third axis supported by a ball bearing for stability and maneuverability.</a:t>
            </a:r>
          </a:p>
          <a:p>
            <a:r>
              <a:rPr lang="en-US" sz="2000" dirty="0"/>
              <a:t>Servo 1, Servo 2: Control the continuous rotation and speed of the two wheels, providing forward, backward, and directional movement.</a:t>
            </a:r>
          </a:p>
          <a:p>
            <a:r>
              <a:rPr lang="en-US" sz="2000" dirty="0"/>
              <a:t>Ball Bearing (Third Axis): Acts as a passive stabilizer, allowing smooth pivoting and balancing without requiring active control.</a:t>
            </a:r>
          </a:p>
          <a:p>
            <a:r>
              <a:rPr lang="en-US" sz="2000" dirty="0"/>
              <a:t>360-degree servo motors enable precise control over both wheels, allowing the robot to move in various directions.</a:t>
            </a:r>
          </a:p>
          <a:p>
            <a:r>
              <a:rPr lang="en-US" sz="2000" dirty="0"/>
              <a:t>The ball bearing on the third axis provides free movement and supports the robot’s weight, enabling smooth turns without friction or resistance.</a:t>
            </a:r>
          </a:p>
          <a:p>
            <a:r>
              <a:rPr lang="en-US" sz="2000" dirty="0"/>
              <a:t>PWM signals control the speed and direction of the servo-driven wheels.</a:t>
            </a:r>
          </a:p>
        </p:txBody>
      </p:sp>
      <p:sp>
        <p:nvSpPr>
          <p:cNvPr id="4" name="Date Placeholder 3">
            <a:extLst>
              <a:ext uri="{FF2B5EF4-FFF2-40B4-BE49-F238E27FC236}">
                <a16:creationId xmlns:a16="http://schemas.microsoft.com/office/drawing/2014/main" id="{C75BBB28-002D-450E-910C-7815C2B56562}"/>
              </a:ext>
            </a:extLst>
          </p:cNvPr>
          <p:cNvSpPr>
            <a:spLocks noGrp="1"/>
          </p:cNvSpPr>
          <p:nvPr>
            <p:ph type="dt" sz="half" idx="10"/>
          </p:nvPr>
        </p:nvSpPr>
        <p:spPr/>
        <p:txBody>
          <a:bodyPr/>
          <a:lstStyle/>
          <a:p>
            <a:fld id="{6777D15D-7B4F-4578-B003-320E057F90BF}" type="datetime1">
              <a:rPr lang="en-IN" smtClean="0"/>
              <a:t>25-10-2024</a:t>
            </a:fld>
            <a:endParaRPr lang="en-IN"/>
          </a:p>
        </p:txBody>
      </p:sp>
      <p:sp>
        <p:nvSpPr>
          <p:cNvPr id="5" name="Footer Placeholder 4">
            <a:extLst>
              <a:ext uri="{FF2B5EF4-FFF2-40B4-BE49-F238E27FC236}">
                <a16:creationId xmlns:a16="http://schemas.microsoft.com/office/drawing/2014/main" id="{C50BEF2D-2DEE-4EE0-8F86-CA757B2CC3DB}"/>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F5389103-A204-47E8-9774-52B0DEC1575A}"/>
              </a:ext>
            </a:extLst>
          </p:cNvPr>
          <p:cNvSpPr>
            <a:spLocks noGrp="1"/>
          </p:cNvSpPr>
          <p:nvPr>
            <p:ph type="sldNum" sz="quarter" idx="12"/>
          </p:nvPr>
        </p:nvSpPr>
        <p:spPr/>
        <p:txBody>
          <a:bodyPr/>
          <a:lstStyle/>
          <a:p>
            <a:fld id="{BCD8B248-873C-447D-B91D-0DF08D23C344}" type="slidenum">
              <a:rPr lang="en-IN" smtClean="0"/>
              <a:t>12</a:t>
            </a:fld>
            <a:endParaRPr lang="en-IN"/>
          </a:p>
        </p:txBody>
      </p:sp>
    </p:spTree>
    <p:extLst>
      <p:ext uri="{BB962C8B-B14F-4D97-AF65-F5344CB8AC3E}">
        <p14:creationId xmlns:p14="http://schemas.microsoft.com/office/powerpoint/2010/main" val="801284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DF0B3-4D1B-DCBF-3B86-A960A8D05CCB}"/>
              </a:ext>
            </a:extLst>
          </p:cNvPr>
          <p:cNvSpPr>
            <a:spLocks noGrp="1"/>
          </p:cNvSpPr>
          <p:nvPr>
            <p:ph type="title"/>
          </p:nvPr>
        </p:nvSpPr>
        <p:spPr/>
        <p:txBody>
          <a:bodyPr>
            <a:normAutofit/>
          </a:bodyPr>
          <a:lstStyle/>
          <a:p>
            <a:r>
              <a:rPr lang="en-IN" dirty="0"/>
              <a:t>Current Progress</a:t>
            </a:r>
          </a:p>
        </p:txBody>
      </p:sp>
      <p:sp>
        <p:nvSpPr>
          <p:cNvPr id="3" name="Content Placeholder 2">
            <a:extLst>
              <a:ext uri="{FF2B5EF4-FFF2-40B4-BE49-F238E27FC236}">
                <a16:creationId xmlns:a16="http://schemas.microsoft.com/office/drawing/2014/main" id="{CFF42728-42FB-63C5-949D-916D4EEE0B2A}"/>
              </a:ext>
            </a:extLst>
          </p:cNvPr>
          <p:cNvSpPr>
            <a:spLocks noGrp="1"/>
          </p:cNvSpPr>
          <p:nvPr>
            <p:ph idx="1"/>
          </p:nvPr>
        </p:nvSpPr>
        <p:spPr/>
        <p:txBody>
          <a:bodyPr>
            <a:normAutofit/>
          </a:bodyPr>
          <a:lstStyle/>
          <a:p>
            <a:r>
              <a:rPr lang="en-IN" sz="2000" dirty="0"/>
              <a:t>Currently the following modules are completed, which are </a:t>
            </a:r>
          </a:p>
          <a:p>
            <a:pPr marL="0" indent="0">
              <a:buNone/>
            </a:pPr>
            <a:r>
              <a:rPr lang="en-IN" sz="2000" dirty="0"/>
              <a:t>	Robot and Pallet Localization Module, </a:t>
            </a:r>
          </a:p>
          <a:p>
            <a:pPr marL="0" indent="0">
              <a:buNone/>
            </a:pPr>
            <a:r>
              <a:rPr lang="en-IN" sz="2000" dirty="0"/>
              <a:t>	Path Planner Module, </a:t>
            </a:r>
          </a:p>
          <a:p>
            <a:pPr marL="0" indent="0">
              <a:buNone/>
            </a:pPr>
            <a:r>
              <a:rPr lang="en-IN" sz="2000" dirty="0"/>
              <a:t>	Motor Control Module(partial)</a:t>
            </a:r>
          </a:p>
          <a:p>
            <a:r>
              <a:rPr lang="en-IN" sz="2000" dirty="0"/>
              <a:t>Bot-Master Communication Module and Integration of the components are still pending.</a:t>
            </a:r>
          </a:p>
          <a:p>
            <a:r>
              <a:rPr lang="en-IN" sz="2000" dirty="0"/>
              <a:t>The Completed Module(s) are added in a demo video</a:t>
            </a:r>
          </a:p>
        </p:txBody>
      </p:sp>
      <p:sp>
        <p:nvSpPr>
          <p:cNvPr id="4" name="Date Placeholder 3">
            <a:extLst>
              <a:ext uri="{FF2B5EF4-FFF2-40B4-BE49-F238E27FC236}">
                <a16:creationId xmlns:a16="http://schemas.microsoft.com/office/drawing/2014/main" id="{FC4E72BC-82BF-4AFE-9E65-251749F4A0CD}"/>
              </a:ext>
            </a:extLst>
          </p:cNvPr>
          <p:cNvSpPr>
            <a:spLocks noGrp="1"/>
          </p:cNvSpPr>
          <p:nvPr>
            <p:ph type="dt" sz="half" idx="10"/>
          </p:nvPr>
        </p:nvSpPr>
        <p:spPr/>
        <p:txBody>
          <a:bodyPr/>
          <a:lstStyle/>
          <a:p>
            <a:fld id="{F74B70F2-45B7-4DFD-965B-5BE3801FCB33}" type="datetime1">
              <a:rPr lang="en-IN" smtClean="0"/>
              <a:t>25-10-2024</a:t>
            </a:fld>
            <a:endParaRPr lang="en-IN"/>
          </a:p>
        </p:txBody>
      </p:sp>
      <p:sp>
        <p:nvSpPr>
          <p:cNvPr id="5" name="Footer Placeholder 4">
            <a:extLst>
              <a:ext uri="{FF2B5EF4-FFF2-40B4-BE49-F238E27FC236}">
                <a16:creationId xmlns:a16="http://schemas.microsoft.com/office/drawing/2014/main" id="{929613D8-35E5-446C-9828-3752BB57173E}"/>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541F314E-9A2B-4ABC-9011-34C66150B2C4}"/>
              </a:ext>
            </a:extLst>
          </p:cNvPr>
          <p:cNvSpPr>
            <a:spLocks noGrp="1"/>
          </p:cNvSpPr>
          <p:nvPr>
            <p:ph type="sldNum" sz="quarter" idx="12"/>
          </p:nvPr>
        </p:nvSpPr>
        <p:spPr/>
        <p:txBody>
          <a:bodyPr/>
          <a:lstStyle/>
          <a:p>
            <a:fld id="{BCD8B248-873C-447D-B91D-0DF08D23C344}" type="slidenum">
              <a:rPr lang="en-IN" smtClean="0"/>
              <a:t>13</a:t>
            </a:fld>
            <a:endParaRPr lang="en-IN"/>
          </a:p>
        </p:txBody>
      </p:sp>
    </p:spTree>
    <p:extLst>
      <p:ext uri="{BB962C8B-B14F-4D97-AF65-F5344CB8AC3E}">
        <p14:creationId xmlns:p14="http://schemas.microsoft.com/office/powerpoint/2010/main" val="2123475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48ED4-3621-30CD-8EF4-11A0089662D7}"/>
              </a:ext>
            </a:extLst>
          </p:cNvPr>
          <p:cNvSpPr>
            <a:spLocks noGrp="1"/>
          </p:cNvSpPr>
          <p:nvPr>
            <p:ph type="title"/>
          </p:nvPr>
        </p:nvSpPr>
        <p:spPr/>
        <p:txBody>
          <a:bodyPr>
            <a:normAutofit/>
          </a:bodyPr>
          <a:lstStyle/>
          <a:p>
            <a:r>
              <a:rPr lang="en-IN" dirty="0"/>
              <a:t>Roles</a:t>
            </a:r>
          </a:p>
        </p:txBody>
      </p:sp>
      <p:sp>
        <p:nvSpPr>
          <p:cNvPr id="3" name="Content Placeholder 2">
            <a:extLst>
              <a:ext uri="{FF2B5EF4-FFF2-40B4-BE49-F238E27FC236}">
                <a16:creationId xmlns:a16="http://schemas.microsoft.com/office/drawing/2014/main" id="{A84D9EAB-04DD-89D9-98FC-12FD80FB819C}"/>
              </a:ext>
            </a:extLst>
          </p:cNvPr>
          <p:cNvSpPr>
            <a:spLocks noGrp="1"/>
          </p:cNvSpPr>
          <p:nvPr>
            <p:ph idx="1"/>
          </p:nvPr>
        </p:nvSpPr>
        <p:spPr/>
        <p:txBody>
          <a:bodyPr>
            <a:normAutofit/>
          </a:bodyPr>
          <a:lstStyle/>
          <a:p>
            <a:r>
              <a:rPr lang="en-IN" sz="2000" dirty="0"/>
              <a:t>Robot and Pallet Localization Module – Harshavardan K </a:t>
            </a:r>
            <a:r>
              <a:rPr lang="en-IN" sz="2000" dirty="0" err="1"/>
              <a:t>K</a:t>
            </a:r>
            <a:endParaRPr lang="en-IN" sz="2000" dirty="0"/>
          </a:p>
          <a:p>
            <a:r>
              <a:rPr lang="en-IN" sz="2000" dirty="0"/>
              <a:t>Path Planner Module – Sridhar R</a:t>
            </a:r>
          </a:p>
          <a:p>
            <a:r>
              <a:rPr lang="en-IN" sz="2000" dirty="0"/>
              <a:t>Motor Control Module – </a:t>
            </a:r>
            <a:r>
              <a:rPr lang="en-IN" sz="2000" dirty="0" err="1"/>
              <a:t>Mugunthan</a:t>
            </a:r>
            <a:r>
              <a:rPr lang="en-IN" sz="2000" dirty="0"/>
              <a:t> R</a:t>
            </a:r>
          </a:p>
          <a:p>
            <a:pPr marL="0" indent="0">
              <a:buNone/>
            </a:pPr>
            <a:endParaRPr lang="en-IN" sz="2000" dirty="0"/>
          </a:p>
          <a:p>
            <a:pPr marL="0" indent="0">
              <a:buNone/>
            </a:pPr>
            <a:r>
              <a:rPr lang="en-IN" sz="2000" dirty="0"/>
              <a:t>Rest of the Module(s) are currently worked by:</a:t>
            </a:r>
            <a:br>
              <a:rPr lang="en-IN" sz="2000" dirty="0"/>
            </a:br>
            <a:endParaRPr lang="en-IN" sz="2000" dirty="0"/>
          </a:p>
          <a:p>
            <a:pPr marL="0" indent="0">
              <a:buNone/>
            </a:pPr>
            <a:r>
              <a:rPr lang="en-IN" sz="2000" dirty="0"/>
              <a:t>Bot – Master Communication Module  - Sridhar </a:t>
            </a:r>
          </a:p>
          <a:p>
            <a:pPr marL="0" indent="0">
              <a:buNone/>
            </a:pPr>
            <a:r>
              <a:rPr lang="en-IN" sz="2000" dirty="0"/>
              <a:t>Integration of Components – Harshavardan and </a:t>
            </a:r>
            <a:r>
              <a:rPr lang="en-IN" sz="2000" dirty="0" err="1"/>
              <a:t>Mugunthan</a:t>
            </a:r>
            <a:endParaRPr lang="en-IN" sz="2000" dirty="0"/>
          </a:p>
        </p:txBody>
      </p:sp>
      <p:sp>
        <p:nvSpPr>
          <p:cNvPr id="4" name="Date Placeholder 3">
            <a:extLst>
              <a:ext uri="{FF2B5EF4-FFF2-40B4-BE49-F238E27FC236}">
                <a16:creationId xmlns:a16="http://schemas.microsoft.com/office/drawing/2014/main" id="{4B30F60F-43A0-45CD-B2CA-B5DB8A3C3251}"/>
              </a:ext>
            </a:extLst>
          </p:cNvPr>
          <p:cNvSpPr>
            <a:spLocks noGrp="1"/>
          </p:cNvSpPr>
          <p:nvPr>
            <p:ph type="dt" sz="half" idx="10"/>
          </p:nvPr>
        </p:nvSpPr>
        <p:spPr/>
        <p:txBody>
          <a:bodyPr/>
          <a:lstStyle/>
          <a:p>
            <a:fld id="{44FE6C11-045B-4378-9353-1E88770B2486}" type="datetime1">
              <a:rPr lang="en-IN" smtClean="0"/>
              <a:t>25-10-2024</a:t>
            </a:fld>
            <a:endParaRPr lang="en-IN"/>
          </a:p>
        </p:txBody>
      </p:sp>
      <p:sp>
        <p:nvSpPr>
          <p:cNvPr id="5" name="Footer Placeholder 4">
            <a:extLst>
              <a:ext uri="{FF2B5EF4-FFF2-40B4-BE49-F238E27FC236}">
                <a16:creationId xmlns:a16="http://schemas.microsoft.com/office/drawing/2014/main" id="{4B72AF50-CACB-4E03-BDB0-BF3DFC583D12}"/>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0794963E-D6BB-42D0-9DB5-F3CB68A5A647}"/>
              </a:ext>
            </a:extLst>
          </p:cNvPr>
          <p:cNvSpPr>
            <a:spLocks noGrp="1"/>
          </p:cNvSpPr>
          <p:nvPr>
            <p:ph type="sldNum" sz="quarter" idx="12"/>
          </p:nvPr>
        </p:nvSpPr>
        <p:spPr/>
        <p:txBody>
          <a:bodyPr/>
          <a:lstStyle/>
          <a:p>
            <a:fld id="{BCD8B248-873C-447D-B91D-0DF08D23C344}" type="slidenum">
              <a:rPr lang="en-IN" smtClean="0"/>
              <a:t>14</a:t>
            </a:fld>
            <a:endParaRPr lang="en-IN"/>
          </a:p>
        </p:txBody>
      </p:sp>
    </p:spTree>
    <p:extLst>
      <p:ext uri="{BB962C8B-B14F-4D97-AF65-F5344CB8AC3E}">
        <p14:creationId xmlns:p14="http://schemas.microsoft.com/office/powerpoint/2010/main" val="3932566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92054-F29E-9BCF-B1D5-2021878C1E0D}"/>
              </a:ext>
            </a:extLst>
          </p:cNvPr>
          <p:cNvSpPr>
            <a:spLocks noGrp="1"/>
          </p:cNvSpPr>
          <p:nvPr>
            <p:ph type="title"/>
          </p:nvPr>
        </p:nvSpPr>
        <p:spPr/>
        <p:txBody>
          <a:bodyPr>
            <a:normAutofit fontScale="90000"/>
          </a:bodyPr>
          <a:lstStyle/>
          <a:p>
            <a:br>
              <a:rPr lang="en-IN" dirty="0"/>
            </a:br>
            <a:r>
              <a:rPr lang="en-IN" dirty="0"/>
              <a:t>Literature Review</a:t>
            </a:r>
            <a:br>
              <a:rPr lang="en-IN" dirty="0"/>
            </a:br>
            <a:endParaRPr lang="en-IN" dirty="0"/>
          </a:p>
        </p:txBody>
      </p:sp>
      <p:graphicFrame>
        <p:nvGraphicFramePr>
          <p:cNvPr id="4" name="Content Placeholder 3">
            <a:extLst>
              <a:ext uri="{FF2B5EF4-FFF2-40B4-BE49-F238E27FC236}">
                <a16:creationId xmlns:a16="http://schemas.microsoft.com/office/drawing/2014/main" id="{294BCE7D-4C7B-30D9-04BF-63AD899D6B36}"/>
              </a:ext>
            </a:extLst>
          </p:cNvPr>
          <p:cNvGraphicFramePr>
            <a:graphicFrameLocks noGrp="1"/>
          </p:cNvGraphicFramePr>
          <p:nvPr>
            <p:ph idx="1"/>
            <p:extLst>
              <p:ext uri="{D42A27DB-BD31-4B8C-83A1-F6EECF244321}">
                <p14:modId xmlns:p14="http://schemas.microsoft.com/office/powerpoint/2010/main" val="3469273932"/>
              </p:ext>
            </p:extLst>
          </p:nvPr>
        </p:nvGraphicFramePr>
        <p:xfrm>
          <a:off x="1151792" y="1582614"/>
          <a:ext cx="10202008" cy="5037993"/>
        </p:xfrm>
        <a:graphic>
          <a:graphicData uri="http://schemas.openxmlformats.org/drawingml/2006/table">
            <a:tbl>
              <a:tblPr/>
              <a:tblGrid>
                <a:gridCol w="1104826">
                  <a:extLst>
                    <a:ext uri="{9D8B030D-6E8A-4147-A177-3AD203B41FA5}">
                      <a16:colId xmlns:a16="http://schemas.microsoft.com/office/drawing/2014/main" val="3241366078"/>
                    </a:ext>
                  </a:extLst>
                </a:gridCol>
                <a:gridCol w="2609270">
                  <a:extLst>
                    <a:ext uri="{9D8B030D-6E8A-4147-A177-3AD203B41FA5}">
                      <a16:colId xmlns:a16="http://schemas.microsoft.com/office/drawing/2014/main" val="2872036420"/>
                    </a:ext>
                  </a:extLst>
                </a:gridCol>
                <a:gridCol w="2197899">
                  <a:extLst>
                    <a:ext uri="{9D8B030D-6E8A-4147-A177-3AD203B41FA5}">
                      <a16:colId xmlns:a16="http://schemas.microsoft.com/office/drawing/2014/main" val="3874395619"/>
                    </a:ext>
                  </a:extLst>
                </a:gridCol>
                <a:gridCol w="4290013">
                  <a:extLst>
                    <a:ext uri="{9D8B030D-6E8A-4147-A177-3AD203B41FA5}">
                      <a16:colId xmlns:a16="http://schemas.microsoft.com/office/drawing/2014/main" val="1259905336"/>
                    </a:ext>
                  </a:extLst>
                </a:gridCol>
              </a:tblGrid>
              <a:tr h="456535">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S. No</a:t>
                      </a:r>
                      <a:endParaRPr lang="en-IN"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000000"/>
                          </a:solidFill>
                          <a:effectLst/>
                          <a:latin typeface="Roboto" panose="02000000000000000000" pitchFamily="2" charset="0"/>
                        </a:rPr>
                        <a:t>Title of the Paper/Patent </a:t>
                      </a:r>
                      <a:endParaRPr lang="en-US" sz="1200" dirty="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Authors</a:t>
                      </a:r>
                      <a:endParaRPr lang="en-IN"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Inference</a:t>
                      </a:r>
                      <a:endParaRPr lang="en-IN"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417437849"/>
                  </a:ext>
                </a:extLst>
              </a:tr>
              <a:tr h="2297111">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1</a:t>
                      </a:r>
                      <a:endParaRPr lang="en-IN"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111111"/>
                          </a:solidFill>
                          <a:effectLst/>
                          <a:latin typeface="Roboto" panose="02000000000000000000" pitchFamily="2" charset="0"/>
                        </a:rPr>
                        <a:t>Cooperative 3D Exploration and Mapping using Distributed Multi-Robot Teams</a:t>
                      </a:r>
                      <a:endParaRPr lang="en-US" sz="1200" dirty="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pt-BR" sz="1200" b="0" i="0" u="none" strike="noStrike" dirty="0">
                          <a:solidFill>
                            <a:srgbClr val="000000"/>
                          </a:solidFill>
                          <a:effectLst/>
                          <a:latin typeface="Roboto" panose="02000000000000000000" pitchFamily="2" charset="0"/>
                        </a:rPr>
                        <a:t>André Ribeiro, Meysam Basiri (2024)</a:t>
                      </a:r>
                      <a:endParaRPr lang="pt-BR" sz="1200" dirty="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000000"/>
                          </a:solidFill>
                          <a:effectLst/>
                          <a:latin typeface="Roboto" panose="02000000000000000000" pitchFamily="2" charset="0"/>
                        </a:rPr>
                        <a:t>This paper addresses multi-robot exploration of unknown environments, aiming to minimize exploration time by assigning optimal target points. The proposed coordination method balances target cost and utility, effectively distributing robots to explore different regions. The algorithm also accommodates limited communication ranges and has been validated through extensive real-world experiments and simulations.</a:t>
                      </a:r>
                      <a:endParaRPr lang="en-US" sz="1200" dirty="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68918167"/>
                  </a:ext>
                </a:extLst>
              </a:tr>
              <a:tr h="1247168">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2</a:t>
                      </a:r>
                      <a:endParaRPr lang="en-IN"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a:solidFill>
                            <a:srgbClr val="000000"/>
                          </a:solidFill>
                          <a:effectLst/>
                          <a:latin typeface="Roboto" panose="02000000000000000000" pitchFamily="2" charset="0"/>
                        </a:rPr>
                        <a:t>The Concept of an Autonomous Mobile Robot for Automating Transport Tasks in High-Bay Warehouses</a:t>
                      </a:r>
                      <a:endParaRPr lang="en-US"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pl-PL" sz="1200" b="0" i="0" u="none" strike="noStrike">
                          <a:solidFill>
                            <a:srgbClr val="000000"/>
                          </a:solidFill>
                          <a:effectLst/>
                          <a:latin typeface="Roboto" panose="02000000000000000000" pitchFamily="2" charset="0"/>
                        </a:rPr>
                        <a:t>Waldemar Małopolski, Sebastian Skoczypiec (2024)</a:t>
                      </a:r>
                      <a:endParaRPr lang="pl-PL"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a:solidFill>
                            <a:srgbClr val="000000"/>
                          </a:solidFill>
                          <a:effectLst/>
                          <a:latin typeface="Roboto" panose="02000000000000000000" pitchFamily="2" charset="0"/>
                        </a:rPr>
                        <a:t>The article presents an autonomous mobile robot for Smart Warehouses, improving transport efficiency with a unique drive mechanism and elevator compatibility.</a:t>
                      </a:r>
                      <a:endParaRPr lang="en-US"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875880290"/>
                  </a:ext>
                </a:extLst>
              </a:tr>
              <a:tr h="1037179">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3</a:t>
                      </a:r>
                      <a:endParaRPr lang="en-IN"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a:solidFill>
                            <a:srgbClr val="000000"/>
                          </a:solidFill>
                          <a:effectLst/>
                          <a:latin typeface="Roboto" panose="02000000000000000000" pitchFamily="2" charset="0"/>
                        </a:rPr>
                        <a:t>Analysis of Swarm Robotics Cooperative Control Strategy from the Patent Perspective</a:t>
                      </a:r>
                      <a:endParaRPr lang="en-US" sz="120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de-DE" sz="1200" b="0" i="0" u="none" strike="noStrike" dirty="0">
                          <a:solidFill>
                            <a:srgbClr val="000000"/>
                          </a:solidFill>
                          <a:effectLst/>
                          <a:latin typeface="Roboto" panose="02000000000000000000" pitchFamily="2" charset="0"/>
                        </a:rPr>
                        <a:t>Xiaofen Fang, Haoran Xu, Bei Chen, Kunli Fang (2022)</a:t>
                      </a:r>
                      <a:endParaRPr lang="de-DE" sz="1200" dirty="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000000"/>
                          </a:solidFill>
                          <a:effectLst/>
                          <a:latin typeface="Roboto" panose="02000000000000000000" pitchFamily="2" charset="0"/>
                        </a:rPr>
                        <a:t>The paper analyzes swarm robotics control strategies, noting China's dominance in patents and predicting future focus on swarm intelligence and collaboration.</a:t>
                      </a:r>
                      <a:endParaRPr lang="en-US" sz="1200" dirty="0">
                        <a:effectLst/>
                      </a:endParaRPr>
                    </a:p>
                  </a:txBody>
                  <a:tcPr marL="71568" marR="71568" marT="71568" marB="71568">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630094564"/>
                  </a:ext>
                </a:extLst>
              </a:tr>
            </a:tbl>
          </a:graphicData>
        </a:graphic>
      </p:graphicFrame>
      <p:sp>
        <p:nvSpPr>
          <p:cNvPr id="5" name="Rectangle 1">
            <a:extLst>
              <a:ext uri="{FF2B5EF4-FFF2-40B4-BE49-F238E27FC236}">
                <a16:creationId xmlns:a16="http://schemas.microsoft.com/office/drawing/2014/main" id="{D53A0A4F-D282-6ACD-6D76-73ACE3277D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Date Placeholder 2">
            <a:extLst>
              <a:ext uri="{FF2B5EF4-FFF2-40B4-BE49-F238E27FC236}">
                <a16:creationId xmlns:a16="http://schemas.microsoft.com/office/drawing/2014/main" id="{694BA000-82C8-48DD-99C4-28E5D6FA91D0}"/>
              </a:ext>
            </a:extLst>
          </p:cNvPr>
          <p:cNvSpPr>
            <a:spLocks noGrp="1"/>
          </p:cNvSpPr>
          <p:nvPr>
            <p:ph type="dt" sz="half" idx="10"/>
          </p:nvPr>
        </p:nvSpPr>
        <p:spPr/>
        <p:txBody>
          <a:bodyPr/>
          <a:lstStyle/>
          <a:p>
            <a:fld id="{81A12EAC-C730-4066-B17E-D323AE7BE892}" type="datetime1">
              <a:rPr lang="en-IN" smtClean="0"/>
              <a:t>25-10-2024</a:t>
            </a:fld>
            <a:endParaRPr lang="en-IN"/>
          </a:p>
        </p:txBody>
      </p:sp>
      <p:sp>
        <p:nvSpPr>
          <p:cNvPr id="6" name="Footer Placeholder 5">
            <a:extLst>
              <a:ext uri="{FF2B5EF4-FFF2-40B4-BE49-F238E27FC236}">
                <a16:creationId xmlns:a16="http://schemas.microsoft.com/office/drawing/2014/main" id="{3B8C4CFB-10B1-4ACF-B397-61CF67B62F61}"/>
              </a:ext>
            </a:extLst>
          </p:cNvPr>
          <p:cNvSpPr>
            <a:spLocks noGrp="1"/>
          </p:cNvSpPr>
          <p:nvPr>
            <p:ph type="ftr" sz="quarter" idx="11"/>
          </p:nvPr>
        </p:nvSpPr>
        <p:spPr/>
        <p:txBody>
          <a:bodyPr/>
          <a:lstStyle/>
          <a:p>
            <a:r>
              <a:rPr lang="en-US"/>
              <a:t>Multi-Robot Coordinated System for Warehouse Management</a:t>
            </a:r>
            <a:endParaRPr lang="en-IN"/>
          </a:p>
        </p:txBody>
      </p:sp>
      <p:sp>
        <p:nvSpPr>
          <p:cNvPr id="7" name="Slide Number Placeholder 6">
            <a:extLst>
              <a:ext uri="{FF2B5EF4-FFF2-40B4-BE49-F238E27FC236}">
                <a16:creationId xmlns:a16="http://schemas.microsoft.com/office/drawing/2014/main" id="{AFA781ED-ADC8-4740-AED0-1A3C4321108C}"/>
              </a:ext>
            </a:extLst>
          </p:cNvPr>
          <p:cNvSpPr>
            <a:spLocks noGrp="1"/>
          </p:cNvSpPr>
          <p:nvPr>
            <p:ph type="sldNum" sz="quarter" idx="12"/>
          </p:nvPr>
        </p:nvSpPr>
        <p:spPr/>
        <p:txBody>
          <a:bodyPr/>
          <a:lstStyle/>
          <a:p>
            <a:fld id="{BCD8B248-873C-447D-B91D-0DF08D23C344}" type="slidenum">
              <a:rPr lang="en-IN" smtClean="0"/>
              <a:t>15</a:t>
            </a:fld>
            <a:endParaRPr lang="en-IN"/>
          </a:p>
        </p:txBody>
      </p:sp>
    </p:spTree>
    <p:extLst>
      <p:ext uri="{BB962C8B-B14F-4D97-AF65-F5344CB8AC3E}">
        <p14:creationId xmlns:p14="http://schemas.microsoft.com/office/powerpoint/2010/main" val="337478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17455E48-6E81-1461-DF1B-60204FF596E3}"/>
              </a:ext>
            </a:extLst>
          </p:cNvPr>
          <p:cNvGraphicFramePr>
            <a:graphicFrameLocks noGrp="1"/>
          </p:cNvGraphicFramePr>
          <p:nvPr>
            <p:extLst>
              <p:ext uri="{D42A27DB-BD31-4B8C-83A1-F6EECF244321}">
                <p14:modId xmlns:p14="http://schemas.microsoft.com/office/powerpoint/2010/main" val="2487249666"/>
              </p:ext>
            </p:extLst>
          </p:nvPr>
        </p:nvGraphicFramePr>
        <p:xfrm>
          <a:off x="457200" y="383734"/>
          <a:ext cx="10666437" cy="5037992"/>
        </p:xfrm>
        <a:graphic>
          <a:graphicData uri="http://schemas.openxmlformats.org/drawingml/2006/table">
            <a:tbl>
              <a:tblPr/>
              <a:tblGrid>
                <a:gridCol w="699865">
                  <a:extLst>
                    <a:ext uri="{9D8B030D-6E8A-4147-A177-3AD203B41FA5}">
                      <a16:colId xmlns:a16="http://schemas.microsoft.com/office/drawing/2014/main" val="3396546718"/>
                    </a:ext>
                  </a:extLst>
                </a:gridCol>
                <a:gridCol w="2592087">
                  <a:extLst>
                    <a:ext uri="{9D8B030D-6E8A-4147-A177-3AD203B41FA5}">
                      <a16:colId xmlns:a16="http://schemas.microsoft.com/office/drawing/2014/main" val="1754778114"/>
                    </a:ext>
                  </a:extLst>
                </a:gridCol>
                <a:gridCol w="2345840">
                  <a:extLst>
                    <a:ext uri="{9D8B030D-6E8A-4147-A177-3AD203B41FA5}">
                      <a16:colId xmlns:a16="http://schemas.microsoft.com/office/drawing/2014/main" val="116407576"/>
                    </a:ext>
                  </a:extLst>
                </a:gridCol>
                <a:gridCol w="5028645">
                  <a:extLst>
                    <a:ext uri="{9D8B030D-6E8A-4147-A177-3AD203B41FA5}">
                      <a16:colId xmlns:a16="http://schemas.microsoft.com/office/drawing/2014/main" val="1074802345"/>
                    </a:ext>
                  </a:extLst>
                </a:gridCol>
              </a:tblGrid>
              <a:tr h="550224">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S. No</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a:solidFill>
                            <a:srgbClr val="000000"/>
                          </a:solidFill>
                          <a:effectLst/>
                          <a:latin typeface="Roboto" panose="02000000000000000000" pitchFamily="2" charset="0"/>
                        </a:rPr>
                        <a:t>Title of the Patent/Paper</a:t>
                      </a:r>
                      <a:endParaRPr lang="en-US"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Authors</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dirty="0">
                          <a:solidFill>
                            <a:srgbClr val="000000"/>
                          </a:solidFill>
                          <a:effectLst/>
                          <a:latin typeface="Roboto" panose="02000000000000000000" pitchFamily="2" charset="0"/>
                        </a:rPr>
                        <a:t>Inference</a:t>
                      </a:r>
                      <a:endParaRPr lang="en-IN"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808534062"/>
                  </a:ext>
                </a:extLst>
              </a:tr>
              <a:tr h="1306783">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4</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fr-FR" sz="1200" b="0" i="0" u="none" strike="noStrike" dirty="0">
                          <a:solidFill>
                            <a:srgbClr val="000000"/>
                          </a:solidFill>
                          <a:effectLst/>
                          <a:latin typeface="Roboto" panose="02000000000000000000" pitchFamily="2" charset="0"/>
                        </a:rPr>
                        <a:t>OBSTACLE AVOIDANCE IN AUTONOMOUS VEHICLES (Patent - 202117000083)</a:t>
                      </a:r>
                      <a:endParaRPr lang="fr-FR"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dirty="0">
                          <a:solidFill>
                            <a:srgbClr val="000000"/>
                          </a:solidFill>
                          <a:effectLst/>
                          <a:latin typeface="Roboto" panose="02000000000000000000" pitchFamily="2" charset="0"/>
                        </a:rPr>
                        <a:t>Ofir Cohen, Dina </a:t>
                      </a:r>
                      <a:r>
                        <a:rPr lang="en-IN" sz="1200" b="0" i="0" u="none" strike="noStrike" dirty="0" err="1">
                          <a:solidFill>
                            <a:srgbClr val="000000"/>
                          </a:solidFill>
                          <a:effectLst/>
                          <a:latin typeface="Roboto" panose="02000000000000000000" pitchFamily="2" charset="0"/>
                        </a:rPr>
                        <a:t>Appelman</a:t>
                      </a:r>
                      <a:r>
                        <a:rPr lang="en-IN" sz="1200" b="0" i="0" u="none" strike="noStrike" dirty="0">
                          <a:solidFill>
                            <a:srgbClr val="000000"/>
                          </a:solidFill>
                          <a:effectLst/>
                          <a:latin typeface="Roboto" panose="02000000000000000000" pitchFamily="2" charset="0"/>
                        </a:rPr>
                        <a:t> (2021)</a:t>
                      </a:r>
                      <a:endParaRPr lang="en-IN"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000000"/>
                          </a:solidFill>
                          <a:effectLst/>
                          <a:latin typeface="Roboto" panose="02000000000000000000" pitchFamily="2" charset="0"/>
                        </a:rPr>
                        <a:t>The disclosed method allows an autonomous vehicle with an asymmetric shape to perform a collision-free point-turn in crowded areas, executing the maneuver quickly without needing to stop for obstacles.</a:t>
                      </a:r>
                      <a:endParaRPr lang="en-US"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631763162"/>
                  </a:ext>
                </a:extLst>
              </a:tr>
              <a:tr h="1685062">
                <a:tc>
                  <a:txBody>
                    <a:bodyPr/>
                    <a:lstStyle/>
                    <a:p>
                      <a:pPr rtl="0" fontAlgn="t">
                        <a:spcBef>
                          <a:spcPts val="0"/>
                        </a:spcBef>
                        <a:spcAft>
                          <a:spcPts val="0"/>
                        </a:spcAft>
                      </a:pPr>
                      <a:r>
                        <a:rPr lang="en-IN" sz="1200" b="0" i="0" u="none" strike="noStrike" dirty="0">
                          <a:solidFill>
                            <a:srgbClr val="000000"/>
                          </a:solidFill>
                          <a:effectLst/>
                          <a:latin typeface="Roboto" panose="02000000000000000000" pitchFamily="2" charset="0"/>
                        </a:rPr>
                        <a:t>5</a:t>
                      </a:r>
                      <a:endParaRPr lang="en-IN"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1200"/>
                        </a:spcAft>
                      </a:pPr>
                      <a:r>
                        <a:rPr lang="en-US" sz="1200" b="0" i="0" u="none" strike="noStrike">
                          <a:solidFill>
                            <a:srgbClr val="333333"/>
                          </a:solidFill>
                          <a:effectLst/>
                          <a:latin typeface="Roboto" panose="02000000000000000000" pitchFamily="2" charset="0"/>
                        </a:rPr>
                        <a:t>A REAL-TIME AUTONOMOUS NAVIGATION SYSTEM FOR A VEHICLE AND A METHOD THEREOF (Patent - 202041055232)</a:t>
                      </a:r>
                      <a:endParaRPr lang="en-US"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K. Senthil Kumar, D. Malathi, P. Nithika, P. Nithesh, Jayaseeli J. D. Dorathi (2021)</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a:solidFill>
                            <a:srgbClr val="000000"/>
                          </a:solidFill>
                          <a:effectLst/>
                          <a:latin typeface="Roboto" panose="02000000000000000000" pitchFamily="2" charset="0"/>
                        </a:rPr>
                        <a:t>The abstract presents a real-time autonomous navigation system for vehicles, utilizing a stereo camera and processing unit to detect features, create a 3D map, identify obstacles, and plan safe navigation paths.</a:t>
                      </a:r>
                      <a:endParaRPr lang="en-US"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370153980"/>
                  </a:ext>
                </a:extLst>
              </a:tr>
              <a:tr h="1495923">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6</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a:solidFill>
                            <a:srgbClr val="000000"/>
                          </a:solidFill>
                          <a:effectLst/>
                          <a:latin typeface="Roboto" panose="02000000000000000000" pitchFamily="2" charset="0"/>
                        </a:rPr>
                        <a:t>Method and system for dynamically integrating bots (Patent - US20170269972A1)</a:t>
                      </a:r>
                      <a:endParaRPr lang="en-US"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fi-FI" sz="1200" b="0" i="0" u="none" strike="noStrike" dirty="0">
                          <a:solidFill>
                            <a:srgbClr val="000000"/>
                          </a:solidFill>
                          <a:effectLst/>
                          <a:latin typeface="Roboto" panose="02000000000000000000" pitchFamily="2" charset="0"/>
                        </a:rPr>
                        <a:t>R. Hosabettu, R. K. Ramanna, R. Mannopantar, P.Ananthasankaranarayanan, H. V. Natarajan (2017)</a:t>
                      </a:r>
                      <a:endParaRPr lang="fi-FI"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000000"/>
                          </a:solidFill>
                          <a:effectLst/>
                          <a:latin typeface="Roboto" panose="02000000000000000000" pitchFamily="2" charset="0"/>
                        </a:rPr>
                        <a:t>The method integrates multiple BOTs providing automated services, assigning functions and calculating maturity scores for synchronization, allowing dynamic collaboration based on their performance and predefined parameters.</a:t>
                      </a:r>
                      <a:endParaRPr lang="en-US"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565389566"/>
                  </a:ext>
                </a:extLst>
              </a:tr>
            </a:tbl>
          </a:graphicData>
        </a:graphic>
      </p:graphicFrame>
      <p:sp>
        <p:nvSpPr>
          <p:cNvPr id="2" name="Date Placeholder 1">
            <a:extLst>
              <a:ext uri="{FF2B5EF4-FFF2-40B4-BE49-F238E27FC236}">
                <a16:creationId xmlns:a16="http://schemas.microsoft.com/office/drawing/2014/main" id="{04A61E21-BFD2-4073-AB4C-EE1301D23DDF}"/>
              </a:ext>
            </a:extLst>
          </p:cNvPr>
          <p:cNvSpPr>
            <a:spLocks noGrp="1"/>
          </p:cNvSpPr>
          <p:nvPr>
            <p:ph type="dt" sz="half" idx="10"/>
          </p:nvPr>
        </p:nvSpPr>
        <p:spPr/>
        <p:txBody>
          <a:bodyPr/>
          <a:lstStyle/>
          <a:p>
            <a:fld id="{8D2E9596-B474-4A87-83CD-D571EFFA88EC}" type="datetime1">
              <a:rPr lang="en-IN" smtClean="0"/>
              <a:t>25-10-2024</a:t>
            </a:fld>
            <a:endParaRPr lang="en-IN"/>
          </a:p>
        </p:txBody>
      </p:sp>
      <p:sp>
        <p:nvSpPr>
          <p:cNvPr id="3" name="Footer Placeholder 2">
            <a:extLst>
              <a:ext uri="{FF2B5EF4-FFF2-40B4-BE49-F238E27FC236}">
                <a16:creationId xmlns:a16="http://schemas.microsoft.com/office/drawing/2014/main" id="{6254B6ED-05AE-43A3-BB6F-EADF9AD14F61}"/>
              </a:ext>
            </a:extLst>
          </p:cNvPr>
          <p:cNvSpPr>
            <a:spLocks noGrp="1"/>
          </p:cNvSpPr>
          <p:nvPr>
            <p:ph type="ftr" sz="quarter" idx="11"/>
          </p:nvPr>
        </p:nvSpPr>
        <p:spPr/>
        <p:txBody>
          <a:bodyPr/>
          <a:lstStyle/>
          <a:p>
            <a:r>
              <a:rPr lang="en-US"/>
              <a:t>Multi-Robot Coordinated System for Warehouse Management</a:t>
            </a:r>
            <a:endParaRPr lang="en-IN"/>
          </a:p>
        </p:txBody>
      </p:sp>
      <p:sp>
        <p:nvSpPr>
          <p:cNvPr id="4" name="Slide Number Placeholder 3">
            <a:extLst>
              <a:ext uri="{FF2B5EF4-FFF2-40B4-BE49-F238E27FC236}">
                <a16:creationId xmlns:a16="http://schemas.microsoft.com/office/drawing/2014/main" id="{C2EC558D-48EE-4CF7-87EE-0EACD06434FD}"/>
              </a:ext>
            </a:extLst>
          </p:cNvPr>
          <p:cNvSpPr>
            <a:spLocks noGrp="1"/>
          </p:cNvSpPr>
          <p:nvPr>
            <p:ph type="sldNum" sz="quarter" idx="12"/>
          </p:nvPr>
        </p:nvSpPr>
        <p:spPr/>
        <p:txBody>
          <a:bodyPr/>
          <a:lstStyle/>
          <a:p>
            <a:fld id="{BCD8B248-873C-447D-B91D-0DF08D23C344}" type="slidenum">
              <a:rPr lang="en-IN" smtClean="0"/>
              <a:t>16</a:t>
            </a:fld>
            <a:endParaRPr lang="en-IN"/>
          </a:p>
        </p:txBody>
      </p:sp>
    </p:spTree>
    <p:extLst>
      <p:ext uri="{BB962C8B-B14F-4D97-AF65-F5344CB8AC3E}">
        <p14:creationId xmlns:p14="http://schemas.microsoft.com/office/powerpoint/2010/main" val="1913798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D34E994-48CE-216B-7671-193DE12C0A84}"/>
              </a:ext>
            </a:extLst>
          </p:cNvPr>
          <p:cNvGraphicFramePr>
            <a:graphicFrameLocks noGrp="1"/>
          </p:cNvGraphicFramePr>
          <p:nvPr>
            <p:extLst>
              <p:ext uri="{D42A27DB-BD31-4B8C-83A1-F6EECF244321}">
                <p14:modId xmlns:p14="http://schemas.microsoft.com/office/powerpoint/2010/main" val="3397557752"/>
              </p:ext>
            </p:extLst>
          </p:nvPr>
        </p:nvGraphicFramePr>
        <p:xfrm>
          <a:off x="833120" y="1009174"/>
          <a:ext cx="10627360" cy="4324826"/>
        </p:xfrm>
        <a:graphic>
          <a:graphicData uri="http://schemas.openxmlformats.org/drawingml/2006/table">
            <a:tbl>
              <a:tblPr/>
              <a:tblGrid>
                <a:gridCol w="697300">
                  <a:extLst>
                    <a:ext uri="{9D8B030D-6E8A-4147-A177-3AD203B41FA5}">
                      <a16:colId xmlns:a16="http://schemas.microsoft.com/office/drawing/2014/main" val="3782678988"/>
                    </a:ext>
                  </a:extLst>
                </a:gridCol>
                <a:gridCol w="2582591">
                  <a:extLst>
                    <a:ext uri="{9D8B030D-6E8A-4147-A177-3AD203B41FA5}">
                      <a16:colId xmlns:a16="http://schemas.microsoft.com/office/drawing/2014/main" val="1438660296"/>
                    </a:ext>
                  </a:extLst>
                </a:gridCol>
                <a:gridCol w="2337244">
                  <a:extLst>
                    <a:ext uri="{9D8B030D-6E8A-4147-A177-3AD203B41FA5}">
                      <a16:colId xmlns:a16="http://schemas.microsoft.com/office/drawing/2014/main" val="4036309571"/>
                    </a:ext>
                  </a:extLst>
                </a:gridCol>
                <a:gridCol w="5010225">
                  <a:extLst>
                    <a:ext uri="{9D8B030D-6E8A-4147-A177-3AD203B41FA5}">
                      <a16:colId xmlns:a16="http://schemas.microsoft.com/office/drawing/2014/main" val="2634732641"/>
                    </a:ext>
                  </a:extLst>
                </a:gridCol>
              </a:tblGrid>
              <a:tr h="1455273">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7</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a:solidFill>
                            <a:srgbClr val="000000"/>
                          </a:solidFill>
                          <a:effectLst/>
                          <a:latin typeface="Roboto" panose="02000000000000000000" pitchFamily="2" charset="0"/>
                        </a:rPr>
                        <a:t>SYSTEM AND METHOD FOR MANAGING AN INSECT SWARM USING DRONES (Patent - 202011043508)</a:t>
                      </a:r>
                      <a:endParaRPr lang="en-US"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K. T. Gandhi (2020)</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000000"/>
                          </a:solidFill>
                          <a:effectLst/>
                          <a:latin typeface="Roboto" panose="02000000000000000000" pitchFamily="2" charset="0"/>
                        </a:rPr>
                        <a:t>This disclosure outlines a system and method for managing insect swarms using drones. It includes detecting and tracking the swarm, enabling drones to communicate and align into a formation. Drones electromagnetically couple for coordination, deploy nets to trap insects, and use high voltage to incapacitate them.</a:t>
                      </a:r>
                      <a:endParaRPr lang="en-US"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301136736"/>
                  </a:ext>
                </a:extLst>
              </a:tr>
              <a:tr h="1188815">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8</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a:solidFill>
                            <a:srgbClr val="000000"/>
                          </a:solidFill>
                          <a:effectLst/>
                          <a:latin typeface="Roboto" panose="02000000000000000000" pitchFamily="2" charset="0"/>
                        </a:rPr>
                        <a:t>Recent trends in robot learning and evolution for swarm robotics</a:t>
                      </a:r>
                      <a:endParaRPr lang="en-US"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Jonas Kuckling (2023)</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000000"/>
                          </a:solidFill>
                          <a:effectLst/>
                          <a:latin typeface="Roboto" panose="02000000000000000000" pitchFamily="2" charset="0"/>
                        </a:rPr>
                        <a:t>The article reviews advancements in swarm robotics, focusing on offline robot evolution, embodied evolution, and offline learning. It highlights design methods, challenges, and future research trends to enhance collective robot behavior.</a:t>
                      </a:r>
                      <a:endParaRPr lang="en-US"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161433960"/>
                  </a:ext>
                </a:extLst>
              </a:tr>
              <a:tr h="1680738">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9</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111111"/>
                          </a:solidFill>
                          <a:effectLst/>
                          <a:latin typeface="Roboto" panose="02000000000000000000" pitchFamily="2" charset="0"/>
                        </a:rPr>
                        <a:t>The cooperation of swarm-bots: Physical interactions in collective robotics</a:t>
                      </a:r>
                      <a:endParaRPr lang="en-US" sz="1200" dirty="0">
                        <a:effectLst/>
                      </a:endParaRPr>
                    </a:p>
                    <a:p>
                      <a:pPr fontAlgn="t"/>
                      <a:br>
                        <a:rPr lang="en-US" sz="1200" dirty="0">
                          <a:effectLst/>
                        </a:rPr>
                      </a:br>
                      <a:br>
                        <a:rPr lang="en-US" sz="1200" dirty="0">
                          <a:effectLst/>
                        </a:rPr>
                      </a:br>
                      <a:endParaRPr lang="en-US"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IN" sz="1200" b="0" i="0" u="none" strike="noStrike">
                          <a:solidFill>
                            <a:srgbClr val="000000"/>
                          </a:solidFill>
                          <a:effectLst/>
                          <a:latin typeface="Roboto" panose="02000000000000000000" pitchFamily="2" charset="0"/>
                        </a:rPr>
                        <a:t>Francesco Mondada, Luca Maria Gambardella, Dario Floreano, Stefano Nolfi (2005)</a:t>
                      </a:r>
                      <a:endParaRPr lang="en-IN" sz="120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tc>
                  <a:txBody>
                    <a:bodyPr/>
                    <a:lstStyle/>
                    <a:p>
                      <a:pPr rtl="0" fontAlgn="t">
                        <a:spcBef>
                          <a:spcPts val="0"/>
                        </a:spcBef>
                        <a:spcAft>
                          <a:spcPts val="0"/>
                        </a:spcAft>
                      </a:pPr>
                      <a:r>
                        <a:rPr lang="en-US" sz="1200" b="0" i="0" u="none" strike="noStrike" dirty="0">
                          <a:solidFill>
                            <a:srgbClr val="000000"/>
                          </a:solidFill>
                          <a:effectLst/>
                          <a:latin typeface="Roboto" panose="02000000000000000000" pitchFamily="2" charset="0"/>
                        </a:rPr>
                        <a:t>The paper reviews the SWARM-BOTS project, detailing robot design, a simulator for testing adaptive algorithms, and showcasing cooperative behaviors in both simulations and hardware, demonstrating effective swarm-based collaboration.</a:t>
                      </a:r>
                      <a:endParaRPr lang="en-US" sz="1200" dirty="0">
                        <a:effectLst/>
                      </a:endParaRPr>
                    </a:p>
                  </a:txBody>
                  <a:tcPr marL="76200" marR="76200" marT="76200" marB="76200">
                    <a:lnL w="7620" cap="flat" cmpd="sng" algn="ctr">
                      <a:solidFill>
                        <a:srgbClr val="9E9E9E"/>
                      </a:solidFill>
                      <a:prstDash val="solid"/>
                      <a:round/>
                      <a:headEnd type="none" w="med" len="med"/>
                      <a:tailEnd type="none" w="med" len="med"/>
                    </a:lnL>
                    <a:lnR w="7620" cap="flat" cmpd="sng" algn="ctr">
                      <a:solidFill>
                        <a:srgbClr val="9E9E9E"/>
                      </a:solidFill>
                      <a:prstDash val="solid"/>
                      <a:round/>
                      <a:headEnd type="none" w="med" len="med"/>
                      <a:tailEnd type="none" w="med" len="med"/>
                    </a:lnR>
                    <a:lnT w="7620" cap="flat" cmpd="sng" algn="ctr">
                      <a:solidFill>
                        <a:srgbClr val="9E9E9E"/>
                      </a:solidFill>
                      <a:prstDash val="solid"/>
                      <a:round/>
                      <a:headEnd type="none" w="med" len="med"/>
                      <a:tailEnd type="none" w="med" len="med"/>
                    </a:lnT>
                    <a:lnB w="7620"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2803152633"/>
                  </a:ext>
                </a:extLst>
              </a:tr>
            </a:tbl>
          </a:graphicData>
        </a:graphic>
      </p:graphicFrame>
      <p:sp>
        <p:nvSpPr>
          <p:cNvPr id="5" name="Rectangle 1">
            <a:extLst>
              <a:ext uri="{FF2B5EF4-FFF2-40B4-BE49-F238E27FC236}">
                <a16:creationId xmlns:a16="http://schemas.microsoft.com/office/drawing/2014/main" id="{A0A39F91-B5D1-7381-FAD5-6751FAF66414}"/>
              </a:ext>
            </a:extLst>
          </p:cNvPr>
          <p:cNvSpPr>
            <a:spLocks noChangeArrowheads="1"/>
          </p:cNvSpPr>
          <p:nvPr/>
        </p:nvSpPr>
        <p:spPr bwMode="auto">
          <a:xfrm>
            <a:off x="1975168" y="100933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Date Placeholder 1">
            <a:extLst>
              <a:ext uri="{FF2B5EF4-FFF2-40B4-BE49-F238E27FC236}">
                <a16:creationId xmlns:a16="http://schemas.microsoft.com/office/drawing/2014/main" id="{DAEA129A-55DA-4710-AAB7-7F45BACA46F6}"/>
              </a:ext>
            </a:extLst>
          </p:cNvPr>
          <p:cNvSpPr>
            <a:spLocks noGrp="1"/>
          </p:cNvSpPr>
          <p:nvPr>
            <p:ph type="dt" sz="half" idx="10"/>
          </p:nvPr>
        </p:nvSpPr>
        <p:spPr/>
        <p:txBody>
          <a:bodyPr/>
          <a:lstStyle/>
          <a:p>
            <a:fld id="{6604A2EF-C214-4020-8117-959AFF596261}" type="datetime1">
              <a:rPr lang="en-IN" smtClean="0"/>
              <a:t>25-10-2024</a:t>
            </a:fld>
            <a:endParaRPr lang="en-IN"/>
          </a:p>
        </p:txBody>
      </p:sp>
      <p:sp>
        <p:nvSpPr>
          <p:cNvPr id="3" name="Footer Placeholder 2">
            <a:extLst>
              <a:ext uri="{FF2B5EF4-FFF2-40B4-BE49-F238E27FC236}">
                <a16:creationId xmlns:a16="http://schemas.microsoft.com/office/drawing/2014/main" id="{894788AC-167B-4576-86D9-87EF93822B3B}"/>
              </a:ext>
            </a:extLst>
          </p:cNvPr>
          <p:cNvSpPr>
            <a:spLocks noGrp="1"/>
          </p:cNvSpPr>
          <p:nvPr>
            <p:ph type="ftr" sz="quarter" idx="11"/>
          </p:nvPr>
        </p:nvSpPr>
        <p:spPr/>
        <p:txBody>
          <a:bodyPr/>
          <a:lstStyle/>
          <a:p>
            <a:r>
              <a:rPr lang="en-US"/>
              <a:t>Multi-Robot Coordinated System for Warehouse Management</a:t>
            </a:r>
            <a:endParaRPr lang="en-IN"/>
          </a:p>
        </p:txBody>
      </p:sp>
      <p:sp>
        <p:nvSpPr>
          <p:cNvPr id="6" name="Slide Number Placeholder 5">
            <a:extLst>
              <a:ext uri="{FF2B5EF4-FFF2-40B4-BE49-F238E27FC236}">
                <a16:creationId xmlns:a16="http://schemas.microsoft.com/office/drawing/2014/main" id="{BCD77838-24E0-4691-AE6D-FA213B7E462E}"/>
              </a:ext>
            </a:extLst>
          </p:cNvPr>
          <p:cNvSpPr>
            <a:spLocks noGrp="1"/>
          </p:cNvSpPr>
          <p:nvPr>
            <p:ph type="sldNum" sz="quarter" idx="12"/>
          </p:nvPr>
        </p:nvSpPr>
        <p:spPr/>
        <p:txBody>
          <a:bodyPr/>
          <a:lstStyle/>
          <a:p>
            <a:fld id="{BCD8B248-873C-447D-B91D-0DF08D23C344}" type="slidenum">
              <a:rPr lang="en-IN" smtClean="0"/>
              <a:t>17</a:t>
            </a:fld>
            <a:endParaRPr lang="en-IN"/>
          </a:p>
        </p:txBody>
      </p:sp>
    </p:spTree>
    <p:extLst>
      <p:ext uri="{BB962C8B-B14F-4D97-AF65-F5344CB8AC3E}">
        <p14:creationId xmlns:p14="http://schemas.microsoft.com/office/powerpoint/2010/main" val="3241420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116</TotalTime>
  <Words>1586</Words>
  <Application>Microsoft Office PowerPoint</Application>
  <PresentationFormat>Widescreen</PresentationFormat>
  <Paragraphs>182</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Raleway</vt:lpstr>
      <vt:lpstr>Roboto</vt:lpstr>
      <vt:lpstr>Times New Roman</vt:lpstr>
      <vt:lpstr>Office Theme</vt:lpstr>
      <vt:lpstr>Robo - Scout</vt:lpstr>
      <vt:lpstr>Outline of the Presentation</vt:lpstr>
      <vt:lpstr> Objective of the Problem </vt:lpstr>
      <vt:lpstr>   Abstract   </vt:lpstr>
      <vt:lpstr> Module(s) </vt:lpstr>
      <vt:lpstr> Hardware Components </vt:lpstr>
      <vt:lpstr>Block Diagram (Hardware) </vt:lpstr>
      <vt:lpstr>Block Diagram (Modules)</vt:lpstr>
      <vt:lpstr> Robot and Pallet Localization Module </vt:lpstr>
      <vt:lpstr> Path Planner Module </vt:lpstr>
      <vt:lpstr> Bot-Master Communication Module </vt:lpstr>
      <vt:lpstr> Motor Control Module </vt:lpstr>
      <vt:lpstr>Current Progress</vt:lpstr>
      <vt:lpstr>Roles</vt:lpstr>
      <vt:lpstr> Literature Review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 - Scout</dc:title>
  <dc:creator>Harshavardan K K</dc:creator>
  <cp:lastModifiedBy>Workstation</cp:lastModifiedBy>
  <cp:revision>6</cp:revision>
  <dcterms:created xsi:type="dcterms:W3CDTF">2024-10-24T14:46:54Z</dcterms:created>
  <dcterms:modified xsi:type="dcterms:W3CDTF">2024-10-25T10:08:49Z</dcterms:modified>
</cp:coreProperties>
</file>