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  <p:sldMasterId id="2147483665" r:id="rId3"/>
  </p:sldMasterIdLst>
  <p:notesMasterIdLst>
    <p:notesMasterId r:id="rId41"/>
  </p:notesMasterIdLst>
  <p:sldIdLst>
    <p:sldId id="256" r:id="rId4"/>
    <p:sldId id="270" r:id="rId5"/>
    <p:sldId id="272" r:id="rId6"/>
    <p:sldId id="258" r:id="rId7"/>
    <p:sldId id="274" r:id="rId8"/>
    <p:sldId id="275" r:id="rId9"/>
    <p:sldId id="273" r:id="rId10"/>
    <p:sldId id="278" r:id="rId11"/>
    <p:sldId id="281" r:id="rId12"/>
    <p:sldId id="287" r:id="rId13"/>
    <p:sldId id="294" r:id="rId14"/>
    <p:sldId id="293" r:id="rId15"/>
    <p:sldId id="292" r:id="rId16"/>
    <p:sldId id="304" r:id="rId17"/>
    <p:sldId id="289" r:id="rId18"/>
    <p:sldId id="296" r:id="rId19"/>
    <p:sldId id="295" r:id="rId20"/>
    <p:sldId id="299" r:id="rId21"/>
    <p:sldId id="291" r:id="rId22"/>
    <p:sldId id="298" r:id="rId23"/>
    <p:sldId id="297" r:id="rId24"/>
    <p:sldId id="307" r:id="rId25"/>
    <p:sldId id="308" r:id="rId26"/>
    <p:sldId id="309" r:id="rId27"/>
    <p:sldId id="290" r:id="rId28"/>
    <p:sldId id="306" r:id="rId29"/>
    <p:sldId id="311" r:id="rId30"/>
    <p:sldId id="310" r:id="rId31"/>
    <p:sldId id="312" r:id="rId32"/>
    <p:sldId id="313" r:id="rId33"/>
    <p:sldId id="303" r:id="rId34"/>
    <p:sldId id="288" r:id="rId35"/>
    <p:sldId id="285" r:id="rId36"/>
    <p:sldId id="300" r:id="rId37"/>
    <p:sldId id="301" r:id="rId38"/>
    <p:sldId id="302" r:id="rId39"/>
    <p:sldId id="269" r:id="rId40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42"/>
      <p:bold r:id="rId43"/>
      <p:italic r:id="rId44"/>
      <p:boldItalic r:id="rId45"/>
    </p:embeddedFont>
    <p:embeddedFont>
      <p:font typeface="Bookman Old Style" panose="02050604050505020204" pitchFamily="18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9605B8-504E-4598-8CAF-A7B93FF6B527}">
  <a:tblStyle styleId="{EE9605B8-504E-4598-8CAF-A7B93FF6B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4.fntdata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3.fntdata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5.fntdata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57154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ded04689a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g2aded04689a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4633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e1c147d9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ae1c147d9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774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e1c147d9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ae1c147d9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6986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e1c147d9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ae1c147d9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807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3775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aded04689a_2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g2aded04689a_2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1851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29718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60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3200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63103"/>
            <a:ext cx="838200" cy="74533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/>
        </p:nvSpPr>
        <p:spPr>
          <a:xfrm>
            <a:off x="914400" y="17145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" sz="2000" b="1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PSG INSTITUTE OF TECHNOLOGY AND APPLIED RESEARCH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 Antiqua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COIMBATORE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53" name="Google Shape;53;p13"/>
          <p:cNvSpPr/>
          <p:nvPr/>
        </p:nvSpPr>
        <p:spPr>
          <a:xfrm flipH="1">
            <a:off x="228600" y="685800"/>
            <a:ext cx="76200" cy="4286250"/>
          </a:xfrm>
          <a:prstGeom prst="flowChartExtract">
            <a:avLst/>
          </a:prstGeom>
          <a:solidFill>
            <a:srgbClr val="660066"/>
          </a:solidFill>
          <a:ln w="9525" cap="flat" cmpd="sng">
            <a:solidFill>
              <a:srgbClr val="EF9F2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29718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05800" y="76200"/>
            <a:ext cx="6858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 flipH="1">
            <a:off x="8915400" y="685800"/>
            <a:ext cx="76200" cy="4286250"/>
          </a:xfrm>
          <a:prstGeom prst="flowChartExtract">
            <a:avLst/>
          </a:prstGeom>
          <a:solidFill>
            <a:srgbClr val="660066"/>
          </a:solidFill>
          <a:ln w="9525" cap="flat" cmpd="sng">
            <a:solidFill>
              <a:srgbClr val="EF9F2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 rot="5400000" flipH="1">
            <a:off x="4124919" y="-3518892"/>
            <a:ext cx="55959" cy="7391400"/>
          </a:xfrm>
          <a:prstGeom prst="flowChartExtract">
            <a:avLst/>
          </a:prstGeom>
          <a:solidFill>
            <a:srgbClr val="660066"/>
          </a:solidFill>
          <a:ln w="9525" cap="flat" cmpd="sng">
            <a:solidFill>
              <a:srgbClr val="EF9F2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3000" dir="540000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3200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05800" y="76200"/>
            <a:ext cx="6858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  <a:defRPr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ctrTitle"/>
          </p:nvPr>
        </p:nvSpPr>
        <p:spPr>
          <a:xfrm>
            <a:off x="1143000" y="2055532"/>
            <a:ext cx="7219030" cy="10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2800"/>
            </a:pPr>
            <a:r>
              <a:rPr lang="en-US" sz="2800" b="1" dirty="0">
                <a:latin typeface="Bookman Old Style"/>
                <a:ea typeface="Bookman Old Style"/>
                <a:cs typeface="Times New Roman" panose="02020603050405020304" pitchFamily="18" charset="0"/>
                <a:sym typeface="Bookman Old Style"/>
              </a:rPr>
              <a:t>Human Presence Detection in the ROI of an Image </a:t>
            </a:r>
            <a:endParaRPr dirty="0"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1"/>
          </p:nvPr>
        </p:nvSpPr>
        <p:spPr>
          <a:xfrm>
            <a:off x="387350" y="3171474"/>
            <a:ext cx="4876800" cy="14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" sz="1700" b="1" i="0" u="sng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Submitted By</a:t>
            </a:r>
            <a:endParaRPr sz="1700" b="1" i="0" u="sng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lvl="0" indent="0" algn="ctr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IN" sz="1700" dirty="0" err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Kavisri</a:t>
            </a:r>
            <a:r>
              <a:rPr lang="en-IN" sz="17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S - 715520104022</a:t>
            </a:r>
          </a:p>
          <a:p>
            <a:pPr marL="0" lvl="0" indent="0" algn="ctr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IN" sz="17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Megadarshini V - 715520104028</a:t>
            </a:r>
          </a:p>
          <a:p>
            <a:pPr marL="0" lvl="0" indent="0" algn="ctr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IN" sz="17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Kartik R - 715520104303</a:t>
            </a:r>
          </a:p>
        </p:txBody>
      </p:sp>
      <p:sp>
        <p:nvSpPr>
          <p:cNvPr id="98" name="Google Shape;98;p19"/>
          <p:cNvSpPr txBox="1"/>
          <p:nvPr/>
        </p:nvSpPr>
        <p:spPr>
          <a:xfrm>
            <a:off x="4516437" y="280988"/>
            <a:ext cx="185737" cy="27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1143000" y="1128713"/>
            <a:ext cx="7315200" cy="346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Department of Computer Science and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5264150" y="3152200"/>
            <a:ext cx="38100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lang="en" sz="1800" b="1" i="0" u="sng" strike="noStrike" cap="none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Guided 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lang="en-US" sz="1650" b="1" dirty="0">
                <a:solidFill>
                  <a:srgbClr val="211F1F"/>
                </a:solidFill>
                <a:highlight>
                  <a:srgbClr val="F2F2F2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Dr. R. </a:t>
            </a:r>
            <a:r>
              <a:rPr lang="en-US" sz="1650" b="1" dirty="0" err="1">
                <a:solidFill>
                  <a:srgbClr val="211F1F"/>
                </a:solidFill>
                <a:highlight>
                  <a:srgbClr val="F2F2F2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Manimegalai</a:t>
            </a:r>
            <a:endParaRPr lang="en-US" sz="1650" b="1" dirty="0">
              <a:solidFill>
                <a:srgbClr val="211F1F"/>
              </a:solidFill>
              <a:highlight>
                <a:srgbClr val="F2F2F2"/>
              </a:highlight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lang="en-US" sz="1650" dirty="0">
                <a:solidFill>
                  <a:srgbClr val="211F1F"/>
                </a:solidFill>
                <a:highlight>
                  <a:srgbClr val="F2F2F2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Professor &amp; HOD,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None/>
            </a:pPr>
            <a:r>
              <a:rPr lang="en-US" sz="1650" dirty="0">
                <a:solidFill>
                  <a:srgbClr val="211F1F"/>
                </a:solidFill>
                <a:highlight>
                  <a:srgbClr val="F2F2F2"/>
                </a:highlight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and Engineering</a:t>
            </a:r>
            <a:endParaRPr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914400" y="1600200"/>
            <a:ext cx="7772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Bookman Old Style"/>
              <a:buNone/>
            </a:pPr>
            <a:r>
              <a:rPr lang="en" sz="22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</a:t>
            </a:r>
            <a:r>
              <a:rPr lang="en" sz="2200" b="0" i="0" u="none" strike="noStrike" cap="none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roject Review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E05B-49D9-4C62-F0BB-123AC85F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>
                <a:solidFill>
                  <a:srgbClr val="C00000"/>
                </a:solidFill>
              </a:rPr>
              <a:t>Abstract</a:t>
            </a:r>
            <a:endParaRPr lang="en-IN" sz="3400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27799-28DE-4FF6-804D-CFA151CA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introduce a robust system for real-time people counting within a defined region of interest (ROI).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performance of HOG,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3.0, YOLOv5, and YOLOv8 algorithms.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YOLOv8 as the most accurate and efficient algorithm.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user-friendly frontend interface for seamless interaction, providing results in image, video, and real-time camera formats.</a:t>
            </a:r>
          </a:p>
        </p:txBody>
      </p:sp>
    </p:spTree>
    <p:extLst>
      <p:ext uri="{BB962C8B-B14F-4D97-AF65-F5344CB8AC3E}">
        <p14:creationId xmlns:p14="http://schemas.microsoft.com/office/powerpoint/2010/main" val="2063673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E05B-49D9-4C62-F0BB-123AC85F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>
                <a:solidFill>
                  <a:srgbClr val="C00000"/>
                </a:solidFill>
              </a:rPr>
              <a:t>Introduction</a:t>
            </a:r>
            <a:endParaRPr lang="en-IN" sz="3400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27799-28DE-4FF6-804D-CFA151CA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people counting plays a crucial role in numerous domains, including retail, public safety, transportation, and event management. Traditional methods often fall short in providing real-time solutions with high precision, leading to inefficiencies and inaccuracies. To tackle this challenge, we propose a novel approach that integrates advanced object detection algorithms with a user-friendly frontend interface. By harnessing the power of deep learning techniques, particularly YOLOv8, we aim to deliver a reliable solution capable of accurately counting people within a specified ROI. Through rigorous experimentation and comparative analysis, we identify the most effective algorithm for real-time people counting, laying the foundation for a robust and efficient system.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474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457200" y="266300"/>
            <a:ext cx="8229600" cy="60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Literature Review</a:t>
            </a:r>
            <a:endParaRPr sz="34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457200" y="1339175"/>
            <a:ext cx="798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graphicFrame>
        <p:nvGraphicFramePr>
          <p:cNvPr id="119" name="Google Shape;119;p21"/>
          <p:cNvGraphicFramePr/>
          <p:nvPr>
            <p:extLst>
              <p:ext uri="{D42A27DB-BD31-4B8C-83A1-F6EECF244321}">
                <p14:modId xmlns:p14="http://schemas.microsoft.com/office/powerpoint/2010/main" val="1063824730"/>
              </p:ext>
            </p:extLst>
          </p:nvPr>
        </p:nvGraphicFramePr>
        <p:xfrm>
          <a:off x="30212" y="872301"/>
          <a:ext cx="8843875" cy="4031365"/>
        </p:xfrm>
        <a:graphic>
          <a:graphicData uri="http://schemas.openxmlformats.org/drawingml/2006/table">
            <a:tbl>
              <a:tblPr>
                <a:noFill/>
                <a:tableStyleId>{EE9605B8-504E-4598-8CAF-A7B93FF6B527}</a:tableStyleId>
              </a:tblPr>
              <a:tblGrid>
                <a:gridCol w="399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Details of the Paper  (with author names, title, forum, year and page number in IEEE format)</a:t>
                      </a:r>
                      <a:endParaRPr sz="1200" b="1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Summary of the Paper</a:t>
                      </a:r>
                      <a:endParaRPr sz="1200" b="1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7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Nguyen, Duc Thanh, </a:t>
                      </a:r>
                      <a:r>
                        <a:rPr lang="en-IN" sz="11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Wanqing</a:t>
                      </a:r>
                      <a:r>
                        <a:rPr lang="en-IN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Li, and Philip O. </a:t>
                      </a:r>
                      <a:r>
                        <a:rPr lang="en-IN" sz="11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Ogunbona</a:t>
                      </a:r>
                      <a:r>
                        <a:rPr lang="en-IN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"Human detection from images and videos: A survey." Pattern Recognition 51 (2016).</a:t>
                      </a:r>
                      <a:endParaRPr sz="1100" b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Introduction: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paper addresses recent advancements in human detection, organizing the survey around human object descriptors to guide practical application selection.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Solution Approach: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Utilizing a unique organizational framework, the survey critically analyzes state-of-the-art human detection methods, providing insights into their strengths and limitations.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Applications in Livestock: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Beyond conventional scenarios, the survey explores the adaptability of human detection methodologies to innovative applications in livestock for enhanced agricultural processes.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 in Current Studies: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Identifying critical gaps in existing studies, the paper underscores the need for further research to address shortcomings and advance human detection technologies.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Concluding Remarks: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comprehensive overview concludes by highlighting successes, recent advances, and future research directions, emphasizing the ongoing evolution of human detection for diverse applications.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endParaRPr sz="1100"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457200" y="266300"/>
            <a:ext cx="8229600" cy="60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Literature Review</a:t>
            </a:r>
            <a:endParaRPr sz="34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457200" y="1339175"/>
            <a:ext cx="798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graphicFrame>
        <p:nvGraphicFramePr>
          <p:cNvPr id="119" name="Google Shape;119;p21"/>
          <p:cNvGraphicFramePr/>
          <p:nvPr>
            <p:extLst>
              <p:ext uri="{D42A27DB-BD31-4B8C-83A1-F6EECF244321}">
                <p14:modId xmlns:p14="http://schemas.microsoft.com/office/powerpoint/2010/main" val="3424859388"/>
              </p:ext>
            </p:extLst>
          </p:nvPr>
        </p:nvGraphicFramePr>
        <p:xfrm>
          <a:off x="30212" y="872301"/>
          <a:ext cx="8843875" cy="3969382"/>
        </p:xfrm>
        <a:graphic>
          <a:graphicData uri="http://schemas.openxmlformats.org/drawingml/2006/table">
            <a:tbl>
              <a:tblPr>
                <a:noFill/>
                <a:tableStyleId>{EE9605B8-504E-4598-8CAF-A7B93FF6B527}</a:tableStyleId>
              </a:tblPr>
              <a:tblGrid>
                <a:gridCol w="399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Details of the Paper  (with author names, title, forum, year and page number in IEEE format)</a:t>
                      </a:r>
                      <a:endParaRPr sz="1200" b="1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Summary of the Paper</a:t>
                      </a:r>
                      <a:endParaRPr sz="1200" b="1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7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Dalal, Navneet, Bill </a:t>
                      </a:r>
                      <a:r>
                        <a:rPr lang="en-IN" sz="11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Triggs</a:t>
                      </a:r>
                      <a:r>
                        <a:rPr lang="en-IN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and Cordelia Schmid. "Human detection using oriented histograms of flow and appearance." Computer Vision–ECCV 2006: 9th European Conference on Computer Vision, Graz, Austria, May 7-13, 2006. Proceedings, Part II 9. Springer Berlin Heidelberg, 2006.</a:t>
                      </a:r>
                      <a:endParaRPr sz="1100" b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Introduction: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paper introduces a novel human detection method using depth information from the Kinect for Xbox 360.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Solution Approach: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proposed method leverages depth data for efficient human detection, incorporating a segmentation scheme and a tracking algorithm.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Applications: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depth-based approach extends to livestock scenarios, offering potential improvements in agricultural processes and animal welfare.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 in Studies: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paper addresses a gap in human detection research by exploring the untapped potential of depth information compared to traditional visible-light cameras.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Conclusion: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conclusion, the paper presents a pioneering depth-based human detection method, signaling a promising direction for future research in computer vision.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endParaRPr sz="1100"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45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457200" y="266300"/>
            <a:ext cx="8229600" cy="60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Literature Review</a:t>
            </a:r>
            <a:endParaRPr sz="3400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457200" y="1339175"/>
            <a:ext cx="798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graphicFrame>
        <p:nvGraphicFramePr>
          <p:cNvPr id="119" name="Google Shape;119;p21"/>
          <p:cNvGraphicFramePr/>
          <p:nvPr>
            <p:extLst>
              <p:ext uri="{D42A27DB-BD31-4B8C-83A1-F6EECF244321}">
                <p14:modId xmlns:p14="http://schemas.microsoft.com/office/powerpoint/2010/main" val="1645940127"/>
              </p:ext>
            </p:extLst>
          </p:nvPr>
        </p:nvGraphicFramePr>
        <p:xfrm>
          <a:off x="30212" y="872301"/>
          <a:ext cx="8843875" cy="3969382"/>
        </p:xfrm>
        <a:graphic>
          <a:graphicData uri="http://schemas.openxmlformats.org/drawingml/2006/table">
            <a:tbl>
              <a:tblPr>
                <a:noFill/>
                <a:tableStyleId>{EE9605B8-504E-4598-8CAF-A7B93FF6B527}</a:tableStyleId>
              </a:tblPr>
              <a:tblGrid>
                <a:gridCol w="399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Details of the Paper  (with author names, title, forum, year and page number in IEEE format)</a:t>
                      </a:r>
                      <a:endParaRPr sz="1200" b="1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Summary of the Paper</a:t>
                      </a:r>
                      <a:endParaRPr sz="1200" b="1" dirty="0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7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Christopoulos</a:t>
                      </a:r>
                      <a:r>
                        <a:rPr lang="en-IN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IN" sz="11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Charilaos</a:t>
                      </a:r>
                      <a:r>
                        <a:rPr lang="en-IN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Joel </a:t>
                      </a:r>
                      <a:r>
                        <a:rPr lang="en-IN" sz="11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Askelof</a:t>
                      </a:r>
                      <a:r>
                        <a:rPr lang="en-IN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and Mathias Larsson. "Efficient methods for encoding regions of interest in the upcoming JPEG2000 still image coding standard." IEEE Signal Processing Letters 7.9 (2000).</a:t>
                      </a:r>
                      <a:endParaRPr sz="1100" b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Introduction: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paper introduces a method for generating regions of interest (ROI) masks for the upcoming JPEG2000 still image coding standard.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Solution Approach: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paper proposes a simple method for generating ROI masks for rectangular-shaped ROIs and a coding approach for arbitrary-shaped ROIs without transmitting shape information, incurring a small coding penalty.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Applications: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Enhancing JPEG2000, the methods provide flexibility for arbitrarily shaped ROIs without requiring shape information, applicable to image coding standards.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Gaps Identified: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paper addresses gaps in current studies, specifically the complexity of decoding arbitrary-shaped ROIs without transmitted shape information, introducing an approach with a modest coding penalty.</a:t>
                      </a: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Concluding Remarks: </a:t>
                      </a:r>
                      <a:r>
                        <a:rPr lang="en-US" sz="11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proposed ROI generation and coding methods, included in the Final Committee Draft of JPEG2000 Part 1, offer efficiency for encoding and decoding in the JPEG2000 standard.</a:t>
                      </a:r>
                      <a:endParaRPr sz="1100" b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513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E05B-49D9-4C62-F0BB-123AC85F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>
                <a:solidFill>
                  <a:srgbClr val="C00000"/>
                </a:solidFill>
              </a:rPr>
              <a:t>Problem Statement</a:t>
            </a:r>
            <a:endParaRPr lang="en-IN" sz="3400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27799-28DE-4FF6-804D-CFA151CA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 counting and monitoring play pivotal roles in security, resource optimization, and public safety.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often lack accuracy and fail to deliver real-time insights, posing challenges in decision-making processes.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seeks to address this problem by focusing on the precise counting of individuals within a specified ROI.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develop a reliable solution that can contribute to enhanced crowd management, security measures, and resource allocation in various sectors.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624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E05B-49D9-4C62-F0BB-123AC85F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>
                <a:solidFill>
                  <a:srgbClr val="C00000"/>
                </a:solidFill>
              </a:rPr>
              <a:t>Proposed Methodology</a:t>
            </a:r>
            <a:endParaRPr lang="en-IN" sz="3400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27799-28DE-4FF6-804D-CFA151CA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performance of HOG,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3.0, YOLOv5, and YOLOv8 for people counting and select YOLOv8 for its superior real-time accuracy and efficiency within a defined ROI.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standardized experimental protocols and metrics for accuracy assessment, and collect diverse datasets representative of real-world scenarios to ensure comprehensive testing.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YOLOv8 algorithm into the system architecture for seamless execution, and develop preprocessing, detection, and post-processing modules to optimize performance.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intuitive frontend interface allowing users to interact effortlessly with features for ROI specification, visualization of detected individuals, and real-time count updates.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people counting results in various formats including images, videos, and real-time camera feeds, and conduct rigorous validation tests in diverse real-world environments to ensure system reliability and accuracy.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781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E05B-49D9-4C62-F0BB-123AC85F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4773"/>
            <a:ext cx="8229600" cy="606029"/>
          </a:xfrm>
        </p:spPr>
        <p:txBody>
          <a:bodyPr/>
          <a:lstStyle/>
          <a:p>
            <a:r>
              <a:rPr lang="en-US" sz="3400" dirty="0">
                <a:solidFill>
                  <a:srgbClr val="C00000"/>
                </a:solidFill>
              </a:rPr>
              <a:t>System Flow</a:t>
            </a:r>
            <a:endParaRPr lang="en-IN" sz="3400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382" y="984511"/>
            <a:ext cx="3755045" cy="39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14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E05B-49D9-4C62-F0BB-123AC85F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 detection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45C913-1680-9456-1D77-7B1BF011B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81" y="2023242"/>
            <a:ext cx="7693838" cy="109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00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BC0E-1A77-76B5-E20A-D8094B6F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Visualization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5FB5B-CA7D-6BB7-174A-95EE1E4B3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2720AE-6BB8-0072-3622-7AE5A1F8A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644" y="1320722"/>
            <a:ext cx="6306712" cy="315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05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3B44C-692D-08BB-C2EE-D62DB6263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D622C-F9F7-AF7C-B982-E1FE0F29D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49B13-19C8-04AB-C73A-BBEF20062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74" y="1307298"/>
            <a:ext cx="5349451" cy="290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913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2842-FEC7-83CD-C7E4-97BEE9ED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09759-F1EF-059A-3F3A-F0B81C91D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19F8A1-B029-8376-EC08-62BFB181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252850"/>
            <a:ext cx="8080334" cy="312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25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A8C3-E6EE-96E8-FEF6-F3BB84F0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HOG - Result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7EE12-EE4F-2668-7D6A-2E88AECFD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B01CA-5976-298C-8B2C-813791B2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669" y="1618603"/>
            <a:ext cx="3272661" cy="25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78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D151322-A79C-C355-D359-5087D6E8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06029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YOLOv5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93651-AFC9-4681-BE43-1201BA7AB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82" y="2142021"/>
            <a:ext cx="8553635" cy="85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560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7A11-F962-20BB-6DDE-1224972A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YOLOv5 – Confusion Matrix 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B23A5-59D5-9793-AC48-BC791FFC9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F69DF5-E124-82C9-59B1-F74212085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755" y="1256308"/>
            <a:ext cx="4026489" cy="328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56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9460-39DD-DD47-5DE3-A632F8C0A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YOLOv5 - Visualization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6A479-2394-02E1-119F-2CAA8A845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C3FDA9-BE9F-6F19-D26C-DE2F83E25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049" y="1465463"/>
            <a:ext cx="5731902" cy="286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556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19DDB-4CB1-131B-7548-E39CBA656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810DF-E6AE-D597-6313-81BA6890F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B43625-59A3-575A-D70E-234BEAA24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43" y="2451713"/>
            <a:ext cx="8143913" cy="8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06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6459E-7EB7-EF9A-66D9-F8CCD3CC5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– Dataset split-up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020-7DE4-B7C7-941F-60A4F3F52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3E9329-C3F1-87E2-ADF2-C951E8ABB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935" y="1172901"/>
            <a:ext cx="5204130" cy="309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95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05EA6-5E3A-10DF-9CA1-FE2DB65D8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– Confusion Matrix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EF5BB-6AD8-6C2B-DD67-CECDBBB61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0597F-1899-D3DC-6760-35F4F0B6A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140" y="1254091"/>
            <a:ext cx="4141719" cy="328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16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6B7A3-AE08-7A03-7295-B9ED0643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YOLOv8 - Visualization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3EEA2-28F9-F011-F80F-A4A7408A1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DEC770-388C-4C07-7116-B2189D7AA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049" y="1465463"/>
            <a:ext cx="5731902" cy="286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72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9E86-CA01-C5AB-302D-C7161A1AC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Visualization - Precision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ABF6B-077D-DDEC-C1EC-AC7E9F65A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133" y="1063229"/>
            <a:ext cx="6215734" cy="37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79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9F46-F856-B563-C04F-61540BC4E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Visualization - Recall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97D33-3C67-5990-BA5C-BBCA0A2E1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932" y="1063229"/>
            <a:ext cx="6346135" cy="380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7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1AD7-03F2-71A4-6C1E-B885C684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Visualization 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mPA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FCBD48-4B27-993F-8128-5F7D263AF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032" y="1063229"/>
            <a:ext cx="6269935" cy="376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14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ED7B-1500-A100-7203-BB34E6B8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Comparative results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462F5-6450-2CC8-F89D-0D3E5E1A3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D03DFB-453B-4482-0581-8516E5141A9D}"/>
              </a:ext>
            </a:extLst>
          </p:cNvPr>
          <p:cNvGraphicFramePr>
            <a:graphicFrameLocks noGrp="1"/>
          </p:cNvGraphicFramePr>
          <p:nvPr/>
        </p:nvGraphicFramePr>
        <p:xfrm>
          <a:off x="1687512" y="2022632"/>
          <a:ext cx="5768975" cy="1747840"/>
        </p:xfrm>
        <a:graphic>
          <a:graphicData uri="http://schemas.openxmlformats.org/drawingml/2006/table">
            <a:tbl>
              <a:tblPr firstRow="1" firstCol="1" bandRow="1">
                <a:tableStyleId>{EE9605B8-504E-4598-8CAF-A7B93FF6B527}</a:tableStyleId>
              </a:tblPr>
              <a:tblGrid>
                <a:gridCol w="2054225">
                  <a:extLst>
                    <a:ext uri="{9D8B030D-6E8A-4147-A177-3AD203B41FA5}">
                      <a16:colId xmlns:a16="http://schemas.microsoft.com/office/drawing/2014/main" val="669820194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153756287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800054889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2236765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Model/Metrics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Precision (%)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Recall(%)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mAP(%)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542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Roboflow 3.0 Object Detection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87.3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79.4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87.1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3794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HOG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64.5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64.5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64.1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9852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YOLOv5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86.7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68.3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78.3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3474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YOLOv8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90.4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>
                          <a:effectLst/>
                        </a:rPr>
                        <a:t>77.2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00" dirty="0">
                          <a:effectLst/>
                        </a:rPr>
                        <a:t>89.4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3299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929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0295-2B3D-4136-115F-AF465943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D51F7-B8B3-4465-7051-13BDBDE7E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E95417-30C6-AF86-550A-4BB9C411F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13" y="1279340"/>
            <a:ext cx="5753101" cy="323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08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0295-2B3D-4136-115F-AF465943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D51F7-B8B3-4465-7051-13BDBDE7E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C2F52-F2DE-DEB1-CD7A-B9A3469B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" y="1285452"/>
            <a:ext cx="5731510" cy="32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4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0295-2B3D-4136-115F-AF465943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D51F7-B8B3-4465-7051-13BDBDE7E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3B9C8-4890-B589-F624-0E590F2DE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" y="1285452"/>
            <a:ext cx="5731510" cy="32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80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0295-2B3D-4136-115F-AF465943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D51F7-B8B3-4465-7051-13BDBDE7E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967BB-A2A0-E0F0-47F2-700754B2A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" y="1285452"/>
            <a:ext cx="5731510" cy="32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89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0295-2B3D-4136-115F-AF465943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D51F7-B8B3-4465-7051-13BDBDE7E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9CD2D-E736-7C46-5B71-FE65881E9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" y="1285452"/>
            <a:ext cx="5731510" cy="32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55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00568-4DAD-703D-96C0-0903E2C1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of the Project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5293F-81E8-8C9B-7A0C-3BBA67421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FAB39-2BA2-49C1-AC05-9F82F36B7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06" y="1297463"/>
            <a:ext cx="8001987" cy="319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48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E05B-49D9-4C62-F0BB-123AC85F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>
                <a:solidFill>
                  <a:srgbClr val="C00000"/>
                </a:solidFill>
              </a:rPr>
              <a:t>Roles and Responsibilities</a:t>
            </a:r>
            <a:endParaRPr lang="en-IN" sz="3400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27799-28DE-4FF6-804D-CFA151CA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Kavisri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– ROI and Text-to-speech, Algorithm Implementation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Megadarshini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– Dataset Collection and preprocessing, Algorithm Implementation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Kartik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– Front-end, Algorithm Implementation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43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E05B-49D9-4C62-F0BB-123AC85F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>
                <a:solidFill>
                  <a:srgbClr val="C00000"/>
                </a:solidFill>
              </a:rPr>
              <a:t>Conclusion</a:t>
            </a:r>
            <a:endParaRPr lang="en-IN" sz="3400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27799-28DE-4FF6-804D-CFA151CA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The proposed real-time crowd monitoring and counting system leverages advanced computer vision techniques, for object detection, to efficiently monitor individuals within a specified Region of Interest (ROI). </a:t>
            </a:r>
          </a:p>
          <a:p>
            <a:r>
              <a:rPr lang="en-US" sz="1800" dirty="0"/>
              <a:t>By combining YOLOv5 for accurate object detection, a robust Flask framework for web application development, and text-to-speech synthesis, the project aims to contribute to enhanced crowd management, security measures, and resource allocation in various sectors.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0463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AD9B6-D27F-A9CE-4F31-1B159E3A8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82E91-B8E4-5E3B-0175-1FF441CEA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1200" dirty="0"/>
              <a:t>[1]  M. </a:t>
            </a:r>
            <a:r>
              <a:rPr lang="en-IN" sz="1200" dirty="0" err="1"/>
              <a:t>Rizk</a:t>
            </a:r>
            <a:r>
              <a:rPr lang="en-IN" sz="1200" dirty="0"/>
              <a:t> and I. </a:t>
            </a:r>
            <a:r>
              <a:rPr lang="en-IN" sz="1200" dirty="0" err="1"/>
              <a:t>Bayad</a:t>
            </a:r>
            <a:r>
              <a:rPr lang="en-IN" sz="1200" dirty="0"/>
              <a:t>, "Human Detection in Thermal Images Using YOLOv8 for Search and Rescue Missions," 2023 Seventh International Conference on Advances in Biomedical Engineering (ICABME), Beirut, Lebanon, 2023.</a:t>
            </a:r>
          </a:p>
          <a:p>
            <a:pPr marL="114300" indent="0">
              <a:buNone/>
            </a:pPr>
            <a:r>
              <a:rPr lang="en-IN" sz="1200" dirty="0"/>
              <a:t>[2] Paul, M., Haque, S.M.E. &amp; Chakraborty, S. Human detection in surveillance videos and its applications - a review. EURASIP J. Adv. Signal Process. 2013</a:t>
            </a:r>
          </a:p>
          <a:p>
            <a:pPr marL="114300" indent="0">
              <a:buNone/>
            </a:pPr>
            <a:r>
              <a:rPr lang="en-IN" sz="1200" dirty="0"/>
              <a:t>[3] Nguyen, Duc Thanh, </a:t>
            </a:r>
            <a:r>
              <a:rPr lang="en-IN" sz="1200" dirty="0" err="1"/>
              <a:t>Wanqing</a:t>
            </a:r>
            <a:r>
              <a:rPr lang="en-IN" sz="1200" dirty="0"/>
              <a:t> Li, and Philip O. </a:t>
            </a:r>
            <a:r>
              <a:rPr lang="en-IN" sz="1200" dirty="0" err="1"/>
              <a:t>Ogunbona</a:t>
            </a:r>
            <a:r>
              <a:rPr lang="en-IN" sz="1200" dirty="0"/>
              <a:t>. "Human detection from images and videos: A survey." Pattern Recognition 51 2016.</a:t>
            </a:r>
          </a:p>
          <a:p>
            <a:pPr marL="114300" indent="0">
              <a:buNone/>
            </a:pPr>
            <a:r>
              <a:rPr lang="en-IN" sz="1200" dirty="0"/>
              <a:t>[4]  Dalal, Navneet, Bill </a:t>
            </a:r>
            <a:r>
              <a:rPr lang="en-IN" sz="1200" dirty="0" err="1"/>
              <a:t>Triggs</a:t>
            </a:r>
            <a:r>
              <a:rPr lang="en-IN" sz="1200" dirty="0"/>
              <a:t>, and Cordelia Schmid. "Human detection using oriented histograms of flow and appearance." Computer Vision–ECCV 2006: 9th European Conference on Computer Vision, 2006.</a:t>
            </a:r>
          </a:p>
          <a:p>
            <a:pPr marL="114300" indent="0">
              <a:buNone/>
            </a:pPr>
            <a:r>
              <a:rPr lang="en-IN" sz="1200" dirty="0"/>
              <a:t>[5]  </a:t>
            </a:r>
            <a:r>
              <a:rPr lang="en-IN" sz="1200" dirty="0" err="1"/>
              <a:t>Christopoulos</a:t>
            </a:r>
            <a:r>
              <a:rPr lang="en-IN" sz="1200" dirty="0"/>
              <a:t>, </a:t>
            </a:r>
            <a:r>
              <a:rPr lang="en-IN" sz="1200" dirty="0" err="1"/>
              <a:t>Charilaos</a:t>
            </a:r>
            <a:r>
              <a:rPr lang="en-IN" sz="1200" dirty="0"/>
              <a:t>, Joel </a:t>
            </a:r>
            <a:r>
              <a:rPr lang="en-IN" sz="1200" dirty="0" err="1"/>
              <a:t>Askelof</a:t>
            </a:r>
            <a:r>
              <a:rPr lang="en-IN" sz="1200" dirty="0"/>
              <a:t>, and Mathias Larsson. "Efficient methods for encoding regions of interest in the upcoming JPEG2000 still image coding standard." IEEE Signal Processing Letters 7.9, 2000.</a:t>
            </a:r>
          </a:p>
          <a:p>
            <a:pPr marL="114300" indent="0">
              <a:buNone/>
            </a:pPr>
            <a:r>
              <a:rPr lang="en-IN" sz="1200" dirty="0"/>
              <a:t>[6]  </a:t>
            </a:r>
            <a:r>
              <a:rPr lang="en-IN" sz="1200" dirty="0" err="1"/>
              <a:t>Byeon</a:t>
            </a:r>
            <a:r>
              <a:rPr lang="en-IN" sz="1200" dirty="0"/>
              <a:t>, Yeong-Hyeon, </a:t>
            </a:r>
            <a:r>
              <a:rPr lang="en-IN" sz="1200" dirty="0" err="1"/>
              <a:t>Dohyung</a:t>
            </a:r>
            <a:r>
              <a:rPr lang="en-IN" sz="1200" dirty="0"/>
              <a:t> Kim, </a:t>
            </a:r>
            <a:r>
              <a:rPr lang="en-IN" sz="1200" dirty="0" err="1"/>
              <a:t>Jaeyeon</a:t>
            </a:r>
            <a:r>
              <a:rPr lang="en-IN" sz="1200" dirty="0"/>
              <a:t> Lee, and </a:t>
            </a:r>
            <a:r>
              <a:rPr lang="en-IN" sz="1200" dirty="0" err="1"/>
              <a:t>Keun</a:t>
            </a:r>
            <a:r>
              <a:rPr lang="en-IN" sz="1200" dirty="0"/>
              <a:t>-Chang Kwak, "Body and Hand–Object ROI-Based </a:t>
            </a:r>
            <a:r>
              <a:rPr lang="en-IN" sz="1200" dirty="0" err="1"/>
              <a:t>Behavior</a:t>
            </a:r>
            <a:r>
              <a:rPr lang="en-IN" sz="1200" dirty="0"/>
              <a:t> Recognition Using Deep Learning, 2021.</a:t>
            </a:r>
          </a:p>
          <a:p>
            <a:pPr marL="114300" indent="0">
              <a:buNone/>
            </a:pPr>
            <a:r>
              <a:rPr lang="en-IN" sz="1200" dirty="0"/>
              <a:t>[7]  Zhu, </a:t>
            </a:r>
            <a:r>
              <a:rPr lang="en-IN" sz="1200" dirty="0" err="1"/>
              <a:t>Qiang</a:t>
            </a:r>
            <a:r>
              <a:rPr lang="en-IN" sz="1200" dirty="0"/>
              <a:t> &amp; Yeh, Mei-Chen &amp; Cheng, K.-T. Tim &amp; </a:t>
            </a:r>
            <a:r>
              <a:rPr lang="en-IN" sz="1200" dirty="0" err="1"/>
              <a:t>Avidan</a:t>
            </a:r>
            <a:r>
              <a:rPr lang="en-IN" sz="1200" dirty="0"/>
              <a:t>, Shai, Fast Human Detection Using a Cascade of Histograms of Oriented Gradients, Proceedings of the IEEE Computer Society Conference on Computer Vision and Pattern Recognition, 2006.</a:t>
            </a:r>
          </a:p>
        </p:txBody>
      </p:sp>
    </p:spTree>
    <p:extLst>
      <p:ext uri="{BB962C8B-B14F-4D97-AF65-F5344CB8AC3E}">
        <p14:creationId xmlns:p14="http://schemas.microsoft.com/office/powerpoint/2010/main" val="37120580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C94F-1EE7-5FF6-E3F4-0C35D1C5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90FB8-B55C-83BB-E14D-6C5620AA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1200" dirty="0"/>
              <a:t>[8]  Stauffer C, Grimson W: Adaptive background mixture models for real-time tracking. In IEEE Conference on Computer Vision and Pattern Recognition (CVPR), 1999.</a:t>
            </a:r>
          </a:p>
          <a:p>
            <a:pPr marL="114300" indent="0">
              <a:buNone/>
            </a:pPr>
            <a:r>
              <a:rPr lang="en-IN" sz="1200" dirty="0"/>
              <a:t>[9]  </a:t>
            </a:r>
            <a:r>
              <a:rPr lang="en-IN" sz="1200" dirty="0" err="1"/>
              <a:t>Nwakanma</a:t>
            </a:r>
            <a:r>
              <a:rPr lang="en-IN" sz="1200" dirty="0"/>
              <a:t>, Cosmas &amp; </a:t>
            </a:r>
            <a:r>
              <a:rPr lang="en-IN" sz="1200" dirty="0" err="1"/>
              <a:t>Oluigbo</a:t>
            </a:r>
            <a:r>
              <a:rPr lang="en-IN" sz="1200" dirty="0"/>
              <a:t>, Ikenna &amp; </a:t>
            </a:r>
            <a:r>
              <a:rPr lang="en-IN" sz="1200" dirty="0" err="1"/>
              <a:t>Izunna</a:t>
            </a:r>
            <a:r>
              <a:rPr lang="en-IN" sz="1200" dirty="0"/>
              <a:t>, Okpala, “Text – To – Speech Synthesis (TTS)”, 2014.</a:t>
            </a:r>
          </a:p>
          <a:p>
            <a:pPr marL="114300" indent="0">
              <a:buNone/>
            </a:pPr>
            <a:r>
              <a:rPr lang="en-IN" sz="1200" dirty="0"/>
              <a:t>[10]  M. </a:t>
            </a:r>
            <a:r>
              <a:rPr lang="en-IN" sz="1200" dirty="0" err="1"/>
              <a:t>Ivasic</a:t>
            </a:r>
            <a:r>
              <a:rPr lang="en-IN" sz="1200" dirty="0"/>
              <a:t>-Kos, M. </a:t>
            </a:r>
            <a:r>
              <a:rPr lang="en-IN" sz="1200" dirty="0" err="1"/>
              <a:t>Krišto</a:t>
            </a:r>
            <a:r>
              <a:rPr lang="en-IN" sz="1200" dirty="0"/>
              <a:t> and M. </a:t>
            </a:r>
            <a:r>
              <a:rPr lang="en-IN" sz="1200" dirty="0" err="1"/>
              <a:t>Pobar</a:t>
            </a:r>
            <a:r>
              <a:rPr lang="en-IN" sz="1200" dirty="0"/>
              <a:t>, "Human detection in thermal imaging using YOLO", Proceedings of the 2019 5th International Conference on Computer and Technology Applications, 2019.</a:t>
            </a:r>
          </a:p>
          <a:p>
            <a:pPr marL="114300" indent="0">
              <a:buNone/>
            </a:pPr>
            <a:r>
              <a:rPr lang="en-IN" sz="1200" dirty="0"/>
              <a:t>[11]  H. Shi, Q. Peng, J. Yang, X. Bai and Y. Zhuang, "A Practical ROI and Object Detection Method for Vision Robot," 2020 IEEE International Conference on Integrated Circuits, Technologies and Applications (ICTA), Nanjing, China, 2020.</a:t>
            </a:r>
          </a:p>
          <a:p>
            <a:pPr marL="114300" indent="0">
              <a:buNone/>
            </a:pPr>
            <a:r>
              <a:rPr lang="en-IN" sz="1200" dirty="0"/>
              <a:t>[12]  J. Redmon, S. </a:t>
            </a:r>
            <a:r>
              <a:rPr lang="en-IN" sz="1200" dirty="0" err="1"/>
              <a:t>Divvala</a:t>
            </a:r>
            <a:r>
              <a:rPr lang="en-IN" sz="1200" dirty="0"/>
              <a:t>, R. </a:t>
            </a:r>
            <a:r>
              <a:rPr lang="en-IN" sz="1200" dirty="0" err="1"/>
              <a:t>Girshick</a:t>
            </a:r>
            <a:r>
              <a:rPr lang="en-IN" sz="1200" dirty="0"/>
              <a:t> and A. Farhadi, "You only look once: Unified real-time object detection", Proceedings of the IEEE conference on computer vision and pattern recognition, 2016.</a:t>
            </a:r>
          </a:p>
          <a:p>
            <a:pPr marL="114300" indent="0">
              <a:buNone/>
            </a:pPr>
            <a:r>
              <a:rPr lang="en-IN" sz="1200" dirty="0"/>
              <a:t>[13]  Lu, Yao &amp; Qiu, </a:t>
            </a:r>
            <a:r>
              <a:rPr lang="en-IN" sz="1200" dirty="0" err="1"/>
              <a:t>Zhibin</a:t>
            </a:r>
            <a:r>
              <a:rPr lang="en-IN" sz="1200" dirty="0"/>
              <a:t> &amp; Liao, </a:t>
            </a:r>
            <a:r>
              <a:rPr lang="en-IN" sz="1200" dirty="0" err="1"/>
              <a:t>Caibo</a:t>
            </a:r>
            <a:r>
              <a:rPr lang="en-IN" sz="1200" dirty="0"/>
              <a:t> &amp; Zhou, </a:t>
            </a:r>
            <a:r>
              <a:rPr lang="en-IN" sz="1200" dirty="0" err="1"/>
              <a:t>Zhibiao</a:t>
            </a:r>
            <a:r>
              <a:rPr lang="en-IN" sz="1200" dirty="0"/>
              <a:t> &amp; Li, </a:t>
            </a:r>
            <a:r>
              <a:rPr lang="en-IN" sz="1200" dirty="0" err="1"/>
              <a:t>Tonghongfei</a:t>
            </a:r>
            <a:r>
              <a:rPr lang="en-IN" sz="1200" dirty="0"/>
              <a:t> &amp; Wu, </a:t>
            </a:r>
            <a:r>
              <a:rPr lang="en-IN" sz="1200" dirty="0" err="1"/>
              <a:t>Zijian</a:t>
            </a:r>
            <a:r>
              <a:rPr lang="en-IN" sz="1200" dirty="0"/>
              <a:t>, A GIS Partial Discharge Defect Identification Method Based on YOLOv5. Applied Sciences, 2022. </a:t>
            </a:r>
          </a:p>
          <a:p>
            <a:pPr marL="114300" indent="0">
              <a:buNone/>
            </a:pPr>
            <a:r>
              <a:rPr lang="en-IN" sz="1200" dirty="0"/>
              <a:t>[14]  Hussain, Muhammad, "YOLO-v1 to YOLO-v8, the Rise of YOLO and Its Complementary Nature toward Digital Manufacturing and Industrial Defect Detection", 2023.</a:t>
            </a:r>
          </a:p>
          <a:p>
            <a:pPr marL="114300" indent="0">
              <a:buNone/>
            </a:pPr>
            <a:r>
              <a:rPr lang="en-IN" sz="1200" dirty="0"/>
              <a:t>[15]  </a:t>
            </a:r>
            <a:r>
              <a:rPr lang="en-IN" sz="1200" dirty="0" err="1"/>
              <a:t>Sulman</a:t>
            </a:r>
            <a:r>
              <a:rPr lang="en-IN" sz="1200" dirty="0"/>
              <a:t> N, </a:t>
            </a:r>
            <a:r>
              <a:rPr lang="en-IN" sz="1200" dirty="0" err="1"/>
              <a:t>Sanocki</a:t>
            </a:r>
            <a:r>
              <a:rPr lang="en-IN" sz="1200" dirty="0"/>
              <a:t> T, </a:t>
            </a:r>
            <a:r>
              <a:rPr lang="en-IN" sz="1200" dirty="0" err="1"/>
              <a:t>Goldgof</a:t>
            </a:r>
            <a:r>
              <a:rPr lang="en-IN" sz="1200" dirty="0"/>
              <a:t> D, Kasturi R: How effective is human video surveillance performance? In 19th International Conference on Pattern Recognition, (ICPR), 2008</a:t>
            </a:r>
          </a:p>
          <a:p>
            <a:pPr marL="11430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7519899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628EA-6CD2-F673-0928-77E835F9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01655-C650-91AD-8DBD-2921151B8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z="1200" dirty="0"/>
              <a:t>[16]   Kim W, Kim C: Background subtraction for dynamic texture scenes using fuzzy </a:t>
            </a:r>
            <a:r>
              <a:rPr lang="en-IN" sz="1200" dirty="0" err="1"/>
              <a:t>color</a:t>
            </a:r>
            <a:r>
              <a:rPr lang="en-IN" sz="1200" dirty="0"/>
              <a:t> histograms. Signal Process. Lett. IEEE 2012.</a:t>
            </a:r>
          </a:p>
          <a:p>
            <a:pPr marL="114300" indent="0">
              <a:buNone/>
            </a:pPr>
            <a:r>
              <a:rPr lang="en-IN" sz="1200" dirty="0"/>
              <a:t>[17]  Cheng F-C, Huang S-C, </a:t>
            </a:r>
            <a:r>
              <a:rPr lang="en-IN" sz="1200" dirty="0" err="1"/>
              <a:t>Ruan</a:t>
            </a:r>
            <a:r>
              <a:rPr lang="en-IN" sz="1200" dirty="0"/>
              <a:t> S-J: Scene analysis for object detection in advanced surveillance systems using Laplacian distribution model. Syst. Man </a:t>
            </a:r>
            <a:r>
              <a:rPr lang="en-IN" sz="1200" dirty="0" err="1"/>
              <a:t>Cybern</a:t>
            </a:r>
            <a:r>
              <a:rPr lang="en-IN" sz="1200" dirty="0"/>
              <a:t>. Part C Appl. Rev. IEEE Trans. 2011</a:t>
            </a:r>
          </a:p>
          <a:p>
            <a:pPr marL="114300" indent="0">
              <a:buNone/>
            </a:pPr>
            <a:r>
              <a:rPr lang="en-IN" sz="1200" dirty="0"/>
              <a:t>[18]  Wang J, </a:t>
            </a:r>
            <a:r>
              <a:rPr lang="en-IN" sz="1200" dirty="0" err="1"/>
              <a:t>Bebis</a:t>
            </a:r>
            <a:r>
              <a:rPr lang="en-IN" sz="1200" dirty="0"/>
              <a:t> G, Miller R: Robust video-based surveillance by integrating target detection with tracking. In IEEE Computer Vision and Pattern Recognition Workshop (CVPRW), 2006.</a:t>
            </a:r>
          </a:p>
          <a:p>
            <a:pPr marL="114300" indent="0">
              <a:buNone/>
            </a:pPr>
            <a:r>
              <a:rPr lang="en-IN" sz="1200" dirty="0"/>
              <a:t>[19]  Kang, W., Deng, F. Research on Intelligent visual surveillance for public security, 2007.</a:t>
            </a:r>
          </a:p>
          <a:p>
            <a:pPr marL="114300" indent="0">
              <a:buNone/>
            </a:pPr>
            <a:r>
              <a:rPr lang="en-IN" sz="1200" dirty="0"/>
              <a:t>[20]  Redmon, J.; </a:t>
            </a:r>
            <a:r>
              <a:rPr lang="en-IN" sz="1200" dirty="0" err="1"/>
              <a:t>Divvala</a:t>
            </a:r>
            <a:r>
              <a:rPr lang="en-IN" sz="1200" dirty="0"/>
              <a:t>, S.; </a:t>
            </a:r>
            <a:r>
              <a:rPr lang="en-IN" sz="1200" dirty="0" err="1"/>
              <a:t>Girshick</a:t>
            </a:r>
            <a:r>
              <a:rPr lang="en-IN" sz="1200" dirty="0"/>
              <a:t>, R.; Farhadi, A. You only look once: Unified, real-time object detection. In Proceedings of the IEEE Conference on Computer Vision and Pattern Recognition (CVPR), Las Vegas, NV, USA, 2015.</a:t>
            </a:r>
          </a:p>
          <a:p>
            <a:pPr marL="11430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63414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>
            <a:spLocks noGrp="1"/>
          </p:cNvSpPr>
          <p:nvPr>
            <p:ph type="title"/>
          </p:nvPr>
        </p:nvSpPr>
        <p:spPr>
          <a:xfrm>
            <a:off x="495300" y="1771650"/>
            <a:ext cx="81534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Book Antiqua"/>
              <a:buNone/>
            </a:pPr>
            <a:br>
              <a:rPr lang="en" sz="4400" b="0" i="0" u="none" dirty="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br>
              <a:rPr lang="en" sz="4400" b="0" i="0" u="none" dirty="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br>
              <a:rPr lang="en" sz="4400" b="0" i="0" u="none" dirty="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lang="en" sz="4400" b="0" i="0" u="none" dirty="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  <a:t>Thank You !</a:t>
            </a:r>
            <a:br>
              <a:rPr lang="en" sz="4400" b="0" i="0" u="none" dirty="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br>
              <a:rPr lang="en" sz="4400" b="0" i="0" u="none" dirty="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 dirty="0">
              <a:solidFill>
                <a:srgbClr val="C00000"/>
              </a:solidFill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</a:pPr>
            <a:r>
              <a:rPr lang="en"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2"/>
          <p:cNvSpPr txBox="1"/>
          <p:nvPr/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man Old Style"/>
              <a:buNone/>
            </a:pPr>
            <a:r>
              <a:rPr lang="en" sz="1200" b="0" i="0" u="none" strike="noStrike" cap="none">
                <a:solidFill>
                  <a:srgbClr val="89898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News classifier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2"/>
          <p:cNvSpPr txBox="1"/>
          <p:nvPr/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Book Antiqua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898989"/>
                </a:solidFill>
                <a:latin typeface="Book Antiqua"/>
                <a:ea typeface="Book Antiqua"/>
                <a:cs typeface="Book Antiqua"/>
                <a:sym typeface="Book Antiqua"/>
              </a:rPr>
              <a:t>37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rek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Trek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Trek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2050</Words>
  <Application>Microsoft Office PowerPoint</Application>
  <PresentationFormat>On-screen Show (16:9)</PresentationFormat>
  <Paragraphs>135</Paragraphs>
  <Slides>37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Book Antiqua</vt:lpstr>
      <vt:lpstr>Calibri</vt:lpstr>
      <vt:lpstr>Bookman Old Style</vt:lpstr>
      <vt:lpstr>Times New Roman</vt:lpstr>
      <vt:lpstr>Arial</vt:lpstr>
      <vt:lpstr>1_Office Theme</vt:lpstr>
      <vt:lpstr>2_Office Theme</vt:lpstr>
      <vt:lpstr>3_Office Theme</vt:lpstr>
      <vt:lpstr>Human Presence Detection in the ROI of an Image </vt:lpstr>
      <vt:lpstr>Abstract</vt:lpstr>
      <vt:lpstr>Introduction</vt:lpstr>
      <vt:lpstr>    Literature Review</vt:lpstr>
      <vt:lpstr>    Literature Review</vt:lpstr>
      <vt:lpstr>    Literature Review</vt:lpstr>
      <vt:lpstr>Problem Statement</vt:lpstr>
      <vt:lpstr>Proposed Methodology</vt:lpstr>
      <vt:lpstr>System Flow</vt:lpstr>
      <vt:lpstr>Roboflow Object detection</vt:lpstr>
      <vt:lpstr>Roboflow – Visualization</vt:lpstr>
      <vt:lpstr>Roboflow - mAP</vt:lpstr>
      <vt:lpstr>PowerPoint Presentation</vt:lpstr>
      <vt:lpstr>HOG - Result</vt:lpstr>
      <vt:lpstr>YOLOv5</vt:lpstr>
      <vt:lpstr>YOLOv5 – Confusion Matrix </vt:lpstr>
      <vt:lpstr>YOLOv5 - Visualization</vt:lpstr>
      <vt:lpstr>YOLOv8</vt:lpstr>
      <vt:lpstr>YOLOv8 – Dataset split-up</vt:lpstr>
      <vt:lpstr>YOLOv8 – Confusion Matrix</vt:lpstr>
      <vt:lpstr>YOLOv8 - Visualization</vt:lpstr>
      <vt:lpstr>Bar Chart Visualization - Precision</vt:lpstr>
      <vt:lpstr>Bar Chart Visualization - Recall</vt:lpstr>
      <vt:lpstr>Bar Chart Visualization - mPA</vt:lpstr>
      <vt:lpstr>Comparative results</vt:lpstr>
      <vt:lpstr>Output Screenshots</vt:lpstr>
      <vt:lpstr>Output Screenshots</vt:lpstr>
      <vt:lpstr>Output Screenshots</vt:lpstr>
      <vt:lpstr>Output Screenshots</vt:lpstr>
      <vt:lpstr>Output Screenshots</vt:lpstr>
      <vt:lpstr>Timeline of the Project</vt:lpstr>
      <vt:lpstr>Roles and Responsibilities</vt:lpstr>
      <vt:lpstr>Conclusion</vt:lpstr>
      <vt:lpstr>References</vt:lpstr>
      <vt:lpstr>References</vt:lpstr>
      <vt:lpstr>References</vt:lpstr>
      <vt:lpstr>   Thank You 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Animal Behaviour Tracking System</dc:title>
  <dc:creator>Mega</dc:creator>
  <cp:lastModifiedBy>Kartik R</cp:lastModifiedBy>
  <cp:revision>15</cp:revision>
  <dcterms:modified xsi:type="dcterms:W3CDTF">2024-03-13T19:18:06Z</dcterms:modified>
</cp:coreProperties>
</file>